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Delivery status</c:v>
                </c:pt>
              </c:strCache>
            </c:strRef>
          </c:tx>
          <c:spPr>
            <a:solidFill>
              <a:schemeClr val="accent1"/>
            </a:solidFill>
            <a:ln w="9525" cap="flat">
              <a:solidFill>
                <a:srgbClr val="F9F9F9"/>
              </a:solidFill>
              <a:prstDash val="solid"/>
              <a:round/>
            </a:ln>
            <a:effectLst/>
          </c:spPr>
          <c:dPt>
            <c:idx val="0"/>
            <c:bubble3D val="0"/>
            <c:spPr>
              <a:solidFill>
                <a:srgbClr val="0CA30C"/>
              </a:solidFill>
              <a:ln w="9525" cap="flat">
                <a:solidFill>
                  <a:srgbClr val="FFFFFF"/>
                </a:solidFill>
                <a:prstDash val="solid"/>
                <a:round/>
              </a:ln>
              <a:effectLst/>
            </c:spPr>
          </c:dPt>
          <c:dPt>
            <c:idx val="1"/>
            <c:bubble3D val="0"/>
            <c:spPr>
              <a:solidFill>
                <a:srgbClr val="FAB219"/>
              </a:solidFill>
              <a:ln w="9525" cap="flat">
                <a:solidFill>
                  <a:srgbClr val="FFFFFF"/>
                </a:solidFill>
                <a:prstDash val="solid"/>
                <a:round/>
              </a:ln>
              <a:effectLst/>
            </c:spPr>
          </c:dPt>
          <c:dPt>
            <c:idx val="2"/>
            <c:bubble3D val="0"/>
            <c:spPr>
              <a:solidFill>
                <a:srgbClr val="898781"/>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Delivered</c:v>
                </c:pt>
                <c:pt idx="1">
                  <c:v>In progress</c:v>
                </c:pt>
                <c:pt idx="2">
                  <c:v>Not started</c:v>
                </c:pt>
              </c:strCache>
            </c:strRef>
          </c:cat>
          <c:val>
            <c:numRef>
              <c:f>Sheet1!$B$2:$B$4</c:f>
              <c:numCache>
                <c:ptCount val="3"/>
                <c:pt idx="0">
                  <c:v>6</c:v>
                </c:pt>
                <c:pt idx="1">
                  <c:v>1</c:v>
                </c:pt>
                <c:pt idx="2">
                  <c:v>1</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18 September</c:v>
                </c:pt>
              </c:strCache>
            </c:strRef>
          </c:tx>
          <c:spPr>
            <a:solidFill>
              <a:srgbClr val="EB6834"/>
            </a:solidFill>
            <a:effectLst/>
          </c:spPr>
          <c:invertIfNegative val="0"/>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Priority Ins. — Complete Budget</c:v>
                  </c:pt>
                  <c:pt idx="1">
                    <c:v>Priority Ins. — Complete BoQ</c:v>
                  </c:pt>
                  <c:pt idx="2">
                    <c:v>Stanbic — tender submission</c:v>
                  </c:pt>
                  <c:pt idx="3">
                    <c:v>Kinbu — Priced BoQ</c:v>
                  </c:pt>
                </c:lvl>
              </c:multiLvlStrCache>
            </c:multiLvlStrRef>
          </c:cat>
          <c:val>
            <c:numRef>
              <c:f>Sheet1!$B$2:$B$5</c:f>
              <c:numCache>
                <c:formatCode>General</c:formatCode>
                <c:ptCount val="4"/>
                <c:pt idx="0">
                  <c:v>0</c:v>
                </c:pt>
                <c:pt idx="1">
                  <c:v>40</c:v>
                </c:pt>
                <c:pt idx="2">
                  <c:v>50</c:v>
                </c:pt>
                <c:pt idx="3">
                  <c:v>10</c:v>
                </c:pt>
              </c:numCache>
            </c:numRef>
          </c:val>
        </c:ser>
        <c:ser>
          <c:idx val="1"/>
          <c:order val="1"/>
          <c:tx>
            <c:strRef>
              <c:f>Sheet1!$C$1</c:f>
              <c:strCache>
                <c:ptCount val="1"/>
                <c:pt idx="0">
                  <c:v>25 September</c:v>
                </c:pt>
              </c:strCache>
            </c:strRef>
          </c:tx>
          <c:spPr>
            <a:solidFill>
              <a:srgbClr val="2A78D6"/>
            </a:solidFill>
            <a:effectLst/>
          </c:spPr>
          <c:invertIfNegative val="0"/>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Priority Ins. — Complete Budget</c:v>
                  </c:pt>
                  <c:pt idx="1">
                    <c:v>Priority Ins. — Complete BoQ</c:v>
                  </c:pt>
                  <c:pt idx="2">
                    <c:v>Stanbic — tender submission</c:v>
                  </c:pt>
                  <c:pt idx="3">
                    <c:v>Kinbu — Priced BoQ</c:v>
                  </c:pt>
                </c:lvl>
              </c:multiLvlStrCache>
            </c:multiLvlStrRef>
          </c:cat>
          <c:val>
            <c:numRef>
              <c:f>Sheet1!$C$2:$C$5</c:f>
              <c:numCache>
                <c:formatCode>General</c:formatCode>
                <c:ptCount val="4"/>
                <c:pt idx="0">
                  <c:v>0</c:v>
                </c:pt>
                <c:pt idx="1">
                  <c:v>40</c:v>
                </c:pt>
                <c:pt idx="2">
                  <c:v>100</c:v>
                </c:pt>
                <c:pt idx="3">
                  <c:v>100</c:v>
                </c:pt>
              </c:numCache>
            </c:numRef>
          </c:val>
        </c:ser>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gapWidth val="38"/>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1E0D9"/>
            </a:solidFill>
            <a:prstDash val="solid"/>
            <a:round/>
          </a:ln>
        </c:spPr>
        <c:txPr>
          <a:bodyPr/>
          <a:lstStyle/>
          <a:p>
            <a:pPr>
              <a:defRPr sz="10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112"/>
          <c:min val="0"/>
        </c:scaling>
        <c:delete val="0"/>
        <c:axPos val="b"/>
        <c:majorGridlines>
          <c:spPr>
            <a:ln w="12700" cap="flat">
              <a:solidFill>
                <a:srgbClr val="E1E0D9"/>
              </a:solidFill>
              <a:prstDash val="solid"/>
              <a:round/>
            </a:ln>
          </c:spPr>
        </c:majorGridlines>
        <c:numFmt formatCode="0&quot;%&quot;" sourceLinked="0"/>
        <c:majorTickMark val="out"/>
        <c:minorTickMark val="none"/>
        <c:tickLblPos val="low"/>
        <c:spPr>
          <a:ln w="12700" cap="flat">
            <a:solidFill>
              <a:srgbClr val="E1E0D9"/>
            </a:solidFill>
            <a:prstDash val="solid"/>
            <a:round/>
          </a:ln>
        </c:spPr>
        <c:txPr>
          <a:bodyPr/>
          <a:lstStyle/>
          <a:p>
            <a:pPr>
              <a:defRPr sz="950" b="0" i="0" u="none" strike="noStrike">
                <a:solidFill>
                  <a:srgbClr val="898781"/>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52514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Finished</c:v>
                </c:pt>
              </c:strCache>
            </c:strRef>
          </c:tx>
          <c:spPr>
            <a:solidFill>
              <a:srgbClr val="0CA30C"/>
            </a:solidFill>
            <a:effectLst/>
          </c:spPr>
          <c:invertIfNegative val="0"/>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Eunice</c:v>
                  </c:pt>
                  <c:pt idx="1">
                    <c:v>Gilbert</c:v>
                  </c:pt>
                  <c:pt idx="2">
                    <c:v>Tracy</c:v>
                  </c:pt>
                  <c:pt idx="3">
                    <c:v>Obed</c:v>
                  </c:pt>
                  <c:pt idx="4">
                    <c:v>Sedem</c:v>
                  </c:pt>
                  <c:pt idx="5">
                    <c:v>Team</c:v>
                  </c:pt>
                </c:lvl>
              </c:multiLvlStrCache>
            </c:multiLvlStrRef>
          </c:cat>
          <c:val>
            <c:numRef>
              <c:f>Sheet1!$B$2:$B$7</c:f>
              <c:numCache>
                <c:formatCode>General</c:formatCode>
                <c:ptCount val="6"/>
                <c:pt idx="0">
                  <c:v>1</c:v>
                </c:pt>
                <c:pt idx="1">
                  <c:v>0</c:v>
                </c:pt>
                <c:pt idx="2">
                  <c:v>2</c:v>
                </c:pt>
                <c:pt idx="3">
                  <c:v>1</c:v>
                </c:pt>
                <c:pt idx="4">
                  <c:v>1</c:v>
                </c:pt>
                <c:pt idx="5">
                  <c:v>3</c:v>
                </c:pt>
              </c:numCache>
            </c:numRef>
          </c:val>
        </c:ser>
        <c:ser>
          <c:idx val="1"/>
          <c:order val="1"/>
          <c:tx>
            <c:strRef>
              <c:f>Sheet1!$C$1</c:f>
              <c:strCache>
                <c:ptCount val="1"/>
                <c:pt idx="0">
                  <c:v>Still open</c:v>
                </c:pt>
              </c:strCache>
            </c:strRef>
          </c:tx>
          <c:spPr>
            <a:solidFill>
              <a:srgbClr val="FAB219"/>
            </a:solidFill>
            <a:effectLst/>
          </c:spPr>
          <c:invertIfNegative val="0"/>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Eunice</c:v>
                  </c:pt>
                  <c:pt idx="1">
                    <c:v>Gilbert</c:v>
                  </c:pt>
                  <c:pt idx="2">
                    <c:v>Tracy</c:v>
                  </c:pt>
                  <c:pt idx="3">
                    <c:v>Obed</c:v>
                  </c:pt>
                  <c:pt idx="4">
                    <c:v>Sedem</c:v>
                  </c:pt>
                  <c:pt idx="5">
                    <c:v>Team</c:v>
                  </c:pt>
                </c:lvl>
              </c:multiLvlStrCache>
            </c:multiLvlStrRef>
          </c:cat>
          <c:val>
            <c:numRef>
              <c:f>Sheet1!$C$2:$C$7</c:f>
              <c:numCache>
                <c:formatCode>General</c:formatCode>
                <c:ptCount val="6"/>
                <c:pt idx="0">
                  <c:v>0</c:v>
                </c:pt>
                <c:pt idx="1">
                  <c:v>2</c:v>
                </c:pt>
                <c:pt idx="2">
                  <c:v>0</c:v>
                </c:pt>
                <c:pt idx="3">
                  <c:v>2</c:v>
                </c:pt>
                <c:pt idx="4">
                  <c:v>2</c:v>
                </c:pt>
                <c:pt idx="5">
                  <c:v>0</c:v>
                </c:pt>
              </c:numCache>
            </c:numRef>
          </c:val>
        </c:ser>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gapWidth val="52"/>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1E0D9"/>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12700" cap="flat">
              <a:solidFill>
                <a:srgbClr val="E1E0D9"/>
              </a:solidFill>
              <a:prstDash val="solid"/>
              <a:round/>
            </a:ln>
          </c:spPr>
        </c:majorGridlines>
        <c:numFmt formatCode="General" sourceLinked="0"/>
        <c:majorTickMark val="out"/>
        <c:minorTickMark val="none"/>
        <c:tickLblPos val="low"/>
        <c:spPr>
          <a:ln w="12700" cap="flat">
            <a:solidFill>
              <a:srgbClr val="E1E0D9"/>
            </a:solidFill>
            <a:prstDash val="solid"/>
            <a:round/>
          </a:ln>
        </c:spPr>
        <c:txPr>
          <a:bodyPr/>
          <a:lstStyle/>
          <a:p>
            <a:pPr>
              <a:defRPr sz="900" b="0" i="0" u="none" strike="noStrike">
                <a:solidFill>
                  <a:srgbClr val="898781"/>
                </a:solidFill>
                <a:latin typeface="Calibri"/>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52514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weekly commercial status as at 25 September. The register now carries eight live deliverables across six projects. Six are finished. The headline this week is good news on the tenders and a growing queue 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this week. First, the two tenders we flagged as critical last Friday both went in on time, which clears the largest gap on the register. Second, the problem has moved rather than gone away: five finished deliverables are now stuck waiting for a reviewer. Third, Priority Insurance is exactly where it was seven days ago, because the information we asked for has not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eight live deliverables are finished. One is in progress and one has not started, and both of those are Priority Insurance. On progress rather than headcount we are at 80.0% against a planned 81.3%, so about one tenth of a deliverable behind. On the numbers the register is on schedule. The issue is not delivery this week, it is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on week picture. Kinbu went from ten per cent to finished, Stanbic from half to two completed documents. Those were the two items I flagged as critical last Friday, and both landed. Priority Insurance is the flat line: forty per cent last week, forty per cent today. One caution on the numbers, the register only lists live work, so the overall percentages are not comparable between weeks. That is why this chart compares individual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deliverables finished across five projects. The tender team carried three of them. Note the amber chips: five of these six are complete but have not been signed off. Only the Thoroughbred financial report is clear of the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most want a decision on. Five finished deliverables are waiting for a reviewer. The Advans final account has been waiting a fortnight, Ecole a week, and the three tender documents went in today so they are not yet late. None of this work can be closed out, and the two oldest are holding up projects we would otherwise report as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deliverables are still open and both belong to Priority Insurance. The BoQ is ten points behind plan, which is small, but it has not moved at all in seven days because we are waiting on the same two drawings I raised last week. The budget sits behind it and is correctly showing nothing against a zero plan, so it is not late yet, but it will be if the drawings do not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asks. First, the review queue: I need a named reviewer against each of the five items, and a date for the Advans and Ecole ones that are already overdue. Second, the Priority Insurance drawings, which is the same ask as last week and has not been actioned. If those drawings will not arrive before the thirtieth I would rather agree a revised BoQ date now than report a slippage next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resourcing: the tender team cleared all three of its items this week. Tracy and Eunice are clear. Gilbert, Obed and Sedem carry the four open entries between them, and every one of those is Priority Insurance. So the department has capacity once the review queue clears. One data note, the register gives a 2027 finish date against one of the Stanbic documents; I have read that as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9464040" y="-1325880"/>
            <a:ext cx="4206240" cy="4206240"/>
          </a:xfrm>
          <a:prstGeom prst="ellipse">
            <a:avLst/>
          </a:prstGeom>
          <a:solidFill>
            <a:srgbClr val="FFFFFF">
              <a:alpha val="6000"/>
            </a:srgbClr>
          </a:solidFill>
          <a:ln/>
        </p:spPr>
      </p:sp>
      <p:sp>
        <p:nvSpPr>
          <p:cNvPr id="3" name="Shape 1"/>
          <p:cNvSpPr/>
          <p:nvPr/>
        </p:nvSpPr>
        <p:spPr>
          <a:xfrm>
            <a:off x="10561320" y="502920"/>
            <a:ext cx="2286000" cy="2286000"/>
          </a:xfrm>
          <a:prstGeom prst="ellipse">
            <a:avLst/>
          </a:prstGeom>
          <a:solidFill>
            <a:srgbClr val="E08A3C">
              <a:alpha val="14000"/>
            </a:srgbClr>
          </a:solidFill>
          <a:ln/>
        </p:spPr>
      </p:sp>
      <p:sp>
        <p:nvSpPr>
          <p:cNvPr id="4" name="Shape 2"/>
          <p:cNvSpPr/>
          <p:nvPr/>
        </p:nvSpPr>
        <p:spPr>
          <a:xfrm>
            <a:off x="-1463040" y="5532120"/>
            <a:ext cx="3017520" cy="3017520"/>
          </a:xfrm>
          <a:prstGeom prst="ellipse">
            <a:avLst/>
          </a:prstGeom>
          <a:solidFill>
            <a:srgbClr val="FFFFFF">
              <a:alpha val="4000"/>
            </a:srgbClr>
          </a:solidFill>
          <a:ln/>
        </p:spPr>
      </p:sp>
      <p:sp>
        <p:nvSpPr>
          <p:cNvPr id="5" name="Text 3"/>
          <p:cNvSpPr txBox="1"/>
          <p:nvPr/>
        </p:nvSpPr>
        <p:spPr>
          <a:xfrm>
            <a:off x="566928" y="1389888"/>
            <a:ext cx="9601200" cy="274320"/>
          </a:xfrm>
          <a:prstGeom prst="rect">
            <a:avLst/>
          </a:prstGeom>
          <a:noFill/>
          <a:ln/>
        </p:spPr>
        <p:txBody>
          <a:bodyPr wrap="square" lIns="0" tIns="0" rIns="0" bIns="0" rtlCol="0" anchor="ctr"/>
          <a:lstStyle/>
          <a:p>
            <a:pPr indent="0" marL="0">
              <a:buNone/>
            </a:pPr>
            <a:r>
              <a:rPr lang="en-US" sz="1200" b="1" spc="220" kern="0" dirty="0">
                <a:solidFill>
                  <a:srgbClr val="E08A3C"/>
                </a:solidFill>
                <a:latin typeface="Calibri" pitchFamily="34" charset="0"/>
                <a:ea typeface="Calibri" pitchFamily="34" charset="-122"/>
                <a:cs typeface="Calibri" pitchFamily="34" charset="-120"/>
              </a:rPr>
              <a:t>COMMERCIAL DEPARTMENT   ·   PRE &amp; POST CONTRACT</a:t>
            </a:r>
            <a:endParaRPr lang="en-US" sz="1200" dirty="0"/>
          </a:p>
        </p:txBody>
      </p:sp>
      <p:sp>
        <p:nvSpPr>
          <p:cNvPr id="6" name="Text 4"/>
          <p:cNvSpPr txBox="1"/>
          <p:nvPr/>
        </p:nvSpPr>
        <p:spPr>
          <a:xfrm>
            <a:off x="566928" y="1783080"/>
            <a:ext cx="8595360" cy="169164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Outstanding Projects</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&amp; Deliverables</a:t>
            </a:r>
            <a:endParaRPr lang="en-US" sz="4600" dirty="0"/>
          </a:p>
        </p:txBody>
      </p:sp>
      <p:sp>
        <p:nvSpPr>
          <p:cNvPr id="7" name="Text 5"/>
          <p:cNvSpPr txBox="1"/>
          <p:nvPr/>
        </p:nvSpPr>
        <p:spPr>
          <a:xfrm>
            <a:off x="566928" y="3584448"/>
            <a:ext cx="8595360" cy="347472"/>
          </a:xfrm>
          <a:prstGeom prst="rect">
            <a:avLst/>
          </a:prstGeom>
          <a:noFill/>
          <a:ln/>
        </p:spPr>
        <p:txBody>
          <a:bodyPr wrap="square" lIns="0" tIns="0" rIns="0" bIns="0" rtlCol="0" anchor="ctr"/>
          <a:lstStyle/>
          <a:p>
            <a:pPr indent="0" marL="0">
              <a:buNone/>
            </a:pPr>
            <a:r>
              <a:rPr lang="en-US" sz="1900" dirty="0">
                <a:solidFill>
                  <a:srgbClr val="AFC1D6"/>
                </a:solidFill>
                <a:latin typeface="Calibri" pitchFamily="34" charset="0"/>
                <a:ea typeface="Calibri" pitchFamily="34" charset="-122"/>
                <a:cs typeface="Calibri" pitchFamily="34" charset="-120"/>
              </a:rPr>
              <a:t>Weekly status report to Management</a:t>
            </a:r>
            <a:endParaRPr lang="en-US" sz="1900" dirty="0"/>
          </a:p>
        </p:txBody>
      </p:sp>
      <p:sp>
        <p:nvSpPr>
          <p:cNvPr id="8" name="Shape 6"/>
          <p:cNvSpPr/>
          <p:nvPr/>
        </p:nvSpPr>
        <p:spPr>
          <a:xfrm>
            <a:off x="566928" y="4133088"/>
            <a:ext cx="2057400" cy="384048"/>
          </a:xfrm>
          <a:prstGeom prst="roundRect">
            <a:avLst>
              <a:gd name="adj" fmla="val 50000"/>
            </a:avLst>
          </a:prstGeom>
          <a:solidFill>
            <a:srgbClr val="E08A3C"/>
          </a:solidFill>
          <a:ln/>
        </p:spPr>
      </p:sp>
      <p:sp>
        <p:nvSpPr>
          <p:cNvPr id="9" name="Text 7"/>
          <p:cNvSpPr txBox="1"/>
          <p:nvPr/>
        </p:nvSpPr>
        <p:spPr>
          <a:xfrm>
            <a:off x="566928" y="4133088"/>
            <a:ext cx="2057400" cy="38404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25 SEPTEMBER 2026</a:t>
            </a:r>
            <a:endParaRPr lang="en-US" sz="900" dirty="0"/>
          </a:p>
        </p:txBody>
      </p:sp>
      <p:sp>
        <p:nvSpPr>
          <p:cNvPr id="10" name="Shape 8"/>
          <p:cNvSpPr/>
          <p:nvPr/>
        </p:nvSpPr>
        <p:spPr>
          <a:xfrm>
            <a:off x="566928"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1" name="Text 9"/>
          <p:cNvSpPr txBox="1"/>
          <p:nvPr/>
        </p:nvSpPr>
        <p:spPr>
          <a:xfrm>
            <a:off x="749808"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8</a:t>
            </a:r>
            <a:endParaRPr lang="en-US" sz="2700" dirty="0"/>
          </a:p>
        </p:txBody>
      </p:sp>
      <p:sp>
        <p:nvSpPr>
          <p:cNvPr id="12" name="Text 10"/>
          <p:cNvSpPr txBox="1"/>
          <p:nvPr/>
        </p:nvSpPr>
        <p:spPr>
          <a:xfrm>
            <a:off x="749808"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Live deliverables</a:t>
            </a:r>
            <a:endParaRPr lang="en-US" sz="1000" dirty="0"/>
          </a:p>
        </p:txBody>
      </p:sp>
      <p:sp>
        <p:nvSpPr>
          <p:cNvPr id="13" name="Shape 11"/>
          <p:cNvSpPr/>
          <p:nvPr/>
        </p:nvSpPr>
        <p:spPr>
          <a:xfrm>
            <a:off x="3328416"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4" name="Text 12"/>
          <p:cNvSpPr txBox="1"/>
          <p:nvPr/>
        </p:nvSpPr>
        <p:spPr>
          <a:xfrm>
            <a:off x="3511296"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6</a:t>
            </a:r>
            <a:endParaRPr lang="en-US" sz="2700" dirty="0"/>
          </a:p>
        </p:txBody>
      </p:sp>
      <p:sp>
        <p:nvSpPr>
          <p:cNvPr id="15" name="Text 13"/>
          <p:cNvSpPr txBox="1"/>
          <p:nvPr/>
        </p:nvSpPr>
        <p:spPr>
          <a:xfrm>
            <a:off x="3511296"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Active projects</a:t>
            </a:r>
            <a:endParaRPr lang="en-US" sz="1000" dirty="0"/>
          </a:p>
        </p:txBody>
      </p:sp>
      <p:sp>
        <p:nvSpPr>
          <p:cNvPr id="16" name="Shape 14"/>
          <p:cNvSpPr/>
          <p:nvPr/>
        </p:nvSpPr>
        <p:spPr>
          <a:xfrm>
            <a:off x="6089904"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7" name="Text 15"/>
          <p:cNvSpPr txBox="1"/>
          <p:nvPr/>
        </p:nvSpPr>
        <p:spPr>
          <a:xfrm>
            <a:off x="6272784"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75%</a:t>
            </a:r>
            <a:endParaRPr lang="en-US" sz="2700" dirty="0"/>
          </a:p>
        </p:txBody>
      </p:sp>
      <p:sp>
        <p:nvSpPr>
          <p:cNvPr id="18" name="Text 16"/>
          <p:cNvSpPr txBox="1"/>
          <p:nvPr/>
        </p:nvSpPr>
        <p:spPr>
          <a:xfrm>
            <a:off x="6272784"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Delivered</a:t>
            </a:r>
            <a:endParaRPr lang="en-US" sz="1000" dirty="0"/>
          </a:p>
        </p:txBody>
      </p:sp>
      <p:sp>
        <p:nvSpPr>
          <p:cNvPr id="19" name="Shape 17"/>
          <p:cNvSpPr/>
          <p:nvPr/>
        </p:nvSpPr>
        <p:spPr>
          <a:xfrm>
            <a:off x="8851392"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20" name="Text 18"/>
          <p:cNvSpPr txBox="1"/>
          <p:nvPr/>
        </p:nvSpPr>
        <p:spPr>
          <a:xfrm>
            <a:off x="9034272"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5</a:t>
            </a:r>
            <a:endParaRPr lang="en-US" sz="2700" dirty="0"/>
          </a:p>
        </p:txBody>
      </p:sp>
      <p:sp>
        <p:nvSpPr>
          <p:cNvPr id="21" name="Text 19"/>
          <p:cNvSpPr txBox="1"/>
          <p:nvPr/>
        </p:nvSpPr>
        <p:spPr>
          <a:xfrm>
            <a:off x="9034272"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Awaiting review</a:t>
            </a:r>
            <a:endParaRPr lang="en-US" sz="1000" dirty="0"/>
          </a:p>
        </p:txBody>
      </p:sp>
      <p:sp>
        <p:nvSpPr>
          <p:cNvPr id="22" name="Text 20"/>
          <p:cNvSpPr txBox="1"/>
          <p:nvPr/>
        </p:nvSpPr>
        <p:spPr>
          <a:xfrm>
            <a:off x="566928" y="6291072"/>
            <a:ext cx="6858000" cy="274320"/>
          </a:xfrm>
          <a:prstGeom prst="rect">
            <a:avLst/>
          </a:prstGeom>
          <a:noFill/>
          <a:ln/>
        </p:spPr>
        <p:txBody>
          <a:bodyPr wrap="square" lIns="0" tIns="0" rIns="0" bIns="0" rtlCol="0" anchor="ctr"/>
          <a:lstStyle/>
          <a:p>
            <a:pPr indent="0" marL="0">
              <a:buNone/>
            </a:pPr>
            <a:r>
              <a:rPr lang="en-US" sz="1050" dirty="0">
                <a:solidFill>
                  <a:srgbClr val="AFC1D6"/>
                </a:solidFill>
                <a:latin typeface="Calibri" pitchFamily="34" charset="0"/>
                <a:ea typeface="Calibri" pitchFamily="34" charset="-122"/>
                <a:cs typeface="Calibri" pitchFamily="34" charset="-120"/>
              </a:rPr>
              <a:t>Presented by the Commercial Manager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AT A GLANCE</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Executive Summary</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Position of the commercial deliverables register as at 25 September 2026.</a:t>
            </a:r>
            <a:endParaRPr lang="en-US" sz="1250" dirty="0"/>
          </a:p>
        </p:txBody>
      </p:sp>
      <p:sp>
        <p:nvSpPr>
          <p:cNvPr id="5" name="Shape 3"/>
          <p:cNvSpPr/>
          <p:nvPr/>
        </p:nvSpPr>
        <p:spPr>
          <a:xfrm>
            <a:off x="566928"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6" name="Shape 4"/>
          <p:cNvSpPr/>
          <p:nvPr/>
        </p:nvSpPr>
        <p:spPr>
          <a:xfrm>
            <a:off x="2746172" y="1911096"/>
            <a:ext cx="164592" cy="164592"/>
          </a:xfrm>
          <a:prstGeom prst="ellipse">
            <a:avLst/>
          </a:prstGeom>
          <a:solidFill>
            <a:srgbClr val="1B2A41"/>
          </a:solidFill>
          <a:ln/>
        </p:spPr>
      </p:sp>
      <p:sp>
        <p:nvSpPr>
          <p:cNvPr id="7" name="Text 5"/>
          <p:cNvSpPr txBox="1"/>
          <p:nvPr/>
        </p:nvSpPr>
        <p:spPr>
          <a:xfrm>
            <a:off x="804672"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8</a:t>
            </a:r>
            <a:endParaRPr lang="en-US" sz="4000" dirty="0"/>
          </a:p>
        </p:txBody>
      </p:sp>
      <p:sp>
        <p:nvSpPr>
          <p:cNvPr id="8" name="Text 6"/>
          <p:cNvSpPr txBox="1"/>
          <p:nvPr/>
        </p:nvSpPr>
        <p:spPr>
          <a:xfrm>
            <a:off x="804672"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Live deliverables</a:t>
            </a:r>
            <a:endParaRPr lang="en-US" sz="1250" dirty="0"/>
          </a:p>
        </p:txBody>
      </p:sp>
      <p:sp>
        <p:nvSpPr>
          <p:cNvPr id="9" name="Text 7"/>
          <p:cNvSpPr txBox="1"/>
          <p:nvPr/>
        </p:nvSpPr>
        <p:spPr>
          <a:xfrm>
            <a:off x="804672"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Across 6 active projects</a:t>
            </a:r>
            <a:endParaRPr lang="en-US" sz="950" dirty="0"/>
          </a:p>
        </p:txBody>
      </p:sp>
      <p:sp>
        <p:nvSpPr>
          <p:cNvPr id="10" name="Shape 8"/>
          <p:cNvSpPr/>
          <p:nvPr/>
        </p:nvSpPr>
        <p:spPr>
          <a:xfrm>
            <a:off x="3395396"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1" name="Shape 9"/>
          <p:cNvSpPr/>
          <p:nvPr/>
        </p:nvSpPr>
        <p:spPr>
          <a:xfrm>
            <a:off x="5574640" y="1911096"/>
            <a:ext cx="164592" cy="164592"/>
          </a:xfrm>
          <a:prstGeom prst="ellipse">
            <a:avLst/>
          </a:prstGeom>
          <a:solidFill>
            <a:srgbClr val="0CA30C"/>
          </a:solidFill>
          <a:ln/>
        </p:spPr>
      </p:sp>
      <p:sp>
        <p:nvSpPr>
          <p:cNvPr id="12" name="Text 10"/>
          <p:cNvSpPr txBox="1"/>
          <p:nvPr/>
        </p:nvSpPr>
        <p:spPr>
          <a:xfrm>
            <a:off x="3633140"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6</a:t>
            </a:r>
            <a:endParaRPr lang="en-US" sz="4000" dirty="0"/>
          </a:p>
        </p:txBody>
      </p:sp>
      <p:sp>
        <p:nvSpPr>
          <p:cNvPr id="13" name="Text 11"/>
          <p:cNvSpPr txBox="1"/>
          <p:nvPr/>
        </p:nvSpPr>
        <p:spPr>
          <a:xfrm>
            <a:off x="3633140"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Delivered</a:t>
            </a:r>
            <a:endParaRPr lang="en-US" sz="1250" dirty="0"/>
          </a:p>
        </p:txBody>
      </p:sp>
      <p:sp>
        <p:nvSpPr>
          <p:cNvPr id="14" name="Text 12"/>
          <p:cNvSpPr txBox="1"/>
          <p:nvPr/>
        </p:nvSpPr>
        <p:spPr>
          <a:xfrm>
            <a:off x="3633140"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75% of the register</a:t>
            </a:r>
            <a:endParaRPr lang="en-US" sz="950" dirty="0"/>
          </a:p>
        </p:txBody>
      </p:sp>
      <p:sp>
        <p:nvSpPr>
          <p:cNvPr id="15" name="Shape 13"/>
          <p:cNvSpPr/>
          <p:nvPr/>
        </p:nvSpPr>
        <p:spPr>
          <a:xfrm>
            <a:off x="6223864"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6" name="Shape 14"/>
          <p:cNvSpPr/>
          <p:nvPr/>
        </p:nvSpPr>
        <p:spPr>
          <a:xfrm>
            <a:off x="8403107" y="1911096"/>
            <a:ext cx="164592" cy="164592"/>
          </a:xfrm>
          <a:prstGeom prst="ellipse">
            <a:avLst/>
          </a:prstGeom>
          <a:solidFill>
            <a:srgbClr val="FAB219"/>
          </a:solidFill>
          <a:ln/>
        </p:spPr>
      </p:sp>
      <p:sp>
        <p:nvSpPr>
          <p:cNvPr id="17" name="Text 15"/>
          <p:cNvSpPr txBox="1"/>
          <p:nvPr/>
        </p:nvSpPr>
        <p:spPr>
          <a:xfrm>
            <a:off x="6461608"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6461608"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Awaiting review</a:t>
            </a:r>
            <a:endParaRPr lang="en-US" sz="1250" dirty="0"/>
          </a:p>
        </p:txBody>
      </p:sp>
      <p:sp>
        <p:nvSpPr>
          <p:cNvPr id="19" name="Text 17"/>
          <p:cNvSpPr txBox="1"/>
          <p:nvPr/>
        </p:nvSpPr>
        <p:spPr>
          <a:xfrm>
            <a:off x="6461608"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Finished but not signed off</a:t>
            </a:r>
            <a:endParaRPr lang="en-US" sz="950" dirty="0"/>
          </a:p>
        </p:txBody>
      </p:sp>
      <p:sp>
        <p:nvSpPr>
          <p:cNvPr id="20" name="Shape 18"/>
          <p:cNvSpPr/>
          <p:nvPr/>
        </p:nvSpPr>
        <p:spPr>
          <a:xfrm>
            <a:off x="9052331"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21" name="Shape 19"/>
          <p:cNvSpPr/>
          <p:nvPr/>
        </p:nvSpPr>
        <p:spPr>
          <a:xfrm>
            <a:off x="11231575" y="1911096"/>
            <a:ext cx="164592" cy="164592"/>
          </a:xfrm>
          <a:prstGeom prst="ellipse">
            <a:avLst/>
          </a:prstGeom>
          <a:solidFill>
            <a:srgbClr val="D03B3B"/>
          </a:solidFill>
          <a:ln/>
        </p:spPr>
      </p:sp>
      <p:sp>
        <p:nvSpPr>
          <p:cNvPr id="22" name="Text 20"/>
          <p:cNvSpPr txBox="1"/>
          <p:nvPr/>
        </p:nvSpPr>
        <p:spPr>
          <a:xfrm>
            <a:off x="9290075"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2</a:t>
            </a:r>
            <a:endParaRPr lang="en-US" sz="4000" dirty="0"/>
          </a:p>
        </p:txBody>
      </p:sp>
      <p:sp>
        <p:nvSpPr>
          <p:cNvPr id="23" name="Text 21"/>
          <p:cNvSpPr txBox="1"/>
          <p:nvPr/>
        </p:nvSpPr>
        <p:spPr>
          <a:xfrm>
            <a:off x="9290075"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Still open</a:t>
            </a:r>
            <a:endParaRPr lang="en-US" sz="1250" dirty="0"/>
          </a:p>
        </p:txBody>
      </p:sp>
      <p:sp>
        <p:nvSpPr>
          <p:cNvPr id="24" name="Text 22"/>
          <p:cNvSpPr txBox="1"/>
          <p:nvPr/>
        </p:nvSpPr>
        <p:spPr>
          <a:xfrm>
            <a:off x="9290075"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Both on Priority Insurance</a:t>
            </a:r>
            <a:endParaRPr lang="en-US" sz="950" dirty="0"/>
          </a:p>
        </p:txBody>
      </p:sp>
      <p:sp>
        <p:nvSpPr>
          <p:cNvPr id="25" name="Shape 23"/>
          <p:cNvSpPr/>
          <p:nvPr/>
        </p:nvSpPr>
        <p:spPr>
          <a:xfrm>
            <a:off x="566928" y="3328416"/>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6" name="Shape 24"/>
          <p:cNvSpPr/>
          <p:nvPr/>
        </p:nvSpPr>
        <p:spPr>
          <a:xfrm>
            <a:off x="832104" y="3547872"/>
            <a:ext cx="420624" cy="420624"/>
          </a:xfrm>
          <a:prstGeom prst="ellipse">
            <a:avLst/>
          </a:prstGeom>
          <a:solidFill>
            <a:srgbClr val="0CA30C"/>
          </a:solidFill>
          <a:ln/>
        </p:spPr>
      </p:sp>
      <p:sp>
        <p:nvSpPr>
          <p:cNvPr id="27" name="Text 25"/>
          <p:cNvSpPr txBox="1"/>
          <p:nvPr/>
        </p:nvSpPr>
        <p:spPr>
          <a:xfrm>
            <a:off x="832104" y="3547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8" name="Text 26"/>
          <p:cNvSpPr txBox="1"/>
          <p:nvPr/>
        </p:nvSpPr>
        <p:spPr>
          <a:xfrm>
            <a:off x="1463040" y="3447288"/>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Both tenders that were at risk last week have landed</a:t>
            </a:r>
            <a:endParaRPr lang="en-US" sz="1300" dirty="0"/>
          </a:p>
        </p:txBody>
      </p:sp>
      <p:sp>
        <p:nvSpPr>
          <p:cNvPr id="29" name="Text 27"/>
          <p:cNvSpPr txBox="1"/>
          <p:nvPr/>
        </p:nvSpPr>
        <p:spPr>
          <a:xfrm>
            <a:off x="1463040" y="3721608"/>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Kinbu priced BoQ moved from 10% to finished and the Stanbic submission from 50% to two completed documents. Neither missed its 25 September deadline.</a:t>
            </a:r>
            <a:endParaRPr lang="en-US" sz="1050" dirty="0"/>
          </a:p>
        </p:txBody>
      </p:sp>
      <p:sp>
        <p:nvSpPr>
          <p:cNvPr id="30" name="Shape 28"/>
          <p:cNvSpPr/>
          <p:nvPr/>
        </p:nvSpPr>
        <p:spPr>
          <a:xfrm>
            <a:off x="566928" y="4297680"/>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1" name="Shape 29"/>
          <p:cNvSpPr/>
          <p:nvPr/>
        </p:nvSpPr>
        <p:spPr>
          <a:xfrm>
            <a:off x="832104" y="4517136"/>
            <a:ext cx="420624" cy="420624"/>
          </a:xfrm>
          <a:prstGeom prst="ellipse">
            <a:avLst/>
          </a:prstGeom>
          <a:solidFill>
            <a:srgbClr val="FAB219"/>
          </a:solidFill>
          <a:ln/>
        </p:spPr>
      </p:sp>
      <p:sp>
        <p:nvSpPr>
          <p:cNvPr id="32" name="Text 30"/>
          <p:cNvSpPr txBox="1"/>
          <p:nvPr/>
        </p:nvSpPr>
        <p:spPr>
          <a:xfrm>
            <a:off x="832104" y="4517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txBox="1"/>
          <p:nvPr/>
        </p:nvSpPr>
        <p:spPr>
          <a:xfrm>
            <a:off x="1463040" y="4416552"/>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Five of the six finished deliverables are sitting in review</a:t>
            </a:r>
            <a:endParaRPr lang="en-US" sz="1300" dirty="0"/>
          </a:p>
        </p:txBody>
      </p:sp>
      <p:sp>
        <p:nvSpPr>
          <p:cNvPr id="34" name="Text 32"/>
          <p:cNvSpPr txBox="1"/>
          <p:nvPr/>
        </p:nvSpPr>
        <p:spPr>
          <a:xfrm>
            <a:off x="1463040" y="4690872"/>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Nothing can be closed out until a reviewer signs it off. The Advans final account has been waiting fourteen days, the oldest item in the queue.</a:t>
            </a:r>
            <a:endParaRPr lang="en-US" sz="1050" dirty="0"/>
          </a:p>
        </p:txBody>
      </p:sp>
      <p:sp>
        <p:nvSpPr>
          <p:cNvPr id="35" name="Shape 33"/>
          <p:cNvSpPr/>
          <p:nvPr/>
        </p:nvSpPr>
        <p:spPr>
          <a:xfrm>
            <a:off x="566928" y="5266944"/>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6" name="Shape 34"/>
          <p:cNvSpPr/>
          <p:nvPr/>
        </p:nvSpPr>
        <p:spPr>
          <a:xfrm>
            <a:off x="832104" y="5486400"/>
            <a:ext cx="420624" cy="420624"/>
          </a:xfrm>
          <a:prstGeom prst="ellipse">
            <a:avLst/>
          </a:prstGeom>
          <a:solidFill>
            <a:srgbClr val="D03B3B"/>
          </a:solidFill>
          <a:ln/>
        </p:spPr>
      </p:sp>
      <p:sp>
        <p:nvSpPr>
          <p:cNvPr id="37" name="Text 35"/>
          <p:cNvSpPr txBox="1"/>
          <p:nvPr/>
        </p:nvSpPr>
        <p:spPr>
          <a:xfrm>
            <a:off x="832104" y="5486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1463040" y="5385816"/>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Priority Insurance has not moved in seven days</a:t>
            </a:r>
            <a:endParaRPr lang="en-US" sz="1300" dirty="0"/>
          </a:p>
        </p:txBody>
      </p:sp>
      <p:sp>
        <p:nvSpPr>
          <p:cNvPr id="39" name="Text 37"/>
          <p:cNvSpPr txBox="1"/>
          <p:nvPr/>
        </p:nvSpPr>
        <p:spPr>
          <a:xfrm>
            <a:off x="1463040" y="5660136"/>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Still at 40% against a 50% plan. The floor finishes schedule and structural drawings raised last week have not arrived, so the budget behind it still cannot start.</a:t>
            </a:r>
            <a:endParaRPr lang="en-US" sz="1050" dirty="0"/>
          </a:p>
        </p:txBody>
      </p:sp>
      <p:sp>
        <p:nvSpPr>
          <p:cNvPr id="40" name="Text 38"/>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41" name="Text 39"/>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PORTFOLIO HEALTH</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Where the 8 Deliverables Stand</a:t>
            </a:r>
            <a:endParaRPr lang="en-US" sz="3100" dirty="0"/>
          </a:p>
        </p:txBody>
      </p:sp>
      <p:graphicFrame>
        <p:nvGraphicFramePr>
          <p:cNvPr id="4" name="Chart 0" descr=""/>
          <p:cNvGraphicFramePr/>
          <p:nvPr/>
        </p:nvGraphicFramePr>
        <p:xfrm>
          <a:off x="566928" y="1499616"/>
          <a:ext cx="484632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2075688" y="3054096"/>
            <a:ext cx="1828800" cy="566928"/>
          </a:xfrm>
          <a:prstGeom prst="rect">
            <a:avLst/>
          </a:prstGeom>
          <a:noFill/>
          <a:ln/>
        </p:spPr>
        <p:txBody>
          <a:bodyPr wrap="square" lIns="0" tIns="0" rIns="0" bIns="0" rtlCol="0" anchor="ctr"/>
          <a:lstStyle/>
          <a:p>
            <a:pPr algn="ctr" indent="0" marL="0">
              <a:buNone/>
            </a:pPr>
            <a:r>
              <a:rPr lang="en-US" sz="4000" b="1" dirty="0">
                <a:solidFill>
                  <a:srgbClr val="1B2A41"/>
                </a:solidFill>
                <a:latin typeface="Cambria" pitchFamily="34" charset="0"/>
                <a:ea typeface="Cambria" pitchFamily="34" charset="-122"/>
                <a:cs typeface="Cambria" pitchFamily="34" charset="-120"/>
              </a:rPr>
              <a:t>8</a:t>
            </a:r>
            <a:endParaRPr lang="en-US" sz="4000" dirty="0"/>
          </a:p>
        </p:txBody>
      </p:sp>
      <p:sp>
        <p:nvSpPr>
          <p:cNvPr id="6" name="Text 3"/>
          <p:cNvSpPr txBox="1"/>
          <p:nvPr/>
        </p:nvSpPr>
        <p:spPr>
          <a:xfrm>
            <a:off x="2075688" y="3602736"/>
            <a:ext cx="1828800" cy="256032"/>
          </a:xfrm>
          <a:prstGeom prst="rect">
            <a:avLst/>
          </a:prstGeom>
          <a:noFill/>
          <a:ln/>
        </p:spPr>
        <p:txBody>
          <a:bodyPr wrap="square" lIns="0" tIns="0" rIns="0" bIns="0" rtlCol="0" anchor="ctr"/>
          <a:lstStyle/>
          <a:p>
            <a:pPr algn="ctr" indent="0" marL="0">
              <a:buNone/>
            </a:pPr>
            <a:r>
              <a:rPr lang="en-US" sz="1100" dirty="0">
                <a:solidFill>
                  <a:srgbClr val="898781"/>
                </a:solidFill>
                <a:latin typeface="Calibri" pitchFamily="34" charset="0"/>
                <a:ea typeface="Calibri" pitchFamily="34" charset="-122"/>
                <a:cs typeface="Calibri" pitchFamily="34" charset="-120"/>
              </a:rPr>
              <a:t>deliverables</a:t>
            </a:r>
            <a:endParaRPr lang="en-US" sz="1100" dirty="0"/>
          </a:p>
        </p:txBody>
      </p:sp>
      <p:sp>
        <p:nvSpPr>
          <p:cNvPr id="7" name="Shape 4"/>
          <p:cNvSpPr/>
          <p:nvPr/>
        </p:nvSpPr>
        <p:spPr>
          <a:xfrm>
            <a:off x="5760720" y="1554480"/>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8" name="Shape 5"/>
          <p:cNvSpPr/>
          <p:nvPr/>
        </p:nvSpPr>
        <p:spPr>
          <a:xfrm>
            <a:off x="5971032" y="1801368"/>
            <a:ext cx="237744" cy="237744"/>
          </a:xfrm>
          <a:prstGeom prst="ellipse">
            <a:avLst/>
          </a:prstGeom>
          <a:solidFill>
            <a:srgbClr val="0CA30C"/>
          </a:solidFill>
          <a:ln/>
        </p:spPr>
      </p:sp>
      <p:sp>
        <p:nvSpPr>
          <p:cNvPr id="9" name="Text 6"/>
          <p:cNvSpPr txBox="1"/>
          <p:nvPr/>
        </p:nvSpPr>
        <p:spPr>
          <a:xfrm>
            <a:off x="6382512" y="1673352"/>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Delivered</a:t>
            </a:r>
            <a:endParaRPr lang="en-US" sz="1300" dirty="0"/>
          </a:p>
        </p:txBody>
      </p:sp>
      <p:sp>
        <p:nvSpPr>
          <p:cNvPr id="10" name="Text 7"/>
          <p:cNvSpPr txBox="1"/>
          <p:nvPr/>
        </p:nvSpPr>
        <p:spPr>
          <a:xfrm>
            <a:off x="6382512" y="1929384"/>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Finished; 5 of these await review</a:t>
            </a:r>
            <a:endParaRPr lang="en-US" sz="950" dirty="0"/>
          </a:p>
        </p:txBody>
      </p:sp>
      <p:sp>
        <p:nvSpPr>
          <p:cNvPr id="11" name="Text 8"/>
          <p:cNvSpPr txBox="1"/>
          <p:nvPr/>
        </p:nvSpPr>
        <p:spPr>
          <a:xfrm>
            <a:off x="9372600" y="1709928"/>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6</a:t>
            </a:r>
            <a:endParaRPr lang="en-US" sz="2400" dirty="0"/>
          </a:p>
        </p:txBody>
      </p:sp>
      <p:sp>
        <p:nvSpPr>
          <p:cNvPr id="12" name="Text 9"/>
          <p:cNvSpPr txBox="1"/>
          <p:nvPr/>
        </p:nvSpPr>
        <p:spPr>
          <a:xfrm>
            <a:off x="10387584" y="1792224"/>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75%</a:t>
            </a:r>
            <a:endParaRPr lang="en-US" sz="1200" dirty="0"/>
          </a:p>
        </p:txBody>
      </p:sp>
      <p:sp>
        <p:nvSpPr>
          <p:cNvPr id="13" name="Shape 10"/>
          <p:cNvSpPr/>
          <p:nvPr/>
        </p:nvSpPr>
        <p:spPr>
          <a:xfrm>
            <a:off x="5760720" y="2404872"/>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4" name="Shape 11"/>
          <p:cNvSpPr/>
          <p:nvPr/>
        </p:nvSpPr>
        <p:spPr>
          <a:xfrm>
            <a:off x="5971032" y="2651760"/>
            <a:ext cx="237744" cy="237744"/>
          </a:xfrm>
          <a:prstGeom prst="ellipse">
            <a:avLst/>
          </a:prstGeom>
          <a:solidFill>
            <a:srgbClr val="FAB219"/>
          </a:solidFill>
          <a:ln/>
        </p:spPr>
      </p:sp>
      <p:sp>
        <p:nvSpPr>
          <p:cNvPr id="15" name="Text 12"/>
          <p:cNvSpPr txBox="1"/>
          <p:nvPr/>
        </p:nvSpPr>
        <p:spPr>
          <a:xfrm>
            <a:off x="6382512" y="2523744"/>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In progress</a:t>
            </a:r>
            <a:endParaRPr lang="en-US" sz="1300" dirty="0"/>
          </a:p>
        </p:txBody>
      </p:sp>
      <p:sp>
        <p:nvSpPr>
          <p:cNvPr id="16" name="Text 13"/>
          <p:cNvSpPr txBox="1"/>
          <p:nvPr/>
        </p:nvSpPr>
        <p:spPr>
          <a:xfrm>
            <a:off x="6382512" y="2779776"/>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Priority Insurance BoQ, at 40%</a:t>
            </a:r>
            <a:endParaRPr lang="en-US" sz="950" dirty="0"/>
          </a:p>
        </p:txBody>
      </p:sp>
      <p:sp>
        <p:nvSpPr>
          <p:cNvPr id="17" name="Text 14"/>
          <p:cNvSpPr txBox="1"/>
          <p:nvPr/>
        </p:nvSpPr>
        <p:spPr>
          <a:xfrm>
            <a:off x="9372600" y="2560320"/>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1</a:t>
            </a:r>
            <a:endParaRPr lang="en-US" sz="2400" dirty="0"/>
          </a:p>
        </p:txBody>
      </p:sp>
      <p:sp>
        <p:nvSpPr>
          <p:cNvPr id="18" name="Text 15"/>
          <p:cNvSpPr txBox="1"/>
          <p:nvPr/>
        </p:nvSpPr>
        <p:spPr>
          <a:xfrm>
            <a:off x="10387584" y="2642616"/>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12.5%</a:t>
            </a:r>
            <a:endParaRPr lang="en-US" sz="1200" dirty="0"/>
          </a:p>
        </p:txBody>
      </p:sp>
      <p:sp>
        <p:nvSpPr>
          <p:cNvPr id="19" name="Shape 16"/>
          <p:cNvSpPr/>
          <p:nvPr/>
        </p:nvSpPr>
        <p:spPr>
          <a:xfrm>
            <a:off x="5760720" y="3255264"/>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20" name="Shape 17"/>
          <p:cNvSpPr/>
          <p:nvPr/>
        </p:nvSpPr>
        <p:spPr>
          <a:xfrm>
            <a:off x="5971032" y="3502152"/>
            <a:ext cx="237744" cy="237744"/>
          </a:xfrm>
          <a:prstGeom prst="ellipse">
            <a:avLst/>
          </a:prstGeom>
          <a:solidFill>
            <a:srgbClr val="898781"/>
          </a:solidFill>
          <a:ln/>
        </p:spPr>
      </p:sp>
      <p:sp>
        <p:nvSpPr>
          <p:cNvPr id="21" name="Text 18"/>
          <p:cNvSpPr txBox="1"/>
          <p:nvPr/>
        </p:nvSpPr>
        <p:spPr>
          <a:xfrm>
            <a:off x="6382512" y="3374136"/>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Not started</a:t>
            </a:r>
            <a:endParaRPr lang="en-US" sz="1300" dirty="0"/>
          </a:p>
        </p:txBody>
      </p:sp>
      <p:sp>
        <p:nvSpPr>
          <p:cNvPr id="22" name="Text 19"/>
          <p:cNvSpPr txBox="1"/>
          <p:nvPr/>
        </p:nvSpPr>
        <p:spPr>
          <a:xfrm>
            <a:off x="6382512" y="3630168"/>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Priority Insurance budget, on plan</a:t>
            </a:r>
            <a:endParaRPr lang="en-US" sz="950" dirty="0"/>
          </a:p>
        </p:txBody>
      </p:sp>
      <p:sp>
        <p:nvSpPr>
          <p:cNvPr id="23" name="Text 20"/>
          <p:cNvSpPr txBox="1"/>
          <p:nvPr/>
        </p:nvSpPr>
        <p:spPr>
          <a:xfrm>
            <a:off x="9372600" y="3410712"/>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1</a:t>
            </a:r>
            <a:endParaRPr lang="en-US" sz="2400" dirty="0"/>
          </a:p>
        </p:txBody>
      </p:sp>
      <p:sp>
        <p:nvSpPr>
          <p:cNvPr id="24" name="Text 21"/>
          <p:cNvSpPr txBox="1"/>
          <p:nvPr/>
        </p:nvSpPr>
        <p:spPr>
          <a:xfrm>
            <a:off x="10387584" y="3493008"/>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12.5%</a:t>
            </a:r>
            <a:endParaRPr lang="en-US" sz="1200" dirty="0"/>
          </a:p>
        </p:txBody>
      </p:sp>
      <p:sp>
        <p:nvSpPr>
          <p:cNvPr id="25" name="Shape 22"/>
          <p:cNvSpPr/>
          <p:nvPr/>
        </p:nvSpPr>
        <p:spPr>
          <a:xfrm>
            <a:off x="5760720" y="4306824"/>
            <a:ext cx="5864047" cy="1517904"/>
          </a:xfrm>
          <a:prstGeom prst="roundRect">
            <a:avLst>
              <a:gd name="adj" fmla="val 6024"/>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6" name="Text 23"/>
          <p:cNvSpPr txBox="1"/>
          <p:nvPr/>
        </p:nvSpPr>
        <p:spPr>
          <a:xfrm>
            <a:off x="5961888" y="4453128"/>
            <a:ext cx="5461711" cy="256032"/>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Progress against plan</a:t>
            </a:r>
            <a:endParaRPr lang="en-US" sz="1250" dirty="0"/>
          </a:p>
        </p:txBody>
      </p:sp>
      <p:sp>
        <p:nvSpPr>
          <p:cNvPr id="27" name="Text 24"/>
          <p:cNvSpPr txBox="1"/>
          <p:nvPr/>
        </p:nvSpPr>
        <p:spPr>
          <a:xfrm>
            <a:off x="5961888" y="4782312"/>
            <a:ext cx="960120" cy="237744"/>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Planned</a:t>
            </a:r>
            <a:endParaRPr lang="en-US" sz="1050" dirty="0"/>
          </a:p>
        </p:txBody>
      </p:sp>
      <p:sp>
        <p:nvSpPr>
          <p:cNvPr id="28" name="Shape 25"/>
          <p:cNvSpPr/>
          <p:nvPr/>
        </p:nvSpPr>
        <p:spPr>
          <a:xfrm>
            <a:off x="6986016" y="4818888"/>
            <a:ext cx="2834640" cy="155448"/>
          </a:xfrm>
          <a:prstGeom prst="roundRect">
            <a:avLst>
              <a:gd name="adj" fmla="val 50000"/>
            </a:avLst>
          </a:prstGeom>
          <a:solidFill>
            <a:srgbClr val="E3E9F0"/>
          </a:solidFill>
          <a:ln/>
        </p:spPr>
      </p:sp>
      <p:sp>
        <p:nvSpPr>
          <p:cNvPr id="29" name="Shape 26"/>
          <p:cNvSpPr/>
          <p:nvPr/>
        </p:nvSpPr>
        <p:spPr>
          <a:xfrm>
            <a:off x="6986016" y="4818888"/>
            <a:ext cx="2303145" cy="155448"/>
          </a:xfrm>
          <a:prstGeom prst="roundRect">
            <a:avLst>
              <a:gd name="adj" fmla="val 50000"/>
            </a:avLst>
          </a:prstGeom>
          <a:solidFill>
            <a:srgbClr val="EB6834"/>
          </a:solidFill>
          <a:ln/>
        </p:spPr>
      </p:sp>
      <p:sp>
        <p:nvSpPr>
          <p:cNvPr id="30" name="Text 27"/>
          <p:cNvSpPr txBox="1"/>
          <p:nvPr/>
        </p:nvSpPr>
        <p:spPr>
          <a:xfrm>
            <a:off x="9930384" y="4773168"/>
            <a:ext cx="1463040" cy="256032"/>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81.3%</a:t>
            </a:r>
            <a:endParaRPr lang="en-US" sz="1150" dirty="0"/>
          </a:p>
        </p:txBody>
      </p:sp>
      <p:sp>
        <p:nvSpPr>
          <p:cNvPr id="31" name="Text 28"/>
          <p:cNvSpPr txBox="1"/>
          <p:nvPr/>
        </p:nvSpPr>
        <p:spPr>
          <a:xfrm>
            <a:off x="5961888" y="5148072"/>
            <a:ext cx="960120" cy="237744"/>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Actual</a:t>
            </a:r>
            <a:endParaRPr lang="en-US" sz="1050" dirty="0"/>
          </a:p>
        </p:txBody>
      </p:sp>
      <p:sp>
        <p:nvSpPr>
          <p:cNvPr id="32" name="Shape 29"/>
          <p:cNvSpPr/>
          <p:nvPr/>
        </p:nvSpPr>
        <p:spPr>
          <a:xfrm>
            <a:off x="6986016" y="5184648"/>
            <a:ext cx="2834640" cy="155448"/>
          </a:xfrm>
          <a:prstGeom prst="roundRect">
            <a:avLst>
              <a:gd name="adj" fmla="val 50000"/>
            </a:avLst>
          </a:prstGeom>
          <a:solidFill>
            <a:srgbClr val="E3E9F0"/>
          </a:solidFill>
          <a:ln/>
        </p:spPr>
      </p:sp>
      <p:sp>
        <p:nvSpPr>
          <p:cNvPr id="33" name="Shape 30"/>
          <p:cNvSpPr/>
          <p:nvPr/>
        </p:nvSpPr>
        <p:spPr>
          <a:xfrm>
            <a:off x="6986016" y="5184648"/>
            <a:ext cx="2267712" cy="155448"/>
          </a:xfrm>
          <a:prstGeom prst="roundRect">
            <a:avLst>
              <a:gd name="adj" fmla="val 50000"/>
            </a:avLst>
          </a:prstGeom>
          <a:solidFill>
            <a:srgbClr val="2A78D6"/>
          </a:solidFill>
          <a:ln/>
        </p:spPr>
      </p:sp>
      <p:sp>
        <p:nvSpPr>
          <p:cNvPr id="34" name="Text 31"/>
          <p:cNvSpPr txBox="1"/>
          <p:nvPr/>
        </p:nvSpPr>
        <p:spPr>
          <a:xfrm>
            <a:off x="9930384" y="5138928"/>
            <a:ext cx="1463040" cy="256032"/>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80.0%</a:t>
            </a:r>
            <a:endParaRPr lang="en-US" sz="1150" dirty="0"/>
          </a:p>
        </p:txBody>
      </p:sp>
      <p:sp>
        <p:nvSpPr>
          <p:cNvPr id="35" name="Text 32"/>
          <p:cNvSpPr txBox="1"/>
          <p:nvPr/>
        </p:nvSpPr>
        <p:spPr>
          <a:xfrm>
            <a:off x="5961888" y="5513832"/>
            <a:ext cx="5461711" cy="237744"/>
          </a:xfrm>
          <a:prstGeom prst="rect">
            <a:avLst/>
          </a:prstGeom>
          <a:noFill/>
          <a:ln/>
        </p:spPr>
        <p:txBody>
          <a:bodyPr wrap="square" lIns="0" tIns="0" rIns="0" bIns="0" rtlCol="0" anchor="ctr"/>
          <a:lstStyle/>
          <a:p>
            <a:pPr indent="0" marL="0">
              <a:buNone/>
            </a:pPr>
            <a:r>
              <a:rPr lang="en-US" sz="1050" b="1" dirty="0">
                <a:solidFill>
                  <a:srgbClr val="0CA30C"/>
                </a:solidFill>
                <a:latin typeface="Calibri" pitchFamily="34" charset="0"/>
                <a:ea typeface="Calibri" pitchFamily="34" charset="-122"/>
                <a:cs typeface="Calibri" pitchFamily="34" charset="-120"/>
              </a:rPr>
              <a:t>1.3 points behind plan — the register is effectively on schedule</a:t>
            </a:r>
            <a:endParaRPr lang="en-US" sz="1050" dirty="0"/>
          </a:p>
        </p:txBody>
      </p:sp>
      <p:sp>
        <p:nvSpPr>
          <p:cNvPr id="36" name="Text 33"/>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37" name="Text 34"/>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MOVEMENT</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What Changed Since 18 September</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Actual completion of every deliverable carried over from last week’s register.</a:t>
            </a:r>
            <a:endParaRPr lang="en-US" sz="1250" dirty="0"/>
          </a:p>
        </p:txBody>
      </p:sp>
      <p:graphicFrame>
        <p:nvGraphicFramePr>
          <p:cNvPr id="5" name="Chart 0" descr=""/>
          <p:cNvGraphicFramePr/>
          <p:nvPr/>
        </p:nvGraphicFramePr>
        <p:xfrm>
          <a:off x="566928" y="1700784"/>
          <a:ext cx="7635240" cy="3749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5522976"/>
            <a:ext cx="7635240" cy="566928"/>
          </a:xfrm>
          <a:prstGeom prst="rect">
            <a:avLst/>
          </a:prstGeom>
          <a:noFill/>
          <a:ln/>
        </p:spPr>
        <p:txBody>
          <a:bodyPr wrap="square" lIns="0" tIns="0" rIns="0" bIns="0" rtlCol="0" anchor="t"/>
          <a:lstStyle/>
          <a:p>
            <a:pPr indent="0" marL="0">
              <a:spcAft>
                <a:spcPts val="300"/>
              </a:spcAft>
              <a:buNone/>
            </a:pPr>
            <a:r>
              <a:rPr lang="en-US" sz="900" dirty="0">
                <a:solidFill>
                  <a:srgbClr val="898781"/>
                </a:solidFill>
                <a:latin typeface="Calibri" pitchFamily="34" charset="0"/>
                <a:ea typeface="Calibri" pitchFamily="34" charset="-122"/>
                <a:cs typeface="Calibri" pitchFamily="34" charset="-120"/>
              </a:rPr>
              <a:t>The register carries live work only. Seventeen deliverables closed last week were removed from it, so the portfolio percentages on slide 3 are not comparable week to week — the comparison above is per deliverable.</a:t>
            </a:r>
            <a:endParaRPr lang="en-US" sz="900" dirty="0"/>
          </a:p>
          <a:p>
            <a:pPr indent="0" marL="0">
              <a:spcAft>
                <a:spcPts val="300"/>
              </a:spcAft>
              <a:buNone/>
            </a:pPr>
            <a:r>
              <a:rPr lang="en-US" sz="900" dirty="0">
                <a:solidFill>
                  <a:srgbClr val="898781"/>
                </a:solidFill>
                <a:latin typeface="Calibri" pitchFamily="34" charset="0"/>
                <a:ea typeface="Calibri" pitchFamily="34" charset="-122"/>
                <a:cs typeface="Calibri" pitchFamily="34" charset="-120"/>
              </a:rPr>
              <a:t>Stanbic was recorded last week as a single “Preliminary Estimate” and this week as two documents, “Cost Proposal” and “Relevant Experience and CV”. It is shown here as one submission.</a:t>
            </a:r>
            <a:endParaRPr lang="en-US" sz="900" dirty="0"/>
          </a:p>
        </p:txBody>
      </p:sp>
      <p:sp>
        <p:nvSpPr>
          <p:cNvPr id="7" name="Shape 4"/>
          <p:cNvSpPr/>
          <p:nvPr/>
        </p:nvSpPr>
        <p:spPr>
          <a:xfrm>
            <a:off x="8494776" y="1700784"/>
            <a:ext cx="3129991" cy="1901952"/>
          </a:xfrm>
          <a:prstGeom prst="roundRect">
            <a:avLst>
              <a:gd name="adj" fmla="val 4808"/>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8" name="Shape 5"/>
          <p:cNvSpPr/>
          <p:nvPr/>
        </p:nvSpPr>
        <p:spPr>
          <a:xfrm>
            <a:off x="11185855" y="1938528"/>
            <a:ext cx="182880" cy="182880"/>
          </a:xfrm>
          <a:prstGeom prst="ellipse">
            <a:avLst/>
          </a:prstGeom>
          <a:solidFill>
            <a:srgbClr val="0CA30C"/>
          </a:solidFill>
          <a:ln/>
        </p:spPr>
      </p:sp>
      <p:sp>
        <p:nvSpPr>
          <p:cNvPr id="9" name="Text 6"/>
          <p:cNvSpPr txBox="1"/>
          <p:nvPr/>
        </p:nvSpPr>
        <p:spPr>
          <a:xfrm>
            <a:off x="8732520" y="1865376"/>
            <a:ext cx="2398471" cy="658368"/>
          </a:xfrm>
          <a:prstGeom prst="rect">
            <a:avLst/>
          </a:prstGeom>
          <a:noFill/>
          <a:ln/>
        </p:spPr>
        <p:txBody>
          <a:bodyPr wrap="square" lIns="0" tIns="0" rIns="0" bIns="0" rtlCol="0" anchor="ctr"/>
          <a:lstStyle/>
          <a:p>
            <a:pPr indent="0" marL="0">
              <a:buNone/>
            </a:pPr>
            <a:r>
              <a:rPr lang="en-US" sz="4600" b="1" dirty="0">
                <a:solidFill>
                  <a:srgbClr val="1B2A41"/>
                </a:solidFill>
                <a:latin typeface="Cambria" pitchFamily="34" charset="0"/>
                <a:ea typeface="Cambria" pitchFamily="34" charset="-122"/>
                <a:cs typeface="Cambria" pitchFamily="34" charset="-120"/>
              </a:rPr>
              <a:t>2</a:t>
            </a:r>
            <a:endParaRPr lang="en-US" sz="4600" dirty="0"/>
          </a:p>
        </p:txBody>
      </p:sp>
      <p:sp>
        <p:nvSpPr>
          <p:cNvPr id="10" name="Text 7"/>
          <p:cNvSpPr txBox="1"/>
          <p:nvPr/>
        </p:nvSpPr>
        <p:spPr>
          <a:xfrm>
            <a:off x="8732520" y="2542032"/>
            <a:ext cx="2654503"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tenders closed on time</a:t>
            </a:r>
            <a:endParaRPr lang="en-US" sz="1250" dirty="0"/>
          </a:p>
        </p:txBody>
      </p:sp>
      <p:sp>
        <p:nvSpPr>
          <p:cNvPr id="11" name="Text 8"/>
          <p:cNvSpPr txBox="1"/>
          <p:nvPr/>
        </p:nvSpPr>
        <p:spPr>
          <a:xfrm>
            <a:off x="8732520" y="2852928"/>
            <a:ext cx="2654503" cy="62179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Kinbu and Stanbic both went in by 25 September, clearing the two largest gaps on last week’s register.</a:t>
            </a:r>
            <a:endParaRPr lang="en-US" sz="1000" dirty="0"/>
          </a:p>
        </p:txBody>
      </p:sp>
      <p:sp>
        <p:nvSpPr>
          <p:cNvPr id="12" name="Shape 9"/>
          <p:cNvSpPr/>
          <p:nvPr/>
        </p:nvSpPr>
        <p:spPr>
          <a:xfrm>
            <a:off x="8494776" y="3785616"/>
            <a:ext cx="3129991" cy="1901952"/>
          </a:xfrm>
          <a:prstGeom prst="roundRect">
            <a:avLst>
              <a:gd name="adj" fmla="val 4808"/>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3" name="Shape 10"/>
          <p:cNvSpPr/>
          <p:nvPr/>
        </p:nvSpPr>
        <p:spPr>
          <a:xfrm>
            <a:off x="11185855" y="4023360"/>
            <a:ext cx="182880" cy="182880"/>
          </a:xfrm>
          <a:prstGeom prst="ellipse">
            <a:avLst/>
          </a:prstGeom>
          <a:solidFill>
            <a:srgbClr val="D03B3B"/>
          </a:solidFill>
          <a:ln/>
        </p:spPr>
      </p:sp>
      <p:sp>
        <p:nvSpPr>
          <p:cNvPr id="14" name="Text 11"/>
          <p:cNvSpPr txBox="1"/>
          <p:nvPr/>
        </p:nvSpPr>
        <p:spPr>
          <a:xfrm>
            <a:off x="8732520" y="3950208"/>
            <a:ext cx="2398471" cy="658368"/>
          </a:xfrm>
          <a:prstGeom prst="rect">
            <a:avLst/>
          </a:prstGeom>
          <a:noFill/>
          <a:ln/>
        </p:spPr>
        <p:txBody>
          <a:bodyPr wrap="square" lIns="0" tIns="0" rIns="0" bIns="0" rtlCol="0" anchor="ctr"/>
          <a:lstStyle/>
          <a:p>
            <a:pPr indent="0" marL="0">
              <a:buNone/>
            </a:pPr>
            <a:r>
              <a:rPr lang="en-US" sz="4600" b="1" dirty="0">
                <a:solidFill>
                  <a:srgbClr val="1B2A41"/>
                </a:solidFill>
                <a:latin typeface="Cambria" pitchFamily="34" charset="0"/>
                <a:ea typeface="Cambria" pitchFamily="34" charset="-122"/>
                <a:cs typeface="Cambria" pitchFamily="34" charset="-120"/>
              </a:rPr>
              <a:t>0</a:t>
            </a:r>
            <a:endParaRPr lang="en-US" sz="4600" dirty="0"/>
          </a:p>
        </p:txBody>
      </p:sp>
      <p:sp>
        <p:nvSpPr>
          <p:cNvPr id="15" name="Text 12"/>
          <p:cNvSpPr txBox="1"/>
          <p:nvPr/>
        </p:nvSpPr>
        <p:spPr>
          <a:xfrm>
            <a:off x="8732520" y="4626864"/>
            <a:ext cx="2654503"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points of movement</a:t>
            </a:r>
            <a:endParaRPr lang="en-US" sz="1250" dirty="0"/>
          </a:p>
        </p:txBody>
      </p:sp>
      <p:sp>
        <p:nvSpPr>
          <p:cNvPr id="16" name="Text 13"/>
          <p:cNvSpPr txBox="1"/>
          <p:nvPr/>
        </p:nvSpPr>
        <p:spPr>
          <a:xfrm>
            <a:off x="8732520" y="4937760"/>
            <a:ext cx="2654503" cy="62179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Priority Insurance is unchanged at 40% seven days on, still waiting on the same two documents.</a:t>
            </a:r>
            <a:endParaRPr lang="en-US" sz="1000" dirty="0"/>
          </a:p>
        </p:txBody>
      </p:sp>
      <p:sp>
        <p:nvSpPr>
          <p:cNvPr id="17" name="Text 14"/>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18" name="Text 15"/>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COMPLETED WORK</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6 Deliverables Finished Across 5 Projects</a:t>
            </a:r>
            <a:endParaRPr lang="en-US" sz="3100" dirty="0"/>
          </a:p>
        </p:txBody>
      </p:sp>
      <p:sp>
        <p:nvSpPr>
          <p:cNvPr id="4" name="Shape 2"/>
          <p:cNvSpPr/>
          <p:nvPr/>
        </p:nvSpPr>
        <p:spPr>
          <a:xfrm>
            <a:off x="566928" y="1408176"/>
            <a:ext cx="3515258" cy="2203704"/>
          </a:xfrm>
          <a:prstGeom prst="roundRect">
            <a:avLst>
              <a:gd name="adj" fmla="val 414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5" name="Shape 3"/>
          <p:cNvSpPr/>
          <p:nvPr/>
        </p:nvSpPr>
        <p:spPr>
          <a:xfrm>
            <a:off x="3515258" y="1572768"/>
            <a:ext cx="402336" cy="402336"/>
          </a:xfrm>
          <a:prstGeom prst="ellipse">
            <a:avLst/>
          </a:prstGeom>
          <a:solidFill>
            <a:srgbClr val="0CA30C"/>
          </a:solidFill>
          <a:ln/>
        </p:spPr>
      </p:sp>
      <p:sp>
        <p:nvSpPr>
          <p:cNvPr id="6" name="Text 4"/>
          <p:cNvSpPr txBox="1"/>
          <p:nvPr/>
        </p:nvSpPr>
        <p:spPr>
          <a:xfrm>
            <a:off x="3515258"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7" name="Text 5"/>
          <p:cNvSpPr txBox="1"/>
          <p:nvPr/>
        </p:nvSpPr>
        <p:spPr>
          <a:xfrm>
            <a:off x="804672" y="1572768"/>
            <a:ext cx="2582570" cy="475488"/>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Stanbic Bank</a:t>
            </a:r>
            <a:endParaRPr lang="en-US" sz="1400" dirty="0"/>
          </a:p>
        </p:txBody>
      </p:sp>
      <p:sp>
        <p:nvSpPr>
          <p:cNvPr id="8" name="Text 6"/>
          <p:cNvSpPr txBox="1"/>
          <p:nvPr/>
        </p:nvSpPr>
        <p:spPr>
          <a:xfrm>
            <a:off x="877824" y="2121408"/>
            <a:ext cx="2948330" cy="603504"/>
          </a:xfrm>
          <a:prstGeom prst="rect">
            <a:avLst/>
          </a:prstGeom>
          <a:noFill/>
          <a:ln/>
        </p:spPr>
        <p:txBody>
          <a:bodyPr wrap="square" lIns="0" tIns="0" rIns="0" bIns="0" rtlCol="0" anchor="t"/>
          <a:lstStyle/>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Cost Proposal</a:t>
            </a:r>
            <a:endParaRPr lang="en-US" sz="1000" dirty="0"/>
          </a:p>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Relevant Experience and CV</a:t>
            </a:r>
            <a:endParaRPr lang="en-US" sz="1000" dirty="0"/>
          </a:p>
        </p:txBody>
      </p:sp>
      <p:sp>
        <p:nvSpPr>
          <p:cNvPr id="9" name="Shape 7"/>
          <p:cNvSpPr/>
          <p:nvPr/>
        </p:nvSpPr>
        <p:spPr>
          <a:xfrm>
            <a:off x="804672" y="2852928"/>
            <a:ext cx="1755648" cy="292608"/>
          </a:xfrm>
          <a:prstGeom prst="roundRect">
            <a:avLst>
              <a:gd name="adj" fmla="val 50000"/>
            </a:avLst>
          </a:prstGeom>
          <a:solidFill>
            <a:srgbClr val="FAB219"/>
          </a:solidFill>
          <a:ln/>
        </p:spPr>
      </p:sp>
      <p:sp>
        <p:nvSpPr>
          <p:cNvPr id="10" name="Text 8"/>
          <p:cNvSpPr txBox="1"/>
          <p:nvPr/>
        </p:nvSpPr>
        <p:spPr>
          <a:xfrm>
            <a:off x="804672" y="2852928"/>
            <a:ext cx="1755648" cy="29260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AWAITING REVIEW</a:t>
            </a:r>
            <a:endParaRPr lang="en-US" sz="900" dirty="0"/>
          </a:p>
        </p:txBody>
      </p:sp>
      <p:sp>
        <p:nvSpPr>
          <p:cNvPr id="11" name="Text 9"/>
          <p:cNvSpPr txBox="1"/>
          <p:nvPr/>
        </p:nvSpPr>
        <p:spPr>
          <a:xfrm>
            <a:off x="804672" y="3218688"/>
            <a:ext cx="3039770" cy="237744"/>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Team</a:t>
            </a:r>
            <a:endParaRPr lang="en-US" sz="950" dirty="0"/>
          </a:p>
        </p:txBody>
      </p:sp>
      <p:sp>
        <p:nvSpPr>
          <p:cNvPr id="12" name="Shape 10"/>
          <p:cNvSpPr/>
          <p:nvPr/>
        </p:nvSpPr>
        <p:spPr>
          <a:xfrm>
            <a:off x="4338218" y="1408176"/>
            <a:ext cx="3515258" cy="2203704"/>
          </a:xfrm>
          <a:prstGeom prst="roundRect">
            <a:avLst>
              <a:gd name="adj" fmla="val 414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3" name="Shape 11"/>
          <p:cNvSpPr/>
          <p:nvPr/>
        </p:nvSpPr>
        <p:spPr>
          <a:xfrm>
            <a:off x="7286549" y="1572768"/>
            <a:ext cx="402336" cy="402336"/>
          </a:xfrm>
          <a:prstGeom prst="ellipse">
            <a:avLst/>
          </a:prstGeom>
          <a:solidFill>
            <a:srgbClr val="0CA30C"/>
          </a:solidFill>
          <a:ln/>
        </p:spPr>
      </p:sp>
      <p:sp>
        <p:nvSpPr>
          <p:cNvPr id="14" name="Text 12"/>
          <p:cNvSpPr txBox="1"/>
          <p:nvPr/>
        </p:nvSpPr>
        <p:spPr>
          <a:xfrm>
            <a:off x="7286549"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4575962" y="1572768"/>
            <a:ext cx="2582570" cy="475488"/>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Kinbu School Canteen Tender</a:t>
            </a:r>
            <a:endParaRPr lang="en-US" sz="1400" dirty="0"/>
          </a:p>
        </p:txBody>
      </p:sp>
      <p:sp>
        <p:nvSpPr>
          <p:cNvPr id="16" name="Text 14"/>
          <p:cNvSpPr txBox="1"/>
          <p:nvPr/>
        </p:nvSpPr>
        <p:spPr>
          <a:xfrm>
            <a:off x="4649114" y="2121408"/>
            <a:ext cx="2948330" cy="603504"/>
          </a:xfrm>
          <a:prstGeom prst="rect">
            <a:avLst/>
          </a:prstGeom>
          <a:noFill/>
          <a:ln/>
        </p:spPr>
        <p:txBody>
          <a:bodyPr wrap="square" lIns="0" tIns="0" rIns="0" bIns="0" rtlCol="0" anchor="t"/>
          <a:lstStyle/>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Priced BoQ</a:t>
            </a:r>
            <a:endParaRPr lang="en-US" sz="1000" dirty="0"/>
          </a:p>
        </p:txBody>
      </p:sp>
      <p:sp>
        <p:nvSpPr>
          <p:cNvPr id="17" name="Shape 15"/>
          <p:cNvSpPr/>
          <p:nvPr/>
        </p:nvSpPr>
        <p:spPr>
          <a:xfrm>
            <a:off x="4575962" y="2852928"/>
            <a:ext cx="1755648" cy="292608"/>
          </a:xfrm>
          <a:prstGeom prst="roundRect">
            <a:avLst>
              <a:gd name="adj" fmla="val 50000"/>
            </a:avLst>
          </a:prstGeom>
          <a:solidFill>
            <a:srgbClr val="FAB219"/>
          </a:solidFill>
          <a:ln/>
        </p:spPr>
      </p:sp>
      <p:sp>
        <p:nvSpPr>
          <p:cNvPr id="18" name="Text 16"/>
          <p:cNvSpPr txBox="1"/>
          <p:nvPr/>
        </p:nvSpPr>
        <p:spPr>
          <a:xfrm>
            <a:off x="4575962" y="2852928"/>
            <a:ext cx="1755648" cy="29260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AWAITING REVIEW</a:t>
            </a:r>
            <a:endParaRPr lang="en-US" sz="900" dirty="0"/>
          </a:p>
        </p:txBody>
      </p:sp>
      <p:sp>
        <p:nvSpPr>
          <p:cNvPr id="19" name="Text 17"/>
          <p:cNvSpPr txBox="1"/>
          <p:nvPr/>
        </p:nvSpPr>
        <p:spPr>
          <a:xfrm>
            <a:off x="4575962" y="3218688"/>
            <a:ext cx="3039770" cy="237744"/>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Team</a:t>
            </a:r>
            <a:endParaRPr lang="en-US" sz="950" dirty="0"/>
          </a:p>
        </p:txBody>
      </p:sp>
      <p:sp>
        <p:nvSpPr>
          <p:cNvPr id="20" name="Shape 18"/>
          <p:cNvSpPr/>
          <p:nvPr/>
        </p:nvSpPr>
        <p:spPr>
          <a:xfrm>
            <a:off x="8109509" y="1408176"/>
            <a:ext cx="3515258" cy="2203704"/>
          </a:xfrm>
          <a:prstGeom prst="roundRect">
            <a:avLst>
              <a:gd name="adj" fmla="val 414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1" name="Shape 19"/>
          <p:cNvSpPr/>
          <p:nvPr/>
        </p:nvSpPr>
        <p:spPr>
          <a:xfrm>
            <a:off x="11057839" y="1572768"/>
            <a:ext cx="402336" cy="402336"/>
          </a:xfrm>
          <a:prstGeom prst="ellipse">
            <a:avLst/>
          </a:prstGeom>
          <a:solidFill>
            <a:srgbClr val="0CA30C"/>
          </a:solidFill>
          <a:ln/>
        </p:spPr>
      </p:sp>
      <p:sp>
        <p:nvSpPr>
          <p:cNvPr id="22" name="Text 20"/>
          <p:cNvSpPr txBox="1"/>
          <p:nvPr/>
        </p:nvSpPr>
        <p:spPr>
          <a:xfrm>
            <a:off x="11057839"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347253" y="1572768"/>
            <a:ext cx="2582570" cy="475488"/>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Ecole International School</a:t>
            </a:r>
            <a:endParaRPr lang="en-US" sz="1400" dirty="0"/>
          </a:p>
        </p:txBody>
      </p:sp>
      <p:sp>
        <p:nvSpPr>
          <p:cNvPr id="24" name="Text 22"/>
          <p:cNvSpPr txBox="1"/>
          <p:nvPr/>
        </p:nvSpPr>
        <p:spPr>
          <a:xfrm>
            <a:off x="8420405" y="2121408"/>
            <a:ext cx="2948330" cy="603504"/>
          </a:xfrm>
          <a:prstGeom prst="rect">
            <a:avLst/>
          </a:prstGeom>
          <a:noFill/>
          <a:ln/>
        </p:spPr>
        <p:txBody>
          <a:bodyPr wrap="square" lIns="0" tIns="0" rIns="0" bIns="0" rtlCol="0" anchor="t"/>
          <a:lstStyle/>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BoQ and Budget</a:t>
            </a:r>
            <a:endParaRPr lang="en-US" sz="1000" dirty="0"/>
          </a:p>
        </p:txBody>
      </p:sp>
      <p:sp>
        <p:nvSpPr>
          <p:cNvPr id="25" name="Shape 23"/>
          <p:cNvSpPr/>
          <p:nvPr/>
        </p:nvSpPr>
        <p:spPr>
          <a:xfrm>
            <a:off x="8347253" y="2852928"/>
            <a:ext cx="1755648" cy="292608"/>
          </a:xfrm>
          <a:prstGeom prst="roundRect">
            <a:avLst>
              <a:gd name="adj" fmla="val 50000"/>
            </a:avLst>
          </a:prstGeom>
          <a:solidFill>
            <a:srgbClr val="FAB219"/>
          </a:solidFill>
          <a:ln/>
        </p:spPr>
      </p:sp>
      <p:sp>
        <p:nvSpPr>
          <p:cNvPr id="26" name="Text 24"/>
          <p:cNvSpPr txBox="1"/>
          <p:nvPr/>
        </p:nvSpPr>
        <p:spPr>
          <a:xfrm>
            <a:off x="8347253" y="2852928"/>
            <a:ext cx="1755648" cy="29260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AWAITING REVIEW</a:t>
            </a:r>
            <a:endParaRPr lang="en-US" sz="900" dirty="0"/>
          </a:p>
        </p:txBody>
      </p:sp>
      <p:sp>
        <p:nvSpPr>
          <p:cNvPr id="27" name="Text 25"/>
          <p:cNvSpPr txBox="1"/>
          <p:nvPr/>
        </p:nvSpPr>
        <p:spPr>
          <a:xfrm>
            <a:off x="8347253" y="3218688"/>
            <a:ext cx="3039770" cy="237744"/>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Tracy, Obed, Eunice</a:t>
            </a:r>
            <a:endParaRPr lang="en-US" sz="950" dirty="0"/>
          </a:p>
        </p:txBody>
      </p:sp>
      <p:sp>
        <p:nvSpPr>
          <p:cNvPr id="28" name="Shape 26"/>
          <p:cNvSpPr/>
          <p:nvPr/>
        </p:nvSpPr>
        <p:spPr>
          <a:xfrm>
            <a:off x="566928" y="3813048"/>
            <a:ext cx="3515258" cy="2203704"/>
          </a:xfrm>
          <a:prstGeom prst="roundRect">
            <a:avLst>
              <a:gd name="adj" fmla="val 414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9" name="Shape 27"/>
          <p:cNvSpPr/>
          <p:nvPr/>
        </p:nvSpPr>
        <p:spPr>
          <a:xfrm>
            <a:off x="3515258" y="3977640"/>
            <a:ext cx="402336" cy="402336"/>
          </a:xfrm>
          <a:prstGeom prst="ellipse">
            <a:avLst/>
          </a:prstGeom>
          <a:solidFill>
            <a:srgbClr val="0CA30C"/>
          </a:solidFill>
          <a:ln/>
        </p:spPr>
      </p:sp>
      <p:sp>
        <p:nvSpPr>
          <p:cNvPr id="30" name="Text 28"/>
          <p:cNvSpPr txBox="1"/>
          <p:nvPr/>
        </p:nvSpPr>
        <p:spPr>
          <a:xfrm>
            <a:off x="3515258" y="39776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1" name="Text 29"/>
          <p:cNvSpPr txBox="1"/>
          <p:nvPr/>
        </p:nvSpPr>
        <p:spPr>
          <a:xfrm>
            <a:off x="804672" y="3977640"/>
            <a:ext cx="2582570" cy="475488"/>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Advans Savings &amp; Loans</a:t>
            </a:r>
            <a:endParaRPr lang="en-US" sz="1400" dirty="0"/>
          </a:p>
        </p:txBody>
      </p:sp>
      <p:sp>
        <p:nvSpPr>
          <p:cNvPr id="32" name="Text 30"/>
          <p:cNvSpPr txBox="1"/>
          <p:nvPr/>
        </p:nvSpPr>
        <p:spPr>
          <a:xfrm>
            <a:off x="877824" y="4526280"/>
            <a:ext cx="2948330" cy="603504"/>
          </a:xfrm>
          <a:prstGeom prst="rect">
            <a:avLst/>
          </a:prstGeom>
          <a:noFill/>
          <a:ln/>
        </p:spPr>
        <p:txBody>
          <a:bodyPr wrap="square" lIns="0" tIns="0" rIns="0" bIns="0" rtlCol="0" anchor="t"/>
          <a:lstStyle/>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Final Account</a:t>
            </a:r>
            <a:endParaRPr lang="en-US" sz="1000" dirty="0"/>
          </a:p>
        </p:txBody>
      </p:sp>
      <p:sp>
        <p:nvSpPr>
          <p:cNvPr id="33" name="Shape 31"/>
          <p:cNvSpPr/>
          <p:nvPr/>
        </p:nvSpPr>
        <p:spPr>
          <a:xfrm>
            <a:off x="804672" y="5257800"/>
            <a:ext cx="1755648" cy="292608"/>
          </a:xfrm>
          <a:prstGeom prst="roundRect">
            <a:avLst>
              <a:gd name="adj" fmla="val 50000"/>
            </a:avLst>
          </a:prstGeom>
          <a:solidFill>
            <a:srgbClr val="FAB219"/>
          </a:solidFill>
          <a:ln/>
        </p:spPr>
      </p:sp>
      <p:sp>
        <p:nvSpPr>
          <p:cNvPr id="34" name="Text 32"/>
          <p:cNvSpPr txBox="1"/>
          <p:nvPr/>
        </p:nvSpPr>
        <p:spPr>
          <a:xfrm>
            <a:off x="804672" y="5257800"/>
            <a:ext cx="1755648" cy="29260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AWAITING REVIEW</a:t>
            </a:r>
            <a:endParaRPr lang="en-US" sz="900" dirty="0"/>
          </a:p>
        </p:txBody>
      </p:sp>
      <p:sp>
        <p:nvSpPr>
          <p:cNvPr id="35" name="Text 33"/>
          <p:cNvSpPr txBox="1"/>
          <p:nvPr/>
        </p:nvSpPr>
        <p:spPr>
          <a:xfrm>
            <a:off x="804672" y="5623560"/>
            <a:ext cx="3039770" cy="237744"/>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Tracy</a:t>
            </a:r>
            <a:endParaRPr lang="en-US" sz="950" dirty="0"/>
          </a:p>
        </p:txBody>
      </p:sp>
      <p:sp>
        <p:nvSpPr>
          <p:cNvPr id="36" name="Shape 34"/>
          <p:cNvSpPr/>
          <p:nvPr/>
        </p:nvSpPr>
        <p:spPr>
          <a:xfrm>
            <a:off x="4338218" y="3813048"/>
            <a:ext cx="3515258" cy="2203704"/>
          </a:xfrm>
          <a:prstGeom prst="roundRect">
            <a:avLst>
              <a:gd name="adj" fmla="val 414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7" name="Shape 35"/>
          <p:cNvSpPr/>
          <p:nvPr/>
        </p:nvSpPr>
        <p:spPr>
          <a:xfrm>
            <a:off x="7286549" y="3977640"/>
            <a:ext cx="402336" cy="402336"/>
          </a:xfrm>
          <a:prstGeom prst="ellipse">
            <a:avLst/>
          </a:prstGeom>
          <a:solidFill>
            <a:srgbClr val="0CA30C"/>
          </a:solidFill>
          <a:ln/>
        </p:spPr>
      </p:sp>
      <p:sp>
        <p:nvSpPr>
          <p:cNvPr id="38" name="Text 36"/>
          <p:cNvSpPr txBox="1"/>
          <p:nvPr/>
        </p:nvSpPr>
        <p:spPr>
          <a:xfrm>
            <a:off x="7286549" y="39776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9" name="Text 37"/>
          <p:cNvSpPr txBox="1"/>
          <p:nvPr/>
        </p:nvSpPr>
        <p:spPr>
          <a:xfrm>
            <a:off x="4575962" y="3977640"/>
            <a:ext cx="2582570" cy="475488"/>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Thoroughbred Place</a:t>
            </a:r>
            <a:endParaRPr lang="en-US" sz="1400" dirty="0"/>
          </a:p>
        </p:txBody>
      </p:sp>
      <p:sp>
        <p:nvSpPr>
          <p:cNvPr id="40" name="Text 38"/>
          <p:cNvSpPr txBox="1"/>
          <p:nvPr/>
        </p:nvSpPr>
        <p:spPr>
          <a:xfrm>
            <a:off x="4649114" y="4526280"/>
            <a:ext cx="2948330" cy="603504"/>
          </a:xfrm>
          <a:prstGeom prst="rect">
            <a:avLst/>
          </a:prstGeom>
          <a:noFill/>
          <a:ln/>
        </p:spPr>
        <p:txBody>
          <a:bodyPr wrap="square" lIns="0" tIns="0" rIns="0" bIns="0" rtlCol="0" anchor="t"/>
          <a:lstStyle/>
          <a:p>
            <a:pPr marL="165100" indent="-165100">
              <a:spcAft>
                <a:spcPts val="300"/>
              </a:spcAft>
              <a:buSzPct val="100000"/>
              <a:buChar char="•"/>
            </a:pPr>
            <a:r>
              <a:rPr lang="en-US" sz="1000" dirty="0">
                <a:solidFill>
                  <a:srgbClr val="52514E"/>
                </a:solidFill>
                <a:latin typeface="Calibri" pitchFamily="34" charset="0"/>
                <a:ea typeface="Calibri" pitchFamily="34" charset="-122"/>
                <a:cs typeface="Calibri" pitchFamily="34" charset="-120"/>
              </a:rPr>
              <a:t>Financial Report (external)</a:t>
            </a:r>
            <a:endParaRPr lang="en-US" sz="1000" dirty="0"/>
          </a:p>
        </p:txBody>
      </p:sp>
      <p:sp>
        <p:nvSpPr>
          <p:cNvPr id="41" name="Shape 39"/>
          <p:cNvSpPr/>
          <p:nvPr/>
        </p:nvSpPr>
        <p:spPr>
          <a:xfrm>
            <a:off x="4575962" y="5257800"/>
            <a:ext cx="1755648" cy="292608"/>
          </a:xfrm>
          <a:prstGeom prst="roundRect">
            <a:avLst>
              <a:gd name="adj" fmla="val 50000"/>
            </a:avLst>
          </a:prstGeom>
          <a:solidFill>
            <a:srgbClr val="0CA30C"/>
          </a:solidFill>
          <a:ln/>
        </p:spPr>
      </p:sp>
      <p:sp>
        <p:nvSpPr>
          <p:cNvPr id="42" name="Text 40"/>
          <p:cNvSpPr txBox="1"/>
          <p:nvPr/>
        </p:nvSpPr>
        <p:spPr>
          <a:xfrm>
            <a:off x="4575962" y="5257800"/>
            <a:ext cx="1755648" cy="292608"/>
          </a:xfrm>
          <a:prstGeom prst="rect">
            <a:avLst/>
          </a:prstGeom>
          <a:noFill/>
          <a:ln/>
        </p:spPr>
        <p:txBody>
          <a:bodyPr wrap="square" lIns="0" tIns="0" rIns="0" bIns="0"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COMPLETE</a:t>
            </a:r>
            <a:endParaRPr lang="en-US" sz="900" dirty="0"/>
          </a:p>
        </p:txBody>
      </p:sp>
      <p:sp>
        <p:nvSpPr>
          <p:cNvPr id="43" name="Text 41"/>
          <p:cNvSpPr txBox="1"/>
          <p:nvPr/>
        </p:nvSpPr>
        <p:spPr>
          <a:xfrm>
            <a:off x="4575962" y="5623560"/>
            <a:ext cx="3039770" cy="237744"/>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Sedem</a:t>
            </a:r>
            <a:endParaRPr lang="en-US" sz="950" dirty="0"/>
          </a:p>
        </p:txBody>
      </p:sp>
      <p:sp>
        <p:nvSpPr>
          <p:cNvPr id="44" name="Text 42"/>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45" name="Text 43"/>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THE BOTTLENECK</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5 Deliverables Waiting on Review</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Finished work that cannot be closed out. Waiting time is measured from the expected finish date.</a:t>
            </a:r>
            <a:endParaRPr lang="en-US" sz="1250" dirty="0"/>
          </a:p>
        </p:txBody>
      </p:sp>
      <p:sp>
        <p:nvSpPr>
          <p:cNvPr id="5" name="Shape 3"/>
          <p:cNvSpPr/>
          <p:nvPr/>
        </p:nvSpPr>
        <p:spPr>
          <a:xfrm>
            <a:off x="566928" y="1700784"/>
            <a:ext cx="11057839" cy="777240"/>
          </a:xfrm>
          <a:prstGeom prst="roundRect">
            <a:avLst>
              <a:gd name="adj" fmla="val 1176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 name="Shape 4"/>
          <p:cNvSpPr/>
          <p:nvPr/>
        </p:nvSpPr>
        <p:spPr>
          <a:xfrm>
            <a:off x="731520" y="1979676"/>
            <a:ext cx="219456" cy="219456"/>
          </a:xfrm>
          <a:prstGeom prst="ellipse">
            <a:avLst/>
          </a:prstGeom>
          <a:solidFill>
            <a:srgbClr val="D03B3B"/>
          </a:solidFill>
          <a:ln/>
        </p:spPr>
      </p:sp>
      <p:sp>
        <p:nvSpPr>
          <p:cNvPr id="7" name="Text 5"/>
          <p:cNvSpPr txBox="1"/>
          <p:nvPr/>
        </p:nvSpPr>
        <p:spPr>
          <a:xfrm>
            <a:off x="1078992" y="1819656"/>
            <a:ext cx="310896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Advans Savings &amp; Loans</a:t>
            </a:r>
            <a:endParaRPr lang="en-US" sz="1150" dirty="0"/>
          </a:p>
        </p:txBody>
      </p:sp>
      <p:sp>
        <p:nvSpPr>
          <p:cNvPr id="8" name="Text 6"/>
          <p:cNvSpPr txBox="1"/>
          <p:nvPr/>
        </p:nvSpPr>
        <p:spPr>
          <a:xfrm>
            <a:off x="1078992" y="2066544"/>
            <a:ext cx="310896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Final Account</a:t>
            </a:r>
            <a:endParaRPr lang="en-US" sz="1000" dirty="0"/>
          </a:p>
        </p:txBody>
      </p:sp>
      <p:sp>
        <p:nvSpPr>
          <p:cNvPr id="9" name="Text 7"/>
          <p:cNvSpPr txBox="1"/>
          <p:nvPr/>
        </p:nvSpPr>
        <p:spPr>
          <a:xfrm>
            <a:off x="4315968" y="1837944"/>
            <a:ext cx="16459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10" name="Text 8"/>
          <p:cNvSpPr txBox="1"/>
          <p:nvPr/>
        </p:nvSpPr>
        <p:spPr>
          <a:xfrm>
            <a:off x="4315968" y="2048256"/>
            <a:ext cx="1645920" cy="256032"/>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Tracy</a:t>
            </a:r>
            <a:endParaRPr lang="en-US" sz="950" dirty="0"/>
          </a:p>
        </p:txBody>
      </p:sp>
      <p:sp>
        <p:nvSpPr>
          <p:cNvPr id="11" name="Text 9"/>
          <p:cNvSpPr txBox="1"/>
          <p:nvPr/>
        </p:nvSpPr>
        <p:spPr>
          <a:xfrm>
            <a:off x="6099048" y="1837944"/>
            <a:ext cx="14173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EXPECTED FINISH</a:t>
            </a:r>
            <a:endParaRPr lang="en-US" sz="800" dirty="0"/>
          </a:p>
        </p:txBody>
      </p:sp>
      <p:sp>
        <p:nvSpPr>
          <p:cNvPr id="12" name="Text 10"/>
          <p:cNvSpPr txBox="1"/>
          <p:nvPr/>
        </p:nvSpPr>
        <p:spPr>
          <a:xfrm>
            <a:off x="6099048" y="2048256"/>
            <a:ext cx="1417320" cy="256032"/>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11 Sep 2026</a:t>
            </a:r>
            <a:endParaRPr lang="en-US" sz="1050" dirty="0"/>
          </a:p>
        </p:txBody>
      </p:sp>
      <p:sp>
        <p:nvSpPr>
          <p:cNvPr id="13" name="Text 11"/>
          <p:cNvSpPr txBox="1"/>
          <p:nvPr/>
        </p:nvSpPr>
        <p:spPr>
          <a:xfrm>
            <a:off x="7653528" y="1837944"/>
            <a:ext cx="11887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WAITING</a:t>
            </a:r>
            <a:endParaRPr lang="en-US" sz="800" dirty="0"/>
          </a:p>
        </p:txBody>
      </p:sp>
      <p:sp>
        <p:nvSpPr>
          <p:cNvPr id="14" name="Text 12"/>
          <p:cNvSpPr txBox="1"/>
          <p:nvPr/>
        </p:nvSpPr>
        <p:spPr>
          <a:xfrm>
            <a:off x="7653528" y="2048256"/>
            <a:ext cx="1188720" cy="256032"/>
          </a:xfrm>
          <a:prstGeom prst="rect">
            <a:avLst/>
          </a:prstGeom>
          <a:noFill/>
          <a:ln/>
        </p:spPr>
        <p:txBody>
          <a:bodyPr wrap="square" lIns="0" tIns="0" rIns="0" bIns="0" rtlCol="0" anchor="ctr"/>
          <a:lstStyle/>
          <a:p>
            <a:pPr indent="0" marL="0">
              <a:buNone/>
            </a:pPr>
            <a:r>
              <a:rPr lang="en-US" sz="1200" b="1" dirty="0">
                <a:solidFill>
                  <a:srgbClr val="D03B3B"/>
                </a:solidFill>
                <a:latin typeface="Calibri" pitchFamily="34" charset="0"/>
                <a:ea typeface="Calibri" pitchFamily="34" charset="-122"/>
                <a:cs typeface="Calibri" pitchFamily="34" charset="-120"/>
              </a:rPr>
              <a:t>14 days</a:t>
            </a:r>
            <a:endParaRPr lang="en-US" sz="1200" dirty="0"/>
          </a:p>
        </p:txBody>
      </p:sp>
      <p:sp>
        <p:nvSpPr>
          <p:cNvPr id="15" name="Shape 13"/>
          <p:cNvSpPr/>
          <p:nvPr/>
        </p:nvSpPr>
        <p:spPr>
          <a:xfrm>
            <a:off x="8979408" y="2011680"/>
            <a:ext cx="2468880" cy="155448"/>
          </a:xfrm>
          <a:prstGeom prst="roundRect">
            <a:avLst>
              <a:gd name="adj" fmla="val 50000"/>
            </a:avLst>
          </a:prstGeom>
          <a:solidFill>
            <a:srgbClr val="E3E9F0"/>
          </a:solidFill>
          <a:ln/>
        </p:spPr>
      </p:sp>
      <p:sp>
        <p:nvSpPr>
          <p:cNvPr id="16" name="Shape 14"/>
          <p:cNvSpPr/>
          <p:nvPr/>
        </p:nvSpPr>
        <p:spPr>
          <a:xfrm>
            <a:off x="8979408" y="2011680"/>
            <a:ext cx="2468880" cy="155448"/>
          </a:xfrm>
          <a:prstGeom prst="roundRect">
            <a:avLst>
              <a:gd name="adj" fmla="val 50000"/>
            </a:avLst>
          </a:prstGeom>
          <a:solidFill>
            <a:srgbClr val="D03B3B"/>
          </a:solidFill>
          <a:ln/>
        </p:spPr>
      </p:sp>
      <p:sp>
        <p:nvSpPr>
          <p:cNvPr id="17" name="Shape 15"/>
          <p:cNvSpPr/>
          <p:nvPr/>
        </p:nvSpPr>
        <p:spPr>
          <a:xfrm>
            <a:off x="566928" y="2585466"/>
            <a:ext cx="11057839" cy="777240"/>
          </a:xfrm>
          <a:prstGeom prst="roundRect">
            <a:avLst>
              <a:gd name="adj" fmla="val 1176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8" name="Shape 16"/>
          <p:cNvSpPr/>
          <p:nvPr/>
        </p:nvSpPr>
        <p:spPr>
          <a:xfrm>
            <a:off x="731520" y="2864358"/>
            <a:ext cx="219456" cy="219456"/>
          </a:xfrm>
          <a:prstGeom prst="ellipse">
            <a:avLst/>
          </a:prstGeom>
          <a:solidFill>
            <a:srgbClr val="FAB219"/>
          </a:solidFill>
          <a:ln/>
        </p:spPr>
      </p:sp>
      <p:sp>
        <p:nvSpPr>
          <p:cNvPr id="19" name="Text 17"/>
          <p:cNvSpPr txBox="1"/>
          <p:nvPr/>
        </p:nvSpPr>
        <p:spPr>
          <a:xfrm>
            <a:off x="1078992" y="2704338"/>
            <a:ext cx="310896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Ecole International School</a:t>
            </a:r>
            <a:endParaRPr lang="en-US" sz="1150" dirty="0"/>
          </a:p>
        </p:txBody>
      </p:sp>
      <p:sp>
        <p:nvSpPr>
          <p:cNvPr id="20" name="Text 18"/>
          <p:cNvSpPr txBox="1"/>
          <p:nvPr/>
        </p:nvSpPr>
        <p:spPr>
          <a:xfrm>
            <a:off x="1078992" y="2951226"/>
            <a:ext cx="310896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BoQ and Budget</a:t>
            </a:r>
            <a:endParaRPr lang="en-US" sz="1000" dirty="0"/>
          </a:p>
        </p:txBody>
      </p:sp>
      <p:sp>
        <p:nvSpPr>
          <p:cNvPr id="21" name="Text 19"/>
          <p:cNvSpPr txBox="1"/>
          <p:nvPr/>
        </p:nvSpPr>
        <p:spPr>
          <a:xfrm>
            <a:off x="4315968" y="2722626"/>
            <a:ext cx="16459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22" name="Text 20"/>
          <p:cNvSpPr txBox="1"/>
          <p:nvPr/>
        </p:nvSpPr>
        <p:spPr>
          <a:xfrm>
            <a:off x="4315968" y="2932938"/>
            <a:ext cx="1645920" cy="256032"/>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Tracy, Obed, Eunice</a:t>
            </a:r>
            <a:endParaRPr lang="en-US" sz="950" dirty="0"/>
          </a:p>
        </p:txBody>
      </p:sp>
      <p:sp>
        <p:nvSpPr>
          <p:cNvPr id="23" name="Text 21"/>
          <p:cNvSpPr txBox="1"/>
          <p:nvPr/>
        </p:nvSpPr>
        <p:spPr>
          <a:xfrm>
            <a:off x="6099048" y="2722626"/>
            <a:ext cx="14173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EXPECTED FINISH</a:t>
            </a:r>
            <a:endParaRPr lang="en-US" sz="800" dirty="0"/>
          </a:p>
        </p:txBody>
      </p:sp>
      <p:sp>
        <p:nvSpPr>
          <p:cNvPr id="24" name="Text 22"/>
          <p:cNvSpPr txBox="1"/>
          <p:nvPr/>
        </p:nvSpPr>
        <p:spPr>
          <a:xfrm>
            <a:off x="6099048" y="2932938"/>
            <a:ext cx="1417320" cy="256032"/>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18 Sep 2026</a:t>
            </a:r>
            <a:endParaRPr lang="en-US" sz="1050" dirty="0"/>
          </a:p>
        </p:txBody>
      </p:sp>
      <p:sp>
        <p:nvSpPr>
          <p:cNvPr id="25" name="Text 23"/>
          <p:cNvSpPr txBox="1"/>
          <p:nvPr/>
        </p:nvSpPr>
        <p:spPr>
          <a:xfrm>
            <a:off x="7653528" y="2722626"/>
            <a:ext cx="11887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WAITING</a:t>
            </a:r>
            <a:endParaRPr lang="en-US" sz="800" dirty="0"/>
          </a:p>
        </p:txBody>
      </p:sp>
      <p:sp>
        <p:nvSpPr>
          <p:cNvPr id="26" name="Text 24"/>
          <p:cNvSpPr txBox="1"/>
          <p:nvPr/>
        </p:nvSpPr>
        <p:spPr>
          <a:xfrm>
            <a:off x="7653528" y="2932938"/>
            <a:ext cx="1188720" cy="256032"/>
          </a:xfrm>
          <a:prstGeom prst="rect">
            <a:avLst/>
          </a:prstGeom>
          <a:noFill/>
          <a:ln/>
        </p:spPr>
        <p:txBody>
          <a:bodyPr wrap="square" lIns="0" tIns="0" rIns="0" bIns="0" rtlCol="0" anchor="ctr"/>
          <a:lstStyle/>
          <a:p>
            <a:pPr indent="0" marL="0">
              <a:buNone/>
            </a:pPr>
            <a:r>
              <a:rPr lang="en-US" sz="1200" b="1" dirty="0">
                <a:solidFill>
                  <a:srgbClr val="FAB219"/>
                </a:solidFill>
                <a:latin typeface="Calibri" pitchFamily="34" charset="0"/>
                <a:ea typeface="Calibri" pitchFamily="34" charset="-122"/>
                <a:cs typeface="Calibri" pitchFamily="34" charset="-120"/>
              </a:rPr>
              <a:t>7 days</a:t>
            </a:r>
            <a:endParaRPr lang="en-US" sz="1200" dirty="0"/>
          </a:p>
        </p:txBody>
      </p:sp>
      <p:sp>
        <p:nvSpPr>
          <p:cNvPr id="27" name="Shape 25"/>
          <p:cNvSpPr/>
          <p:nvPr/>
        </p:nvSpPr>
        <p:spPr>
          <a:xfrm>
            <a:off x="8979408" y="2896362"/>
            <a:ext cx="2468880" cy="155448"/>
          </a:xfrm>
          <a:prstGeom prst="roundRect">
            <a:avLst>
              <a:gd name="adj" fmla="val 50000"/>
            </a:avLst>
          </a:prstGeom>
          <a:solidFill>
            <a:srgbClr val="E3E9F0"/>
          </a:solidFill>
          <a:ln/>
        </p:spPr>
      </p:sp>
      <p:sp>
        <p:nvSpPr>
          <p:cNvPr id="28" name="Shape 26"/>
          <p:cNvSpPr/>
          <p:nvPr/>
        </p:nvSpPr>
        <p:spPr>
          <a:xfrm>
            <a:off x="8979408" y="2896362"/>
            <a:ext cx="1234440" cy="155448"/>
          </a:xfrm>
          <a:prstGeom prst="roundRect">
            <a:avLst>
              <a:gd name="adj" fmla="val 50000"/>
            </a:avLst>
          </a:prstGeom>
          <a:solidFill>
            <a:srgbClr val="FAB219"/>
          </a:solidFill>
          <a:ln/>
        </p:spPr>
      </p:sp>
      <p:sp>
        <p:nvSpPr>
          <p:cNvPr id="29" name="Shape 27"/>
          <p:cNvSpPr/>
          <p:nvPr/>
        </p:nvSpPr>
        <p:spPr>
          <a:xfrm>
            <a:off x="566928" y="3470148"/>
            <a:ext cx="11057839" cy="777240"/>
          </a:xfrm>
          <a:prstGeom prst="roundRect">
            <a:avLst>
              <a:gd name="adj" fmla="val 1176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0" name="Shape 28"/>
          <p:cNvSpPr/>
          <p:nvPr/>
        </p:nvSpPr>
        <p:spPr>
          <a:xfrm>
            <a:off x="731520" y="3749040"/>
            <a:ext cx="219456" cy="219456"/>
          </a:xfrm>
          <a:prstGeom prst="ellipse">
            <a:avLst/>
          </a:prstGeom>
          <a:solidFill>
            <a:srgbClr val="898781"/>
          </a:solidFill>
          <a:ln/>
        </p:spPr>
      </p:sp>
      <p:sp>
        <p:nvSpPr>
          <p:cNvPr id="31" name="Text 29"/>
          <p:cNvSpPr txBox="1"/>
          <p:nvPr/>
        </p:nvSpPr>
        <p:spPr>
          <a:xfrm>
            <a:off x="1078992" y="3589020"/>
            <a:ext cx="310896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Stanbic Bank</a:t>
            </a:r>
            <a:endParaRPr lang="en-US" sz="1150" dirty="0"/>
          </a:p>
        </p:txBody>
      </p:sp>
      <p:sp>
        <p:nvSpPr>
          <p:cNvPr id="32" name="Text 30"/>
          <p:cNvSpPr txBox="1"/>
          <p:nvPr/>
        </p:nvSpPr>
        <p:spPr>
          <a:xfrm>
            <a:off x="1078992" y="3835908"/>
            <a:ext cx="310896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Cost Proposal</a:t>
            </a:r>
            <a:endParaRPr lang="en-US" sz="1000" dirty="0"/>
          </a:p>
        </p:txBody>
      </p:sp>
      <p:sp>
        <p:nvSpPr>
          <p:cNvPr id="33" name="Text 31"/>
          <p:cNvSpPr txBox="1"/>
          <p:nvPr/>
        </p:nvSpPr>
        <p:spPr>
          <a:xfrm>
            <a:off x="4315968" y="3607308"/>
            <a:ext cx="16459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34" name="Text 32"/>
          <p:cNvSpPr txBox="1"/>
          <p:nvPr/>
        </p:nvSpPr>
        <p:spPr>
          <a:xfrm>
            <a:off x="4315968" y="3817620"/>
            <a:ext cx="1645920" cy="256032"/>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Team</a:t>
            </a:r>
            <a:endParaRPr lang="en-US" sz="950" dirty="0"/>
          </a:p>
        </p:txBody>
      </p:sp>
      <p:sp>
        <p:nvSpPr>
          <p:cNvPr id="35" name="Text 33"/>
          <p:cNvSpPr txBox="1"/>
          <p:nvPr/>
        </p:nvSpPr>
        <p:spPr>
          <a:xfrm>
            <a:off x="6099048" y="3607308"/>
            <a:ext cx="14173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EXPECTED FINISH</a:t>
            </a:r>
            <a:endParaRPr lang="en-US" sz="800" dirty="0"/>
          </a:p>
        </p:txBody>
      </p:sp>
      <p:sp>
        <p:nvSpPr>
          <p:cNvPr id="36" name="Text 34"/>
          <p:cNvSpPr txBox="1"/>
          <p:nvPr/>
        </p:nvSpPr>
        <p:spPr>
          <a:xfrm>
            <a:off x="6099048" y="3817620"/>
            <a:ext cx="1417320" cy="256032"/>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25 Sep 2026</a:t>
            </a:r>
            <a:endParaRPr lang="en-US" sz="1050" dirty="0"/>
          </a:p>
        </p:txBody>
      </p:sp>
      <p:sp>
        <p:nvSpPr>
          <p:cNvPr id="37" name="Text 35"/>
          <p:cNvSpPr txBox="1"/>
          <p:nvPr/>
        </p:nvSpPr>
        <p:spPr>
          <a:xfrm>
            <a:off x="7653528" y="3607308"/>
            <a:ext cx="11887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WAITING</a:t>
            </a:r>
            <a:endParaRPr lang="en-US" sz="800" dirty="0"/>
          </a:p>
        </p:txBody>
      </p:sp>
      <p:sp>
        <p:nvSpPr>
          <p:cNvPr id="38" name="Text 36"/>
          <p:cNvSpPr txBox="1"/>
          <p:nvPr/>
        </p:nvSpPr>
        <p:spPr>
          <a:xfrm>
            <a:off x="7653528" y="3817620"/>
            <a:ext cx="1188720" cy="256032"/>
          </a:xfrm>
          <a:prstGeom prst="rect">
            <a:avLst/>
          </a:prstGeom>
          <a:noFill/>
          <a:ln/>
        </p:spPr>
        <p:txBody>
          <a:bodyPr wrap="square" lIns="0" tIns="0" rIns="0" bIns="0" rtlCol="0" anchor="ctr"/>
          <a:lstStyle/>
          <a:p>
            <a:pPr indent="0" marL="0">
              <a:buNone/>
            </a:pPr>
            <a:r>
              <a:rPr lang="en-US" sz="950" b="1" dirty="0">
                <a:solidFill>
                  <a:srgbClr val="52514E"/>
                </a:solidFill>
                <a:latin typeface="Calibri" pitchFamily="34" charset="0"/>
                <a:ea typeface="Calibri" pitchFamily="34" charset="-122"/>
                <a:cs typeface="Calibri" pitchFamily="34" charset="-120"/>
              </a:rPr>
              <a:t>Submitted today</a:t>
            </a:r>
            <a:endParaRPr lang="en-US" sz="950" dirty="0"/>
          </a:p>
        </p:txBody>
      </p:sp>
      <p:sp>
        <p:nvSpPr>
          <p:cNvPr id="39" name="Shape 37"/>
          <p:cNvSpPr/>
          <p:nvPr/>
        </p:nvSpPr>
        <p:spPr>
          <a:xfrm>
            <a:off x="8979408" y="3781044"/>
            <a:ext cx="2468880" cy="155448"/>
          </a:xfrm>
          <a:prstGeom prst="roundRect">
            <a:avLst>
              <a:gd name="adj" fmla="val 50000"/>
            </a:avLst>
          </a:prstGeom>
          <a:solidFill>
            <a:srgbClr val="E3E9F0"/>
          </a:solidFill>
          <a:ln/>
        </p:spPr>
      </p:sp>
      <p:sp>
        <p:nvSpPr>
          <p:cNvPr id="40" name="Shape 38"/>
          <p:cNvSpPr/>
          <p:nvPr/>
        </p:nvSpPr>
        <p:spPr>
          <a:xfrm>
            <a:off x="566928" y="4354830"/>
            <a:ext cx="11057839" cy="777240"/>
          </a:xfrm>
          <a:prstGeom prst="roundRect">
            <a:avLst>
              <a:gd name="adj" fmla="val 1176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41" name="Shape 39"/>
          <p:cNvSpPr/>
          <p:nvPr/>
        </p:nvSpPr>
        <p:spPr>
          <a:xfrm>
            <a:off x="731520" y="4633722"/>
            <a:ext cx="219456" cy="219456"/>
          </a:xfrm>
          <a:prstGeom prst="ellipse">
            <a:avLst/>
          </a:prstGeom>
          <a:solidFill>
            <a:srgbClr val="898781"/>
          </a:solidFill>
          <a:ln/>
        </p:spPr>
      </p:sp>
      <p:sp>
        <p:nvSpPr>
          <p:cNvPr id="42" name="Text 40"/>
          <p:cNvSpPr txBox="1"/>
          <p:nvPr/>
        </p:nvSpPr>
        <p:spPr>
          <a:xfrm>
            <a:off x="1078992" y="4473702"/>
            <a:ext cx="310896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Stanbic Bank</a:t>
            </a:r>
            <a:endParaRPr lang="en-US" sz="1150" dirty="0"/>
          </a:p>
        </p:txBody>
      </p:sp>
      <p:sp>
        <p:nvSpPr>
          <p:cNvPr id="43" name="Text 41"/>
          <p:cNvSpPr txBox="1"/>
          <p:nvPr/>
        </p:nvSpPr>
        <p:spPr>
          <a:xfrm>
            <a:off x="1078992" y="4720590"/>
            <a:ext cx="310896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Relevant Experience and CV</a:t>
            </a:r>
            <a:endParaRPr lang="en-US" sz="1000" dirty="0"/>
          </a:p>
        </p:txBody>
      </p:sp>
      <p:sp>
        <p:nvSpPr>
          <p:cNvPr id="44" name="Text 42"/>
          <p:cNvSpPr txBox="1"/>
          <p:nvPr/>
        </p:nvSpPr>
        <p:spPr>
          <a:xfrm>
            <a:off x="4315968" y="4491990"/>
            <a:ext cx="16459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45" name="Text 43"/>
          <p:cNvSpPr txBox="1"/>
          <p:nvPr/>
        </p:nvSpPr>
        <p:spPr>
          <a:xfrm>
            <a:off x="4315968" y="4702302"/>
            <a:ext cx="1645920" cy="256032"/>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Team</a:t>
            </a:r>
            <a:endParaRPr lang="en-US" sz="950" dirty="0"/>
          </a:p>
        </p:txBody>
      </p:sp>
      <p:sp>
        <p:nvSpPr>
          <p:cNvPr id="46" name="Text 44"/>
          <p:cNvSpPr txBox="1"/>
          <p:nvPr/>
        </p:nvSpPr>
        <p:spPr>
          <a:xfrm>
            <a:off x="6099048" y="4491990"/>
            <a:ext cx="14173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EXPECTED FINISH</a:t>
            </a:r>
            <a:endParaRPr lang="en-US" sz="800" dirty="0"/>
          </a:p>
        </p:txBody>
      </p:sp>
      <p:sp>
        <p:nvSpPr>
          <p:cNvPr id="47" name="Text 45"/>
          <p:cNvSpPr txBox="1"/>
          <p:nvPr/>
        </p:nvSpPr>
        <p:spPr>
          <a:xfrm>
            <a:off x="6099048" y="4702302"/>
            <a:ext cx="1417320" cy="256032"/>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25 Sep 2026</a:t>
            </a:r>
            <a:endParaRPr lang="en-US" sz="1050" dirty="0"/>
          </a:p>
        </p:txBody>
      </p:sp>
      <p:sp>
        <p:nvSpPr>
          <p:cNvPr id="48" name="Text 46"/>
          <p:cNvSpPr txBox="1"/>
          <p:nvPr/>
        </p:nvSpPr>
        <p:spPr>
          <a:xfrm>
            <a:off x="7653528" y="4491990"/>
            <a:ext cx="11887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WAITING</a:t>
            </a:r>
            <a:endParaRPr lang="en-US" sz="800" dirty="0"/>
          </a:p>
        </p:txBody>
      </p:sp>
      <p:sp>
        <p:nvSpPr>
          <p:cNvPr id="49" name="Text 47"/>
          <p:cNvSpPr txBox="1"/>
          <p:nvPr/>
        </p:nvSpPr>
        <p:spPr>
          <a:xfrm>
            <a:off x="7653528" y="4702302"/>
            <a:ext cx="1188720" cy="256032"/>
          </a:xfrm>
          <a:prstGeom prst="rect">
            <a:avLst/>
          </a:prstGeom>
          <a:noFill/>
          <a:ln/>
        </p:spPr>
        <p:txBody>
          <a:bodyPr wrap="square" lIns="0" tIns="0" rIns="0" bIns="0" rtlCol="0" anchor="ctr"/>
          <a:lstStyle/>
          <a:p>
            <a:pPr indent="0" marL="0">
              <a:buNone/>
            </a:pPr>
            <a:r>
              <a:rPr lang="en-US" sz="950" b="1" dirty="0">
                <a:solidFill>
                  <a:srgbClr val="52514E"/>
                </a:solidFill>
                <a:latin typeface="Calibri" pitchFamily="34" charset="0"/>
                <a:ea typeface="Calibri" pitchFamily="34" charset="-122"/>
                <a:cs typeface="Calibri" pitchFamily="34" charset="-120"/>
              </a:rPr>
              <a:t>Submitted today</a:t>
            </a:r>
            <a:endParaRPr lang="en-US" sz="950" dirty="0"/>
          </a:p>
        </p:txBody>
      </p:sp>
      <p:sp>
        <p:nvSpPr>
          <p:cNvPr id="50" name="Shape 48"/>
          <p:cNvSpPr/>
          <p:nvPr/>
        </p:nvSpPr>
        <p:spPr>
          <a:xfrm>
            <a:off x="8979408" y="4665726"/>
            <a:ext cx="2468880" cy="155448"/>
          </a:xfrm>
          <a:prstGeom prst="roundRect">
            <a:avLst>
              <a:gd name="adj" fmla="val 50000"/>
            </a:avLst>
          </a:prstGeom>
          <a:solidFill>
            <a:srgbClr val="E3E9F0"/>
          </a:solidFill>
          <a:ln/>
        </p:spPr>
      </p:sp>
      <p:sp>
        <p:nvSpPr>
          <p:cNvPr id="51" name="Shape 49"/>
          <p:cNvSpPr/>
          <p:nvPr/>
        </p:nvSpPr>
        <p:spPr>
          <a:xfrm>
            <a:off x="566928" y="5239512"/>
            <a:ext cx="11057839" cy="777240"/>
          </a:xfrm>
          <a:prstGeom prst="roundRect">
            <a:avLst>
              <a:gd name="adj" fmla="val 1176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52" name="Shape 50"/>
          <p:cNvSpPr/>
          <p:nvPr/>
        </p:nvSpPr>
        <p:spPr>
          <a:xfrm>
            <a:off x="731520" y="5518404"/>
            <a:ext cx="219456" cy="219456"/>
          </a:xfrm>
          <a:prstGeom prst="ellipse">
            <a:avLst/>
          </a:prstGeom>
          <a:solidFill>
            <a:srgbClr val="898781"/>
          </a:solidFill>
          <a:ln/>
        </p:spPr>
      </p:sp>
      <p:sp>
        <p:nvSpPr>
          <p:cNvPr id="53" name="Text 51"/>
          <p:cNvSpPr txBox="1"/>
          <p:nvPr/>
        </p:nvSpPr>
        <p:spPr>
          <a:xfrm>
            <a:off x="1078992" y="5358384"/>
            <a:ext cx="310896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Kinbu School Canteen Tender</a:t>
            </a:r>
            <a:endParaRPr lang="en-US" sz="1150" dirty="0"/>
          </a:p>
        </p:txBody>
      </p:sp>
      <p:sp>
        <p:nvSpPr>
          <p:cNvPr id="54" name="Text 52"/>
          <p:cNvSpPr txBox="1"/>
          <p:nvPr/>
        </p:nvSpPr>
        <p:spPr>
          <a:xfrm>
            <a:off x="1078992" y="5605272"/>
            <a:ext cx="310896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Priced BoQ</a:t>
            </a:r>
            <a:endParaRPr lang="en-US" sz="1000" dirty="0"/>
          </a:p>
        </p:txBody>
      </p:sp>
      <p:sp>
        <p:nvSpPr>
          <p:cNvPr id="55" name="Text 53"/>
          <p:cNvSpPr txBox="1"/>
          <p:nvPr/>
        </p:nvSpPr>
        <p:spPr>
          <a:xfrm>
            <a:off x="4315968" y="5376672"/>
            <a:ext cx="16459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56" name="Text 54"/>
          <p:cNvSpPr txBox="1"/>
          <p:nvPr/>
        </p:nvSpPr>
        <p:spPr>
          <a:xfrm>
            <a:off x="4315968" y="5586984"/>
            <a:ext cx="1645920" cy="256032"/>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Team</a:t>
            </a:r>
            <a:endParaRPr lang="en-US" sz="950" dirty="0"/>
          </a:p>
        </p:txBody>
      </p:sp>
      <p:sp>
        <p:nvSpPr>
          <p:cNvPr id="57" name="Text 55"/>
          <p:cNvSpPr txBox="1"/>
          <p:nvPr/>
        </p:nvSpPr>
        <p:spPr>
          <a:xfrm>
            <a:off x="6099048" y="5376672"/>
            <a:ext cx="14173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EXPECTED FINISH</a:t>
            </a:r>
            <a:endParaRPr lang="en-US" sz="800" dirty="0"/>
          </a:p>
        </p:txBody>
      </p:sp>
      <p:sp>
        <p:nvSpPr>
          <p:cNvPr id="58" name="Text 56"/>
          <p:cNvSpPr txBox="1"/>
          <p:nvPr/>
        </p:nvSpPr>
        <p:spPr>
          <a:xfrm>
            <a:off x="6099048" y="5586984"/>
            <a:ext cx="1417320" cy="256032"/>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25 Sep 2026</a:t>
            </a:r>
            <a:endParaRPr lang="en-US" sz="1050" dirty="0"/>
          </a:p>
        </p:txBody>
      </p:sp>
      <p:sp>
        <p:nvSpPr>
          <p:cNvPr id="59" name="Text 57"/>
          <p:cNvSpPr txBox="1"/>
          <p:nvPr/>
        </p:nvSpPr>
        <p:spPr>
          <a:xfrm>
            <a:off x="7653528" y="5376672"/>
            <a:ext cx="118872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WAITING</a:t>
            </a:r>
            <a:endParaRPr lang="en-US" sz="800" dirty="0"/>
          </a:p>
        </p:txBody>
      </p:sp>
      <p:sp>
        <p:nvSpPr>
          <p:cNvPr id="60" name="Text 58"/>
          <p:cNvSpPr txBox="1"/>
          <p:nvPr/>
        </p:nvSpPr>
        <p:spPr>
          <a:xfrm>
            <a:off x="7653528" y="5586984"/>
            <a:ext cx="1188720" cy="256032"/>
          </a:xfrm>
          <a:prstGeom prst="rect">
            <a:avLst/>
          </a:prstGeom>
          <a:noFill/>
          <a:ln/>
        </p:spPr>
        <p:txBody>
          <a:bodyPr wrap="square" lIns="0" tIns="0" rIns="0" bIns="0" rtlCol="0" anchor="ctr"/>
          <a:lstStyle/>
          <a:p>
            <a:pPr indent="0" marL="0">
              <a:buNone/>
            </a:pPr>
            <a:r>
              <a:rPr lang="en-US" sz="950" b="1" dirty="0">
                <a:solidFill>
                  <a:srgbClr val="52514E"/>
                </a:solidFill>
                <a:latin typeface="Calibri" pitchFamily="34" charset="0"/>
                <a:ea typeface="Calibri" pitchFamily="34" charset="-122"/>
                <a:cs typeface="Calibri" pitchFamily="34" charset="-120"/>
              </a:rPr>
              <a:t>Submitted today</a:t>
            </a:r>
            <a:endParaRPr lang="en-US" sz="950" dirty="0"/>
          </a:p>
        </p:txBody>
      </p:sp>
      <p:sp>
        <p:nvSpPr>
          <p:cNvPr id="61" name="Shape 59"/>
          <p:cNvSpPr/>
          <p:nvPr/>
        </p:nvSpPr>
        <p:spPr>
          <a:xfrm>
            <a:off x="8979408" y="5550408"/>
            <a:ext cx="2468880" cy="155448"/>
          </a:xfrm>
          <a:prstGeom prst="roundRect">
            <a:avLst>
              <a:gd name="adj" fmla="val 50000"/>
            </a:avLst>
          </a:prstGeom>
          <a:solidFill>
            <a:srgbClr val="E3E9F0"/>
          </a:solidFill>
          <a:ln/>
        </p:spPr>
      </p:sp>
      <p:sp>
        <p:nvSpPr>
          <p:cNvPr id="62" name="Text 60"/>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63" name="Text 61"/>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THE WATCH LIST</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2 Deliverables Still Open</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Both sit on Priority Insurance. The dark marker shows where each was planned to be today.</a:t>
            </a:r>
            <a:endParaRPr lang="en-US" sz="1250" dirty="0"/>
          </a:p>
        </p:txBody>
      </p:sp>
      <p:sp>
        <p:nvSpPr>
          <p:cNvPr id="5" name="Shape 3"/>
          <p:cNvSpPr/>
          <p:nvPr/>
        </p:nvSpPr>
        <p:spPr>
          <a:xfrm>
            <a:off x="566928" y="1700784"/>
            <a:ext cx="11057839" cy="1188720"/>
          </a:xfrm>
          <a:prstGeom prst="roundRect">
            <a:avLst>
              <a:gd name="adj" fmla="val 7692"/>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 name="Shape 4"/>
          <p:cNvSpPr/>
          <p:nvPr/>
        </p:nvSpPr>
        <p:spPr>
          <a:xfrm>
            <a:off x="749808" y="2167128"/>
            <a:ext cx="256032" cy="256032"/>
          </a:xfrm>
          <a:prstGeom prst="ellipse">
            <a:avLst/>
          </a:prstGeom>
          <a:solidFill>
            <a:srgbClr val="FAB219"/>
          </a:solidFill>
          <a:ln/>
        </p:spPr>
      </p:sp>
      <p:sp>
        <p:nvSpPr>
          <p:cNvPr id="7" name="Text 5"/>
          <p:cNvSpPr txBox="1"/>
          <p:nvPr/>
        </p:nvSpPr>
        <p:spPr>
          <a:xfrm>
            <a:off x="1207008" y="2029968"/>
            <a:ext cx="251460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Priority Insurance</a:t>
            </a:r>
            <a:endParaRPr lang="en-US" sz="1300" dirty="0"/>
          </a:p>
        </p:txBody>
      </p:sp>
      <p:sp>
        <p:nvSpPr>
          <p:cNvPr id="8" name="Text 6"/>
          <p:cNvSpPr txBox="1"/>
          <p:nvPr/>
        </p:nvSpPr>
        <p:spPr>
          <a:xfrm>
            <a:off x="1207008" y="2322576"/>
            <a:ext cx="2514600" cy="25603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Complete BoQ</a:t>
            </a:r>
            <a:endParaRPr lang="en-US" sz="1100" dirty="0"/>
          </a:p>
        </p:txBody>
      </p:sp>
      <p:sp>
        <p:nvSpPr>
          <p:cNvPr id="9" name="Text 7"/>
          <p:cNvSpPr txBox="1"/>
          <p:nvPr/>
        </p:nvSpPr>
        <p:spPr>
          <a:xfrm>
            <a:off x="3877056" y="2084832"/>
            <a:ext cx="1097280" cy="219456"/>
          </a:xfrm>
          <a:prstGeom prst="rect">
            <a:avLst/>
          </a:prstGeom>
          <a:noFill/>
          <a:ln/>
        </p:spPr>
        <p:txBody>
          <a:bodyPr wrap="square" lIns="0" tIns="0" rIns="0" bIns="0" rtlCol="0" anchor="ctr"/>
          <a:lstStyle/>
          <a:p>
            <a:pPr indent="0" marL="0">
              <a:buNone/>
            </a:pPr>
            <a:r>
              <a:rPr lang="en-US" sz="1000" b="1" dirty="0">
                <a:solidFill>
                  <a:srgbClr val="1B2A41"/>
                </a:solidFill>
                <a:latin typeface="Calibri" pitchFamily="34" charset="0"/>
                <a:ea typeface="Calibri" pitchFamily="34" charset="-122"/>
                <a:cs typeface="Calibri" pitchFamily="34" charset="-120"/>
              </a:rPr>
              <a:t>Actual 40%</a:t>
            </a:r>
            <a:endParaRPr lang="en-US" sz="1000" dirty="0"/>
          </a:p>
        </p:txBody>
      </p:sp>
      <p:sp>
        <p:nvSpPr>
          <p:cNvPr id="10" name="Text 8"/>
          <p:cNvSpPr txBox="1"/>
          <p:nvPr/>
        </p:nvSpPr>
        <p:spPr>
          <a:xfrm>
            <a:off x="4974336" y="2084832"/>
            <a:ext cx="128016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Planned 50%</a:t>
            </a:r>
            <a:endParaRPr lang="en-US" sz="1000" dirty="0"/>
          </a:p>
        </p:txBody>
      </p:sp>
      <p:sp>
        <p:nvSpPr>
          <p:cNvPr id="11" name="Shape 9"/>
          <p:cNvSpPr/>
          <p:nvPr/>
        </p:nvSpPr>
        <p:spPr>
          <a:xfrm>
            <a:off x="3877056" y="2395728"/>
            <a:ext cx="2377440" cy="164592"/>
          </a:xfrm>
          <a:prstGeom prst="roundRect">
            <a:avLst>
              <a:gd name="adj" fmla="val 50000"/>
            </a:avLst>
          </a:prstGeom>
          <a:solidFill>
            <a:srgbClr val="E3E9F0"/>
          </a:solidFill>
          <a:ln/>
        </p:spPr>
      </p:sp>
      <p:sp>
        <p:nvSpPr>
          <p:cNvPr id="12" name="Shape 10"/>
          <p:cNvSpPr/>
          <p:nvPr/>
        </p:nvSpPr>
        <p:spPr>
          <a:xfrm>
            <a:off x="3877056" y="2395728"/>
            <a:ext cx="950976" cy="164592"/>
          </a:xfrm>
          <a:prstGeom prst="roundRect">
            <a:avLst>
              <a:gd name="adj" fmla="val 50000"/>
            </a:avLst>
          </a:prstGeom>
          <a:solidFill>
            <a:srgbClr val="FAB219"/>
          </a:solidFill>
          <a:ln/>
        </p:spPr>
      </p:sp>
      <p:sp>
        <p:nvSpPr>
          <p:cNvPr id="13" name="Shape 11"/>
          <p:cNvSpPr/>
          <p:nvPr/>
        </p:nvSpPr>
        <p:spPr>
          <a:xfrm>
            <a:off x="5065776" y="2327148"/>
            <a:ext cx="32004" cy="301752"/>
          </a:xfrm>
          <a:prstGeom prst="rect">
            <a:avLst/>
          </a:prstGeom>
          <a:solidFill>
            <a:srgbClr val="1B2A41"/>
          </a:solidFill>
          <a:ln/>
        </p:spPr>
      </p:sp>
      <p:sp>
        <p:nvSpPr>
          <p:cNvPr id="14" name="Text 12"/>
          <p:cNvSpPr txBox="1"/>
          <p:nvPr/>
        </p:nvSpPr>
        <p:spPr>
          <a:xfrm>
            <a:off x="6739128" y="2103120"/>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15" name="Text 13"/>
          <p:cNvSpPr txBox="1"/>
          <p:nvPr/>
        </p:nvSpPr>
        <p:spPr>
          <a:xfrm>
            <a:off x="6739128" y="2313432"/>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30 Sep 2026</a:t>
            </a:r>
            <a:endParaRPr lang="en-US" sz="1100" dirty="0"/>
          </a:p>
        </p:txBody>
      </p:sp>
      <p:sp>
        <p:nvSpPr>
          <p:cNvPr id="16" name="Text 14"/>
          <p:cNvSpPr txBox="1"/>
          <p:nvPr/>
        </p:nvSpPr>
        <p:spPr>
          <a:xfrm>
            <a:off x="8266176" y="2103120"/>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17" name="Text 15"/>
          <p:cNvSpPr txBox="1"/>
          <p:nvPr/>
        </p:nvSpPr>
        <p:spPr>
          <a:xfrm>
            <a:off x="8266176" y="2313432"/>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Obed, Sedem, Gilbert</a:t>
            </a:r>
            <a:endParaRPr lang="en-US" sz="1000" dirty="0"/>
          </a:p>
        </p:txBody>
      </p:sp>
      <p:sp>
        <p:nvSpPr>
          <p:cNvPr id="18" name="Shape 16"/>
          <p:cNvSpPr/>
          <p:nvPr/>
        </p:nvSpPr>
        <p:spPr>
          <a:xfrm>
            <a:off x="10186416" y="2139696"/>
            <a:ext cx="1170432" cy="310896"/>
          </a:xfrm>
          <a:prstGeom prst="roundRect">
            <a:avLst>
              <a:gd name="adj" fmla="val 50000"/>
            </a:avLst>
          </a:prstGeom>
          <a:solidFill>
            <a:srgbClr val="FAB219"/>
          </a:solidFill>
          <a:ln/>
        </p:spPr>
      </p:sp>
      <p:sp>
        <p:nvSpPr>
          <p:cNvPr id="19" name="Text 17"/>
          <p:cNvSpPr txBox="1"/>
          <p:nvPr/>
        </p:nvSpPr>
        <p:spPr>
          <a:xfrm>
            <a:off x="10186416" y="2139696"/>
            <a:ext cx="1170432" cy="310896"/>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BLOCKED</a:t>
            </a:r>
            <a:endParaRPr lang="en-US" sz="900" dirty="0"/>
          </a:p>
        </p:txBody>
      </p:sp>
      <p:sp>
        <p:nvSpPr>
          <p:cNvPr id="20" name="Shape 18"/>
          <p:cNvSpPr/>
          <p:nvPr/>
        </p:nvSpPr>
        <p:spPr>
          <a:xfrm>
            <a:off x="566928" y="3108960"/>
            <a:ext cx="11057839" cy="1188720"/>
          </a:xfrm>
          <a:prstGeom prst="roundRect">
            <a:avLst>
              <a:gd name="adj" fmla="val 7692"/>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1" name="Shape 19"/>
          <p:cNvSpPr/>
          <p:nvPr/>
        </p:nvSpPr>
        <p:spPr>
          <a:xfrm>
            <a:off x="749808" y="3575304"/>
            <a:ext cx="256032" cy="256032"/>
          </a:xfrm>
          <a:prstGeom prst="ellipse">
            <a:avLst/>
          </a:prstGeom>
          <a:solidFill>
            <a:srgbClr val="898781"/>
          </a:solidFill>
          <a:ln/>
        </p:spPr>
      </p:sp>
      <p:sp>
        <p:nvSpPr>
          <p:cNvPr id="22" name="Text 20"/>
          <p:cNvSpPr txBox="1"/>
          <p:nvPr/>
        </p:nvSpPr>
        <p:spPr>
          <a:xfrm>
            <a:off x="1207008" y="3438144"/>
            <a:ext cx="251460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Priority Insurance</a:t>
            </a:r>
            <a:endParaRPr lang="en-US" sz="1300" dirty="0"/>
          </a:p>
        </p:txBody>
      </p:sp>
      <p:sp>
        <p:nvSpPr>
          <p:cNvPr id="23" name="Text 21"/>
          <p:cNvSpPr txBox="1"/>
          <p:nvPr/>
        </p:nvSpPr>
        <p:spPr>
          <a:xfrm>
            <a:off x="1207008" y="3730752"/>
            <a:ext cx="2514600" cy="25603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Complete Budget</a:t>
            </a:r>
            <a:endParaRPr lang="en-US" sz="1100" dirty="0"/>
          </a:p>
        </p:txBody>
      </p:sp>
      <p:sp>
        <p:nvSpPr>
          <p:cNvPr id="24" name="Text 22"/>
          <p:cNvSpPr txBox="1"/>
          <p:nvPr/>
        </p:nvSpPr>
        <p:spPr>
          <a:xfrm>
            <a:off x="3877056" y="3493008"/>
            <a:ext cx="1097280" cy="219456"/>
          </a:xfrm>
          <a:prstGeom prst="rect">
            <a:avLst/>
          </a:prstGeom>
          <a:noFill/>
          <a:ln/>
        </p:spPr>
        <p:txBody>
          <a:bodyPr wrap="square" lIns="0" tIns="0" rIns="0" bIns="0" rtlCol="0" anchor="ctr"/>
          <a:lstStyle/>
          <a:p>
            <a:pPr indent="0" marL="0">
              <a:buNone/>
            </a:pPr>
            <a:r>
              <a:rPr lang="en-US" sz="1000" b="1" dirty="0">
                <a:solidFill>
                  <a:srgbClr val="1B2A41"/>
                </a:solidFill>
                <a:latin typeface="Calibri" pitchFamily="34" charset="0"/>
                <a:ea typeface="Calibri" pitchFamily="34" charset="-122"/>
                <a:cs typeface="Calibri" pitchFamily="34" charset="-120"/>
              </a:rPr>
              <a:t>Actual 0%</a:t>
            </a:r>
            <a:endParaRPr lang="en-US" sz="1000" dirty="0"/>
          </a:p>
        </p:txBody>
      </p:sp>
      <p:sp>
        <p:nvSpPr>
          <p:cNvPr id="25" name="Text 23"/>
          <p:cNvSpPr txBox="1"/>
          <p:nvPr/>
        </p:nvSpPr>
        <p:spPr>
          <a:xfrm>
            <a:off x="4974336" y="3493008"/>
            <a:ext cx="128016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Planned 0%</a:t>
            </a:r>
            <a:endParaRPr lang="en-US" sz="1000" dirty="0"/>
          </a:p>
        </p:txBody>
      </p:sp>
      <p:sp>
        <p:nvSpPr>
          <p:cNvPr id="26" name="Shape 24"/>
          <p:cNvSpPr/>
          <p:nvPr/>
        </p:nvSpPr>
        <p:spPr>
          <a:xfrm>
            <a:off x="3877056" y="3803904"/>
            <a:ext cx="2377440" cy="164592"/>
          </a:xfrm>
          <a:prstGeom prst="roundRect">
            <a:avLst>
              <a:gd name="adj" fmla="val 50000"/>
            </a:avLst>
          </a:prstGeom>
          <a:solidFill>
            <a:srgbClr val="E3E9F0"/>
          </a:solidFill>
          <a:ln/>
        </p:spPr>
      </p:sp>
      <p:sp>
        <p:nvSpPr>
          <p:cNvPr id="27" name="Text 25"/>
          <p:cNvSpPr txBox="1"/>
          <p:nvPr/>
        </p:nvSpPr>
        <p:spPr>
          <a:xfrm>
            <a:off x="6739128" y="3511296"/>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28" name="Text 26"/>
          <p:cNvSpPr txBox="1"/>
          <p:nvPr/>
        </p:nvSpPr>
        <p:spPr>
          <a:xfrm>
            <a:off x="6739128" y="3721608"/>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09 Oct 2026</a:t>
            </a:r>
            <a:endParaRPr lang="en-US" sz="1100" dirty="0"/>
          </a:p>
        </p:txBody>
      </p:sp>
      <p:sp>
        <p:nvSpPr>
          <p:cNvPr id="29" name="Text 27"/>
          <p:cNvSpPr txBox="1"/>
          <p:nvPr/>
        </p:nvSpPr>
        <p:spPr>
          <a:xfrm>
            <a:off x="8266176" y="3511296"/>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30" name="Text 28"/>
          <p:cNvSpPr txBox="1"/>
          <p:nvPr/>
        </p:nvSpPr>
        <p:spPr>
          <a:xfrm>
            <a:off x="8266176" y="3721608"/>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Obed, Sedem, Gilbert</a:t>
            </a:r>
            <a:endParaRPr lang="en-US" sz="1000" dirty="0"/>
          </a:p>
        </p:txBody>
      </p:sp>
      <p:sp>
        <p:nvSpPr>
          <p:cNvPr id="31" name="Shape 29"/>
          <p:cNvSpPr/>
          <p:nvPr/>
        </p:nvSpPr>
        <p:spPr>
          <a:xfrm>
            <a:off x="10186416" y="3547872"/>
            <a:ext cx="1170432" cy="310896"/>
          </a:xfrm>
          <a:prstGeom prst="roundRect">
            <a:avLst>
              <a:gd name="adj" fmla="val 50000"/>
            </a:avLst>
          </a:prstGeom>
          <a:solidFill>
            <a:srgbClr val="898781"/>
          </a:solidFill>
          <a:ln/>
        </p:spPr>
      </p:sp>
      <p:sp>
        <p:nvSpPr>
          <p:cNvPr id="32" name="Text 30"/>
          <p:cNvSpPr txBox="1"/>
          <p:nvPr/>
        </p:nvSpPr>
        <p:spPr>
          <a:xfrm>
            <a:off x="10186416" y="3547872"/>
            <a:ext cx="1170432" cy="310896"/>
          </a:xfrm>
          <a:prstGeom prst="rect">
            <a:avLst/>
          </a:prstGeom>
          <a:noFill/>
          <a:ln/>
        </p:spPr>
        <p:txBody>
          <a:bodyPr wrap="square" lIns="0" tIns="0" rIns="0" bIns="0"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ON PLAN</a:t>
            </a:r>
            <a:endParaRPr lang="en-US" sz="900" dirty="0"/>
          </a:p>
        </p:txBody>
      </p:sp>
      <p:sp>
        <p:nvSpPr>
          <p:cNvPr id="33" name="Shape 31"/>
          <p:cNvSpPr/>
          <p:nvPr/>
        </p:nvSpPr>
        <p:spPr>
          <a:xfrm>
            <a:off x="566928" y="4535424"/>
            <a:ext cx="11057839" cy="1353312"/>
          </a:xfrm>
          <a:prstGeom prst="roundRect">
            <a:avLst>
              <a:gd name="adj" fmla="val 6757"/>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34" name="Text 32"/>
          <p:cNvSpPr txBox="1"/>
          <p:nvPr/>
        </p:nvSpPr>
        <p:spPr>
          <a:xfrm>
            <a:off x="841248" y="4681728"/>
            <a:ext cx="3657600" cy="256032"/>
          </a:xfrm>
          <a:prstGeom prst="rect">
            <a:avLst/>
          </a:prstGeom>
          <a:noFill/>
          <a:ln/>
        </p:spPr>
        <p:txBody>
          <a:bodyPr wrap="square" lIns="0" tIns="0" rIns="0" bIns="0" rtlCol="0" anchor="ctr"/>
          <a:lstStyle/>
          <a:p>
            <a:pPr indent="0" marL="0">
              <a:buNone/>
            </a:pPr>
            <a:r>
              <a:rPr lang="en-US" sz="1200" b="1" dirty="0">
                <a:solidFill>
                  <a:srgbClr val="D03B3B"/>
                </a:solidFill>
                <a:latin typeface="Calibri" pitchFamily="34" charset="0"/>
                <a:ea typeface="Calibri" pitchFamily="34" charset="-122"/>
                <a:cs typeface="Calibri" pitchFamily="34" charset="-120"/>
              </a:rPr>
              <a:t>Why it has not moved</a:t>
            </a:r>
            <a:endParaRPr lang="en-US" sz="1200" dirty="0"/>
          </a:p>
        </p:txBody>
      </p:sp>
      <p:sp>
        <p:nvSpPr>
          <p:cNvPr id="35" name="Text 33"/>
          <p:cNvSpPr txBox="1"/>
          <p:nvPr/>
        </p:nvSpPr>
        <p:spPr>
          <a:xfrm>
            <a:off x="841248" y="4956048"/>
            <a:ext cx="10509199" cy="51206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architectural take-off has been 90% complete for two weeks. The floor finishes schedule and the structural drawings have still not been issued, so the BoQ cannot be closed. The budget is sequenced behind the BoQ, which is why it correctly shows no progress against a zero plan rather than a slippage.</a:t>
            </a:r>
            <a:endParaRPr lang="en-US" sz="1050" dirty="0"/>
          </a:p>
        </p:txBody>
      </p:sp>
      <p:sp>
        <p:nvSpPr>
          <p:cNvPr id="36" name="Text 34"/>
          <p:cNvSpPr txBox="1"/>
          <p:nvPr/>
        </p:nvSpPr>
        <p:spPr>
          <a:xfrm>
            <a:off x="841248" y="5522976"/>
            <a:ext cx="10509199" cy="237744"/>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Ask: a firm issue date for both documents from the design team and the client.</a:t>
            </a:r>
            <a:endParaRPr lang="en-US" sz="1050" dirty="0"/>
          </a:p>
        </p:txBody>
      </p:sp>
      <p:sp>
        <p:nvSpPr>
          <p:cNvPr id="37" name="Text 35"/>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38" name="Text 36"/>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ESCALATION</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Blockers and Decisions Required</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Two items cannot be cleared by the commercial department alone.</a:t>
            </a:r>
            <a:endParaRPr lang="en-US" sz="1250" dirty="0"/>
          </a:p>
        </p:txBody>
      </p:sp>
      <p:sp>
        <p:nvSpPr>
          <p:cNvPr id="5" name="Shape 3"/>
          <p:cNvSpPr/>
          <p:nvPr/>
        </p:nvSpPr>
        <p:spPr>
          <a:xfrm>
            <a:off x="566928" y="1700784"/>
            <a:ext cx="5391760" cy="3127248"/>
          </a:xfrm>
          <a:prstGeom prst="roundRect">
            <a:avLst>
              <a:gd name="adj" fmla="val 2924"/>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 name="Shape 4"/>
          <p:cNvSpPr/>
          <p:nvPr/>
        </p:nvSpPr>
        <p:spPr>
          <a:xfrm>
            <a:off x="841248" y="1938528"/>
            <a:ext cx="438912" cy="438912"/>
          </a:xfrm>
          <a:prstGeom prst="ellipse">
            <a:avLst/>
          </a:prstGeom>
          <a:solidFill>
            <a:srgbClr val="FAB219"/>
          </a:solidFill>
          <a:ln/>
        </p:spPr>
      </p:sp>
      <p:sp>
        <p:nvSpPr>
          <p:cNvPr id="7" name="Text 5"/>
          <p:cNvSpPr txBox="1"/>
          <p:nvPr/>
        </p:nvSpPr>
        <p:spPr>
          <a:xfrm>
            <a:off x="841248" y="1938528"/>
            <a:ext cx="438912" cy="438912"/>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26464" y="1901952"/>
            <a:ext cx="4312768" cy="512064"/>
          </a:xfrm>
          <a:prstGeom prst="rect">
            <a:avLst/>
          </a:prstGeom>
          <a:noFill/>
          <a:ln/>
        </p:spPr>
        <p:txBody>
          <a:bodyPr wrap="square" lIns="0" tIns="0" rIns="0" bIns="0" rtlCol="0" anchor="ctr"/>
          <a:lstStyle/>
          <a:p>
            <a:pPr indent="0" marL="0">
              <a:buNone/>
            </a:pPr>
            <a:r>
              <a:rPr lang="en-US" sz="1500" b="1" dirty="0">
                <a:solidFill>
                  <a:srgbClr val="1B2A41"/>
                </a:solidFill>
                <a:latin typeface="Cambria" pitchFamily="34" charset="0"/>
                <a:ea typeface="Cambria" pitchFamily="34" charset="-122"/>
                <a:cs typeface="Cambria" pitchFamily="34" charset="-120"/>
              </a:rPr>
              <a:t>Review bottleneck</a:t>
            </a:r>
            <a:endParaRPr lang="en-US" sz="1500" dirty="0"/>
          </a:p>
        </p:txBody>
      </p:sp>
      <p:sp>
        <p:nvSpPr>
          <p:cNvPr id="9" name="Text 7"/>
          <p:cNvSpPr txBox="1"/>
          <p:nvPr/>
        </p:nvSpPr>
        <p:spPr>
          <a:xfrm>
            <a:off x="841248" y="2487168"/>
            <a:ext cx="4843120" cy="219456"/>
          </a:xfrm>
          <a:prstGeom prst="rect">
            <a:avLst/>
          </a:prstGeom>
          <a:noFill/>
          <a:ln/>
        </p:spPr>
        <p:txBody>
          <a:bodyPr wrap="square" lIns="0" tIns="0" rIns="0" bIns="0" rtlCol="0" anchor="ctr"/>
          <a:lstStyle/>
          <a:p>
            <a:pPr indent="0" marL="0">
              <a:buNone/>
            </a:pPr>
            <a:r>
              <a:rPr lang="en-US" sz="1000" b="1" dirty="0">
                <a:solidFill>
                  <a:srgbClr val="898781"/>
                </a:solidFill>
                <a:latin typeface="Calibri" pitchFamily="34" charset="0"/>
                <a:ea typeface="Calibri" pitchFamily="34" charset="-122"/>
                <a:cs typeface="Calibri" pitchFamily="34" charset="-120"/>
              </a:rPr>
              <a:t>Stanbic · Kinbu · Ecole · Advans</a:t>
            </a:r>
            <a:endParaRPr lang="en-US" sz="1000" dirty="0"/>
          </a:p>
        </p:txBody>
      </p:sp>
      <p:sp>
        <p:nvSpPr>
          <p:cNvPr id="10" name="Text 8"/>
          <p:cNvSpPr txBox="1"/>
          <p:nvPr/>
        </p:nvSpPr>
        <p:spPr>
          <a:xfrm>
            <a:off x="841248" y="2798064"/>
            <a:ext cx="4843120" cy="1042416"/>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Five finished deliverables across four projects are waiting to be signed off. The Advans final account has been in the queue fourteen days and Ecole seven. Three more went in today, so the queue will grow again next week unless it is cleared. Until each is reviewed the work cannot be closed out or reported as complete.</a:t>
            </a:r>
            <a:endParaRPr lang="en-US" sz="1100" dirty="0"/>
          </a:p>
        </p:txBody>
      </p:sp>
      <p:sp>
        <p:nvSpPr>
          <p:cNvPr id="11" name="Shape 9"/>
          <p:cNvSpPr/>
          <p:nvPr/>
        </p:nvSpPr>
        <p:spPr>
          <a:xfrm>
            <a:off x="841248" y="3931920"/>
            <a:ext cx="4843120" cy="786384"/>
          </a:xfrm>
          <a:prstGeom prst="roundRect">
            <a:avLst>
              <a:gd name="adj" fmla="val 9302"/>
            </a:avLst>
          </a:prstGeom>
          <a:solidFill>
            <a:srgbClr val="F2F5F8"/>
          </a:solidFill>
          <a:ln/>
        </p:spPr>
      </p:sp>
      <p:sp>
        <p:nvSpPr>
          <p:cNvPr id="12" name="Text 10"/>
          <p:cNvSpPr txBox="1"/>
          <p:nvPr/>
        </p:nvSpPr>
        <p:spPr>
          <a:xfrm>
            <a:off x="987552" y="4023360"/>
            <a:ext cx="4550512" cy="182880"/>
          </a:xfrm>
          <a:prstGeom prst="rect">
            <a:avLst/>
          </a:prstGeom>
          <a:noFill/>
          <a:ln/>
        </p:spPr>
        <p:txBody>
          <a:bodyPr wrap="square" lIns="0" tIns="0" rIns="0" bIns="0" rtlCol="0" anchor="ctr"/>
          <a:lstStyle/>
          <a:p>
            <a:pPr indent="0" marL="0">
              <a:buNone/>
            </a:pPr>
            <a:r>
              <a:rPr lang="en-US" sz="800" b="1" spc="110" kern="0" dirty="0">
                <a:solidFill>
                  <a:srgbClr val="9A6B00"/>
                </a:solidFill>
                <a:latin typeface="Calibri" pitchFamily="34" charset="0"/>
                <a:ea typeface="Calibri" pitchFamily="34" charset="-122"/>
                <a:cs typeface="Calibri" pitchFamily="34" charset="-120"/>
              </a:rPr>
              <a:t>DECISION REQUIRED</a:t>
            </a:r>
            <a:endParaRPr lang="en-US" sz="800" dirty="0"/>
          </a:p>
        </p:txBody>
      </p:sp>
      <p:sp>
        <p:nvSpPr>
          <p:cNvPr id="13" name="Text 11"/>
          <p:cNvSpPr txBox="1"/>
          <p:nvPr/>
        </p:nvSpPr>
        <p:spPr>
          <a:xfrm>
            <a:off x="987552" y="4224528"/>
            <a:ext cx="4550512" cy="457200"/>
          </a:xfrm>
          <a:prstGeom prst="rect">
            <a:avLst/>
          </a:prstGeom>
          <a:noFill/>
          <a:ln/>
        </p:spPr>
        <p:txBody>
          <a:bodyPr wrap="square" lIns="0" tIns="0" rIns="0" bIns="0" rtlCol="0" anchor="t"/>
          <a:lstStyle/>
          <a:p>
            <a:pPr indent="0" marL="0">
              <a:buNone/>
            </a:pPr>
            <a:r>
              <a:rPr lang="en-US" sz="1000" b="1" dirty="0">
                <a:solidFill>
                  <a:srgbClr val="1B2A41"/>
                </a:solidFill>
                <a:latin typeface="Calibri" pitchFamily="34" charset="0"/>
                <a:ea typeface="Calibri" pitchFamily="34" charset="-122"/>
                <a:cs typeface="Calibri" pitchFamily="34" charset="-120"/>
              </a:rPr>
              <a:t>Nominate a reviewer for each of the five, and set a clearance date for the two that are already overdue.</a:t>
            </a:r>
            <a:endParaRPr lang="en-US" sz="1000" dirty="0"/>
          </a:p>
        </p:txBody>
      </p:sp>
      <p:sp>
        <p:nvSpPr>
          <p:cNvPr id="14" name="Shape 12"/>
          <p:cNvSpPr/>
          <p:nvPr/>
        </p:nvSpPr>
        <p:spPr>
          <a:xfrm>
            <a:off x="6233008" y="1700784"/>
            <a:ext cx="5391760" cy="3127248"/>
          </a:xfrm>
          <a:prstGeom prst="roundRect">
            <a:avLst>
              <a:gd name="adj" fmla="val 2924"/>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5" name="Shape 13"/>
          <p:cNvSpPr/>
          <p:nvPr/>
        </p:nvSpPr>
        <p:spPr>
          <a:xfrm>
            <a:off x="6507328" y="1938528"/>
            <a:ext cx="438912" cy="438912"/>
          </a:xfrm>
          <a:prstGeom prst="ellipse">
            <a:avLst/>
          </a:prstGeom>
          <a:solidFill>
            <a:srgbClr val="D03B3B"/>
          </a:solidFill>
          <a:ln/>
        </p:spPr>
      </p:sp>
      <p:sp>
        <p:nvSpPr>
          <p:cNvPr id="16" name="Text 14"/>
          <p:cNvSpPr txBox="1"/>
          <p:nvPr/>
        </p:nvSpPr>
        <p:spPr>
          <a:xfrm>
            <a:off x="6507328" y="19385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7092544" y="1901952"/>
            <a:ext cx="4312768" cy="512064"/>
          </a:xfrm>
          <a:prstGeom prst="rect">
            <a:avLst/>
          </a:prstGeom>
          <a:noFill/>
          <a:ln/>
        </p:spPr>
        <p:txBody>
          <a:bodyPr wrap="square" lIns="0" tIns="0" rIns="0" bIns="0" rtlCol="0" anchor="ctr"/>
          <a:lstStyle/>
          <a:p>
            <a:pPr indent="0" marL="0">
              <a:buNone/>
            </a:pPr>
            <a:r>
              <a:rPr lang="en-US" sz="1500" b="1" dirty="0">
                <a:solidFill>
                  <a:srgbClr val="1B2A41"/>
                </a:solidFill>
                <a:latin typeface="Cambria" pitchFamily="34" charset="0"/>
                <a:ea typeface="Cambria" pitchFamily="34" charset="-122"/>
                <a:cs typeface="Cambria" pitchFamily="34" charset="-120"/>
              </a:rPr>
              <a:t>Missing design information</a:t>
            </a:r>
            <a:endParaRPr lang="en-US" sz="1500" dirty="0"/>
          </a:p>
        </p:txBody>
      </p:sp>
      <p:sp>
        <p:nvSpPr>
          <p:cNvPr id="18" name="Text 16"/>
          <p:cNvSpPr txBox="1"/>
          <p:nvPr/>
        </p:nvSpPr>
        <p:spPr>
          <a:xfrm>
            <a:off x="6507328" y="2487168"/>
            <a:ext cx="4843120" cy="219456"/>
          </a:xfrm>
          <a:prstGeom prst="rect">
            <a:avLst/>
          </a:prstGeom>
          <a:noFill/>
          <a:ln/>
        </p:spPr>
        <p:txBody>
          <a:bodyPr wrap="square" lIns="0" tIns="0" rIns="0" bIns="0" rtlCol="0" anchor="ctr"/>
          <a:lstStyle/>
          <a:p>
            <a:pPr indent="0" marL="0">
              <a:buNone/>
            </a:pPr>
            <a:r>
              <a:rPr lang="en-US" sz="1000" b="1" dirty="0">
                <a:solidFill>
                  <a:srgbClr val="898781"/>
                </a:solidFill>
                <a:latin typeface="Calibri" pitchFamily="34" charset="0"/>
                <a:ea typeface="Calibri" pitchFamily="34" charset="-122"/>
                <a:cs typeface="Calibri" pitchFamily="34" charset="-120"/>
              </a:rPr>
              <a:t>Priority Insurance</a:t>
            </a:r>
            <a:endParaRPr lang="en-US" sz="1000" dirty="0"/>
          </a:p>
        </p:txBody>
      </p:sp>
      <p:sp>
        <p:nvSpPr>
          <p:cNvPr id="19" name="Text 17"/>
          <p:cNvSpPr txBox="1"/>
          <p:nvPr/>
        </p:nvSpPr>
        <p:spPr>
          <a:xfrm>
            <a:off x="6507328" y="2798064"/>
            <a:ext cx="4843120" cy="1042416"/>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The same two documents raised last week, the floor finishes schedule and the structural drawings, have still not been issued. The architectural take-off has been stuck at 90% for a fortnight. The BoQ is now the only deliverable on the register making no progress, and the budget behind it cannot start.</a:t>
            </a:r>
            <a:endParaRPr lang="en-US" sz="1100" dirty="0"/>
          </a:p>
        </p:txBody>
      </p:sp>
      <p:sp>
        <p:nvSpPr>
          <p:cNvPr id="20" name="Shape 18"/>
          <p:cNvSpPr/>
          <p:nvPr/>
        </p:nvSpPr>
        <p:spPr>
          <a:xfrm>
            <a:off x="6507328" y="3931920"/>
            <a:ext cx="4843120" cy="786384"/>
          </a:xfrm>
          <a:prstGeom prst="roundRect">
            <a:avLst>
              <a:gd name="adj" fmla="val 9302"/>
            </a:avLst>
          </a:prstGeom>
          <a:solidFill>
            <a:srgbClr val="F2F5F8"/>
          </a:solidFill>
          <a:ln/>
        </p:spPr>
      </p:sp>
      <p:sp>
        <p:nvSpPr>
          <p:cNvPr id="21" name="Text 19"/>
          <p:cNvSpPr txBox="1"/>
          <p:nvPr/>
        </p:nvSpPr>
        <p:spPr>
          <a:xfrm>
            <a:off x="6653632" y="4023360"/>
            <a:ext cx="4550512" cy="182880"/>
          </a:xfrm>
          <a:prstGeom prst="rect">
            <a:avLst/>
          </a:prstGeom>
          <a:noFill/>
          <a:ln/>
        </p:spPr>
        <p:txBody>
          <a:bodyPr wrap="square" lIns="0" tIns="0" rIns="0" bIns="0" rtlCol="0" anchor="ctr"/>
          <a:lstStyle/>
          <a:p>
            <a:pPr indent="0" marL="0">
              <a:buNone/>
            </a:pPr>
            <a:r>
              <a:rPr lang="en-US" sz="800" b="1" spc="110" kern="0" dirty="0">
                <a:solidFill>
                  <a:srgbClr val="D03B3B"/>
                </a:solidFill>
                <a:latin typeface="Calibri" pitchFamily="34" charset="0"/>
                <a:ea typeface="Calibri" pitchFamily="34" charset="-122"/>
                <a:cs typeface="Calibri" pitchFamily="34" charset="-120"/>
              </a:rPr>
              <a:t>DECISION REQUIRED</a:t>
            </a:r>
            <a:endParaRPr lang="en-US" sz="800" dirty="0"/>
          </a:p>
        </p:txBody>
      </p:sp>
      <p:sp>
        <p:nvSpPr>
          <p:cNvPr id="22" name="Text 20"/>
          <p:cNvSpPr txBox="1"/>
          <p:nvPr/>
        </p:nvSpPr>
        <p:spPr>
          <a:xfrm>
            <a:off x="6653632" y="4224528"/>
            <a:ext cx="4550512" cy="457200"/>
          </a:xfrm>
          <a:prstGeom prst="rect">
            <a:avLst/>
          </a:prstGeom>
          <a:noFill/>
          <a:ln/>
        </p:spPr>
        <p:txBody>
          <a:bodyPr wrap="square" lIns="0" tIns="0" rIns="0" bIns="0" rtlCol="0" anchor="t"/>
          <a:lstStyle/>
          <a:p>
            <a:pPr indent="0" marL="0">
              <a:buNone/>
            </a:pPr>
            <a:r>
              <a:rPr lang="en-US" sz="1000" b="1" dirty="0">
                <a:solidFill>
                  <a:srgbClr val="1B2A41"/>
                </a:solidFill>
                <a:latin typeface="Calibri" pitchFamily="34" charset="0"/>
                <a:ea typeface="Calibri" pitchFamily="34" charset="-122"/>
                <a:cs typeface="Calibri" pitchFamily="34" charset="-120"/>
              </a:rPr>
              <a:t>Escalate to the design team and client for a firm issue date. Agree a revised BoQ date if they slip past 30 September.</a:t>
            </a:r>
            <a:endParaRPr lang="en-US" sz="1000" dirty="0"/>
          </a:p>
        </p:txBody>
      </p:sp>
      <p:sp>
        <p:nvSpPr>
          <p:cNvPr id="23" name="Shape 21"/>
          <p:cNvSpPr/>
          <p:nvPr/>
        </p:nvSpPr>
        <p:spPr>
          <a:xfrm>
            <a:off x="566928" y="5084064"/>
            <a:ext cx="11057839" cy="914400"/>
          </a:xfrm>
          <a:prstGeom prst="roundRect">
            <a:avLst>
              <a:gd name="adj" fmla="val 10000"/>
            </a:avLst>
          </a:prstGeom>
          <a:solidFill>
            <a:srgbClr val="1B2A41"/>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4" name="Text 22"/>
          <p:cNvSpPr txBox="1"/>
          <p:nvPr/>
        </p:nvSpPr>
        <p:spPr>
          <a:xfrm>
            <a:off x="859536" y="5212080"/>
            <a:ext cx="4206240" cy="256032"/>
          </a:xfrm>
          <a:prstGeom prst="rect">
            <a:avLst/>
          </a:prstGeom>
          <a:noFill/>
          <a:ln/>
        </p:spPr>
        <p:txBody>
          <a:bodyPr wrap="square" lIns="0" tIns="0" rIns="0" bIns="0" rtlCol="0" anchor="ctr"/>
          <a:lstStyle/>
          <a:p>
            <a:pPr indent="0" marL="0">
              <a:buNone/>
            </a:pPr>
            <a:r>
              <a:rPr lang="en-US" sz="1200" b="1" dirty="0">
                <a:solidFill>
                  <a:srgbClr val="E08A3C"/>
                </a:solidFill>
                <a:latin typeface="Calibri" pitchFamily="34" charset="0"/>
                <a:ea typeface="Calibri" pitchFamily="34" charset="-122"/>
                <a:cs typeface="Calibri" pitchFamily="34" charset="-120"/>
              </a:rPr>
              <a:t>What we need from this meeting</a:t>
            </a:r>
            <a:endParaRPr lang="en-US" sz="1200" dirty="0"/>
          </a:p>
        </p:txBody>
      </p:sp>
      <p:sp>
        <p:nvSpPr>
          <p:cNvPr id="25" name="Text 23"/>
          <p:cNvSpPr txBox="1"/>
          <p:nvPr/>
        </p:nvSpPr>
        <p:spPr>
          <a:xfrm>
            <a:off x="859536" y="5468112"/>
            <a:ext cx="10472623"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named reviewer against each of the five items in the queue, and a firm issue date for the two Priority Insurance drawings.</a:t>
            </a:r>
            <a:endParaRPr lang="en-US" sz="1150" dirty="0"/>
          </a:p>
        </p:txBody>
      </p:sp>
      <p:sp>
        <p:nvSpPr>
          <p:cNvPr id="26" name="Text 24"/>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27" name="Text 25"/>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RESOURCING</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Workload Across the Team</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Live deliverables held by each team member, split between finished and still open.</a:t>
            </a:r>
            <a:endParaRPr lang="en-US" sz="1250" dirty="0"/>
          </a:p>
        </p:txBody>
      </p:sp>
      <p:graphicFrame>
        <p:nvGraphicFramePr>
          <p:cNvPr id="5" name="Chart 0" descr=""/>
          <p:cNvGraphicFramePr/>
          <p:nvPr/>
        </p:nvGraphicFramePr>
        <p:xfrm>
          <a:off x="566928" y="1700784"/>
          <a:ext cx="726948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10728" y="1700784"/>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7" name="Text 4"/>
          <p:cNvSpPr txBox="1"/>
          <p:nvPr/>
        </p:nvSpPr>
        <p:spPr>
          <a:xfrm>
            <a:off x="8330184" y="1847088"/>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The tender team cleared everything</a:t>
            </a:r>
            <a:endParaRPr lang="en-US" sz="1150" dirty="0"/>
          </a:p>
        </p:txBody>
      </p:sp>
      <p:sp>
        <p:nvSpPr>
          <p:cNvPr id="8" name="Text 5"/>
          <p:cNvSpPr txBox="1"/>
          <p:nvPr/>
        </p:nvSpPr>
        <p:spPr>
          <a:xfrm>
            <a:off x="8330184" y="2139696"/>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All three items held against "Team", both Stanbic documents and the Kinbu priced BoQ, were finished this week.</a:t>
            </a:r>
            <a:endParaRPr lang="en-US" sz="1000" dirty="0"/>
          </a:p>
        </p:txBody>
      </p:sp>
      <p:sp>
        <p:nvSpPr>
          <p:cNvPr id="9" name="Shape 6"/>
          <p:cNvSpPr/>
          <p:nvPr/>
        </p:nvSpPr>
        <p:spPr>
          <a:xfrm>
            <a:off x="8110728" y="3035808"/>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0" name="Text 7"/>
          <p:cNvSpPr txBox="1"/>
          <p:nvPr/>
        </p:nvSpPr>
        <p:spPr>
          <a:xfrm>
            <a:off x="8330184" y="3182112"/>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Gilbert has nothing finished</a:t>
            </a:r>
            <a:endParaRPr lang="en-US" sz="1150" dirty="0"/>
          </a:p>
        </p:txBody>
      </p:sp>
      <p:sp>
        <p:nvSpPr>
          <p:cNvPr id="11" name="Text 8"/>
          <p:cNvSpPr txBox="1"/>
          <p:nvPr/>
        </p:nvSpPr>
        <p:spPr>
          <a:xfrm>
            <a:off x="8330184" y="3474720"/>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Both of his items are the Priority Insurance BoQ and budget. That is a blockage on drawings, not a delivery problem.</a:t>
            </a:r>
            <a:endParaRPr lang="en-US" sz="1000" dirty="0"/>
          </a:p>
        </p:txBody>
      </p:sp>
      <p:sp>
        <p:nvSpPr>
          <p:cNvPr id="12" name="Shape 9"/>
          <p:cNvSpPr/>
          <p:nvPr/>
        </p:nvSpPr>
        <p:spPr>
          <a:xfrm>
            <a:off x="8110728" y="4370832"/>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3" name="Text 10"/>
          <p:cNvSpPr txBox="1"/>
          <p:nvPr/>
        </p:nvSpPr>
        <p:spPr>
          <a:xfrm>
            <a:off x="8330184" y="4517136"/>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One project holds every open item</a:t>
            </a:r>
            <a:endParaRPr lang="en-US" sz="1150" dirty="0"/>
          </a:p>
        </p:txBody>
      </p:sp>
      <p:sp>
        <p:nvSpPr>
          <p:cNvPr id="14" name="Text 11"/>
          <p:cNvSpPr txBox="1"/>
          <p:nvPr/>
        </p:nvSpPr>
        <p:spPr>
          <a:xfrm>
            <a:off x="8330184" y="4809744"/>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Priority Insurance accounts for all four open entries shown here, across Obed, Sedem and Gilbert.</a:t>
            </a:r>
            <a:endParaRPr lang="en-US" sz="1000" dirty="0"/>
          </a:p>
        </p:txBody>
      </p:sp>
      <p:sp>
        <p:nvSpPr>
          <p:cNvPr id="15" name="Text 12"/>
          <p:cNvSpPr txBox="1"/>
          <p:nvPr/>
        </p:nvSpPr>
        <p:spPr>
          <a:xfrm>
            <a:off x="566928" y="5742432"/>
            <a:ext cx="11057839" cy="566928"/>
          </a:xfrm>
          <a:prstGeom prst="rect">
            <a:avLst/>
          </a:prstGeom>
          <a:noFill/>
          <a:ln/>
        </p:spPr>
        <p:txBody>
          <a:bodyPr wrap="square" lIns="0" tIns="0" rIns="0" bIns="0" rtlCol="0" anchor="t"/>
          <a:lstStyle/>
          <a:p>
            <a:pPr indent="0" marL="0">
              <a:spcAft>
                <a:spcPts val="300"/>
              </a:spcAft>
              <a:buNone/>
            </a:pPr>
            <a:r>
              <a:rPr lang="en-US" sz="850" dirty="0">
                <a:solidFill>
                  <a:srgbClr val="898781"/>
                </a:solidFill>
                <a:latin typeface="Calibri" pitchFamily="34" charset="0"/>
                <a:ea typeface="Calibri" pitchFamily="34" charset="-122"/>
                <a:cs typeface="Calibri" pitchFamily="34" charset="-120"/>
              </a:rPr>
              <a:t>Shared deliverables count once for each named owner, so the totals here (14) exceed the 8 items on the register. "Team" means no individual was named.</a:t>
            </a:r>
            <a:endParaRPr lang="en-US" sz="850" dirty="0"/>
          </a:p>
          <a:p>
            <a:pPr indent="0" marL="0">
              <a:spcAft>
                <a:spcPts val="300"/>
              </a:spcAft>
              <a:buNone/>
            </a:pPr>
            <a:r>
              <a:rPr lang="en-US" sz="850" dirty="0">
                <a:solidFill>
                  <a:srgbClr val="898781"/>
                </a:solidFill>
                <a:latin typeface="Calibri" pitchFamily="34" charset="0"/>
                <a:ea typeface="Calibri" pitchFamily="34" charset="-122"/>
                <a:cs typeface="Calibri" pitchFamily="34" charset="-120"/>
              </a:rPr>
              <a:t>Source: Commercial Department deliverables register, 25 September 2026. Dates read as day/month/year. The register gives the Stanbic "Relevant Experience and CV" finish date as 25 September 2027; it is read here as 2026.</a:t>
            </a:r>
            <a:endParaRPr lang="en-US" sz="850" dirty="0"/>
          </a:p>
        </p:txBody>
      </p:sp>
      <p:sp>
        <p:nvSpPr>
          <p:cNvPr id="16" name="Text 13"/>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25 September 2026</a:t>
            </a:r>
            <a:endParaRPr lang="en-US" sz="900" dirty="0"/>
          </a:p>
        </p:txBody>
      </p:sp>
      <p:sp>
        <p:nvSpPr>
          <p:cNvPr id="17" name="Text 14"/>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Department — Outstanding Projects &amp; Deliverables</dc:title>
  <dc:subject>PptxGenJS Presentation</dc:subject>
  <dc:creator>Commercial Department</dc:creator>
  <cp:lastModifiedBy>Commercial Department</cp:lastModifiedBy>
  <cp:revision>1</cp:revision>
  <dcterms:created xsi:type="dcterms:W3CDTF">2026-09-25T09:36:19Z</dcterms:created>
  <dcterms:modified xsi:type="dcterms:W3CDTF">2026-09-25T09:36:19Z</dcterms:modified>
</cp:coreProperties>
</file>