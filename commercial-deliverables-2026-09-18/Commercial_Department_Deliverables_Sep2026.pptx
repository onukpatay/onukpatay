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Delivery status</c:v>
                </c:pt>
              </c:strCache>
            </c:strRef>
          </c:tx>
          <c:spPr>
            <a:solidFill>
              <a:schemeClr val="accent1"/>
            </a:solidFill>
            <a:ln w="9525" cap="flat">
              <a:solidFill>
                <a:srgbClr val="F9F9F9"/>
              </a:solidFill>
              <a:prstDash val="solid"/>
              <a:round/>
            </a:ln>
            <a:effectLst/>
          </c:spPr>
          <c:dPt>
            <c:idx val="0"/>
            <c:bubble3D val="0"/>
            <c:spPr>
              <a:solidFill>
                <a:srgbClr val="0CA30C"/>
              </a:solidFill>
              <a:ln w="9525" cap="flat">
                <a:solidFill>
                  <a:srgbClr val="FFFFFF"/>
                </a:solidFill>
                <a:prstDash val="solid"/>
                <a:round/>
              </a:ln>
              <a:effectLst/>
            </c:spPr>
          </c:dPt>
          <c:dPt>
            <c:idx val="1"/>
            <c:bubble3D val="0"/>
            <c:spPr>
              <a:solidFill>
                <a:srgbClr val="FAB219"/>
              </a:solidFill>
              <a:ln w="9525" cap="flat">
                <a:solidFill>
                  <a:srgbClr val="FFFFFF"/>
                </a:solidFill>
                <a:prstDash val="solid"/>
                <a:round/>
              </a:ln>
              <a:effectLst/>
            </c:spPr>
          </c:dPt>
          <c:dPt>
            <c:idx val="2"/>
            <c:bubble3D val="0"/>
            <c:spPr>
              <a:solidFill>
                <a:srgbClr val="898781"/>
              </a:solidFill>
              <a:ln w="9525"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Delivered</c:v>
                </c:pt>
                <c:pt idx="1">
                  <c:v>In progress</c:v>
                </c:pt>
                <c:pt idx="2">
                  <c:v>Not started</c:v>
                </c:pt>
              </c:strCache>
            </c:strRef>
          </c:cat>
          <c:val>
            <c:numRef>
              <c:f>Sheet1!$B$2:$B$4</c:f>
              <c:numCache>
                <c:ptCount val="3"/>
                <c:pt idx="0">
                  <c:v>17</c:v>
                </c:pt>
                <c:pt idx="1">
                  <c:v>4</c:v>
                </c:pt>
                <c:pt idx="2">
                  <c:v>1</c:v>
                </c:pt>
              </c:numCache>
            </c:numRef>
          </c:val>
        </c:ser>
        <c:firstSliceAng val="0"/>
        <c:holeSize val="62"/>
      </c:doughnutChart>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Planned</c:v>
                </c:pt>
              </c:strCache>
            </c:strRef>
          </c:tx>
          <c:spPr>
            <a:solidFill>
              <a:srgbClr val="EB6834"/>
            </a:solidFill>
            <a:effectLst/>
          </c:spPr>
          <c:invertIfNegative val="0"/>
          <c:dLbls>
            <c:numFmt formatCode="0&quot;%&quot;" sourceLinked="0"/>
            <c:txPr>
              <a:bodyPr/>
              <a:lstStyle/>
              <a:p>
                <a:pPr>
                  <a:defRPr b="0" i="0" strike="noStrike" sz="1000" u="none">
                    <a:solidFill>
                      <a:srgbClr val="52514E"/>
                    </a:solidFill>
                    <a:latin typeface="Calibri"/>
                  </a:defRPr>
                </a:pPr>
              </a:p>
            </c:txPr>
            <c:showLegendKey val="0"/>
            <c:showVal val="1"/>
            <c:showCatName val="0"/>
            <c:showSerName val="0"/>
            <c:showPercent val="0"/>
            <c:showBubbleSize val="0"/>
            <c:showLeaderLines val="0"/>
          </c:dLbls>
          <c:cat>
            <c:multiLvlStrRef>
              <c:f>Sheet1!$A$2:$A$5</c:f>
              <c:multiLvlStrCache>
                <c:ptCount val="4"/>
                <c:lvl>
                  <c:pt idx="0">
                    <c:v>Priority Insurance</c:v>
                  </c:pt>
                  <c:pt idx="1">
                    <c:v>Ecole Int'l School</c:v>
                  </c:pt>
                  <c:pt idx="2">
                    <c:v>Stanbic Bank</c:v>
                  </c:pt>
                  <c:pt idx="3">
                    <c:v>Kinbu Canteen Tender</c:v>
                  </c:pt>
                </c:lvl>
              </c:multiLvlStrCache>
            </c:multiLvlStrRef>
          </c:cat>
          <c:val>
            <c:numRef>
              <c:f>Sheet1!$B$2:$B$5</c:f>
              <c:numCache>
                <c:formatCode>General</c:formatCode>
                <c:ptCount val="4"/>
                <c:pt idx="0">
                  <c:v>25</c:v>
                </c:pt>
                <c:pt idx="1">
                  <c:v>100</c:v>
                </c:pt>
                <c:pt idx="2">
                  <c:v>100</c:v>
                </c:pt>
                <c:pt idx="3">
                  <c:v>100</c:v>
                </c:pt>
              </c:numCache>
            </c:numRef>
          </c:val>
        </c:ser>
        <c:ser>
          <c:idx val="1"/>
          <c:order val="1"/>
          <c:tx>
            <c:strRef>
              <c:f>Sheet1!$C$1</c:f>
              <c:strCache>
                <c:ptCount val="1"/>
                <c:pt idx="0">
                  <c:v>Actual</c:v>
                </c:pt>
              </c:strCache>
            </c:strRef>
          </c:tx>
          <c:spPr>
            <a:solidFill>
              <a:srgbClr val="2A78D6"/>
            </a:solidFill>
            <a:effectLst/>
          </c:spPr>
          <c:invertIfNegative val="0"/>
          <c:dLbls>
            <c:numFmt formatCode="0&quot;%&quot;" sourceLinked="0"/>
            <c:txPr>
              <a:bodyPr/>
              <a:lstStyle/>
              <a:p>
                <a:pPr>
                  <a:defRPr b="0" i="0" strike="noStrike" sz="1000" u="none">
                    <a:solidFill>
                      <a:srgbClr val="52514E"/>
                    </a:solidFill>
                    <a:latin typeface="Calibri"/>
                  </a:defRPr>
                </a:pPr>
              </a:p>
            </c:txPr>
            <c:showLegendKey val="0"/>
            <c:showVal val="1"/>
            <c:showCatName val="0"/>
            <c:showSerName val="0"/>
            <c:showPercent val="0"/>
            <c:showBubbleSize val="0"/>
            <c:showLeaderLines val="0"/>
          </c:dLbls>
          <c:cat>
            <c:multiLvlStrRef>
              <c:f>Sheet1!$A$2:$A$5</c:f>
              <c:multiLvlStrCache>
                <c:ptCount val="4"/>
                <c:lvl>
                  <c:pt idx="0">
                    <c:v>Priority Insurance</c:v>
                  </c:pt>
                  <c:pt idx="1">
                    <c:v>Ecole Int'l School</c:v>
                  </c:pt>
                  <c:pt idx="2">
                    <c:v>Stanbic Bank</c:v>
                  </c:pt>
                  <c:pt idx="3">
                    <c:v>Kinbu Canteen Tender</c:v>
                  </c:pt>
                </c:lvl>
              </c:multiLvlStrCache>
            </c:multiLvlStrRef>
          </c:cat>
          <c:val>
            <c:numRef>
              <c:f>Sheet1!$C$2:$C$5</c:f>
              <c:numCache>
                <c:formatCode>General</c:formatCode>
                <c:ptCount val="4"/>
                <c:pt idx="0">
                  <c:v>20</c:v>
                </c:pt>
                <c:pt idx="1">
                  <c:v>50</c:v>
                </c:pt>
                <c:pt idx="2">
                  <c:v>50</c:v>
                </c:pt>
                <c:pt idx="3">
                  <c:v>10</c:v>
                </c:pt>
              </c:numCache>
            </c:numRef>
          </c:val>
        </c:ser>
        <c:dLbls>
          <c:numFmt formatCode="0&quot;%&quot;" sourceLinked="0"/>
          <c:txPr>
            <a:bodyPr/>
            <a:lstStyle/>
            <a:p>
              <a:pPr>
                <a:defRPr b="0" i="0" strike="noStrike" sz="1000" u="none">
                  <a:solidFill>
                    <a:srgbClr val="52514E"/>
                  </a:solidFill>
                  <a:latin typeface="Calibri"/>
                </a:defRPr>
              </a:pPr>
            </a:p>
          </c:txPr>
          <c:showLegendKey val="0"/>
          <c:showVal val="1"/>
          <c:showCatName val="0"/>
          <c:showSerName val="0"/>
          <c:showPercent val="0"/>
          <c:showBubbleSize val="0"/>
          <c:showLeaderLines val="0"/>
        </c:dLbls>
        <c:gapWidth val="38"/>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E1E0D9"/>
            </a:solidFill>
            <a:prstDash val="solid"/>
            <a:round/>
          </a:ln>
        </c:spPr>
        <c:txPr>
          <a:bodyPr/>
          <a:lstStyle/>
          <a:p>
            <a:pPr>
              <a:defRPr sz="1100" b="0" i="0" u="none" strike="noStrike">
                <a:solidFill>
                  <a:srgbClr val="52514E"/>
                </a:solidFill>
                <a:latin typeface="Calibri"/>
              </a:defRPr>
            </a:pPr>
            <a:endParaRPr lang="en-US"/>
          </a:p>
        </c:txPr>
        <c:crossAx val="2094734552"/>
        <c:crosses val="autoZero"/>
        <c:auto val="1"/>
        <c:lblAlgn val="ctr"/>
        <c:noMultiLvlLbl val="1"/>
      </c:catAx>
      <c:valAx>
        <c:axId val="2094734552"/>
        <c:scaling>
          <c:orientation val="minMax"/>
          <c:max val="112"/>
          <c:min val="0"/>
        </c:scaling>
        <c:delete val="0"/>
        <c:axPos val="b"/>
        <c:majorGridlines>
          <c:spPr>
            <a:ln w="12700" cap="flat">
              <a:solidFill>
                <a:srgbClr val="E1E0D9"/>
              </a:solidFill>
              <a:prstDash val="solid"/>
              <a:round/>
            </a:ln>
          </c:spPr>
        </c:majorGridlines>
        <c:numFmt formatCode="0&quot;%&quot;" sourceLinked="0"/>
        <c:majorTickMark val="out"/>
        <c:minorTickMark val="none"/>
        <c:tickLblPos val="low"/>
        <c:spPr>
          <a:ln w="12700" cap="flat">
            <a:solidFill>
              <a:srgbClr val="E1E0D9"/>
            </a:solidFill>
            <a:prstDash val="solid"/>
            <a:round/>
          </a:ln>
        </c:spPr>
        <c:txPr>
          <a:bodyPr/>
          <a:lstStyle/>
          <a:p>
            <a:pPr>
              <a:defRPr sz="950" b="0" i="0" u="none" strike="noStrike">
                <a:solidFill>
                  <a:srgbClr val="898781"/>
                </a:solidFill>
                <a:latin typeface="Calibri"/>
              </a:defRPr>
            </a:pPr>
            <a:endParaRPr lang="en-US"/>
          </a:p>
        </c:txPr>
        <c:crossAx val="2094734554"/>
        <c:crosses val="autoZero"/>
        <c:crossBetween val="between"/>
        <c:majorUnit val="25"/>
      </c:valAx>
      <c:spPr>
        <a:noFill/>
        <a:ln>
          <a:noFill/>
        </a:ln>
        <a:effectLst/>
      </c:spPr>
    </c:plotArea>
    <c:legend>
      <c:legendPos val="t"/>
      <c:overlay val="0"/>
      <c:txPr>
        <a:bodyPr/>
        <a:lstStyle/>
        <a:p>
          <a:pPr>
            <a:defRPr sz="1100">
              <a:solidFill>
                <a:srgbClr val="52514E"/>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Delivered</c:v>
                </c:pt>
              </c:strCache>
            </c:strRef>
          </c:tx>
          <c:spPr>
            <a:solidFill>
              <a:srgbClr val="0CA30C"/>
            </a:solidFill>
            <a:effectLst/>
          </c:spPr>
          <c:invertIfNegative val="0"/>
          <c:dLbls>
            <c:numFmt formatCode="0;;;" sourceLinked="0"/>
            <c:txPr>
              <a:bodyPr/>
              <a:lstStyle/>
              <a:p>
                <a:pPr>
                  <a:defRPr b="1" i="0" strike="noStrike" sz="1000" u="none">
                    <a:solidFill>
                      <a:srgbClr val="1B2A41"/>
                    </a:solidFill>
                    <a:latin typeface="Calibri"/>
                  </a:defRPr>
                </a:pPr>
              </a:p>
            </c:txPr>
            <c:dLblPos val="ctr"/>
            <c:showLegendKey val="0"/>
            <c:showVal val="1"/>
            <c:showCatName val="0"/>
            <c:showSerName val="0"/>
            <c:showPercent val="0"/>
            <c:showBubbleSize val="0"/>
            <c:showLeaderLines val="0"/>
          </c:dLbls>
          <c:cat>
            <c:multiLvlStrRef>
              <c:f>Sheet1!$A$2:$A$7</c:f>
              <c:multiLvlStrCache>
                <c:ptCount val="6"/>
                <c:lvl>
                  <c:pt idx="0">
                    <c:v>Team</c:v>
                  </c:pt>
                  <c:pt idx="1">
                    <c:v>Obed</c:v>
                  </c:pt>
                  <c:pt idx="2">
                    <c:v>Tracy</c:v>
                  </c:pt>
                  <c:pt idx="3">
                    <c:v>Sedem</c:v>
                  </c:pt>
                  <c:pt idx="4">
                    <c:v>Gilbert</c:v>
                  </c:pt>
                  <c:pt idx="5">
                    <c:v>Eunice</c:v>
                  </c:pt>
                </c:lvl>
              </c:multiLvlStrCache>
            </c:multiLvlStrRef>
          </c:cat>
          <c:val>
            <c:numRef>
              <c:f>Sheet1!$B$2:$B$7</c:f>
              <c:numCache>
                <c:formatCode>General</c:formatCode>
                <c:ptCount val="6"/>
                <c:pt idx="0">
                  <c:v>0</c:v>
                </c:pt>
                <c:pt idx="1">
                  <c:v>0</c:v>
                </c:pt>
                <c:pt idx="2">
                  <c:v>2</c:v>
                </c:pt>
                <c:pt idx="3">
                  <c:v>3</c:v>
                </c:pt>
                <c:pt idx="4">
                  <c:v>4</c:v>
                </c:pt>
                <c:pt idx="5">
                  <c:v>8</c:v>
                </c:pt>
              </c:numCache>
            </c:numRef>
          </c:val>
        </c:ser>
        <c:ser>
          <c:idx val="1"/>
          <c:order val="1"/>
          <c:tx>
            <c:strRef>
              <c:f>Sheet1!$C$1</c:f>
              <c:strCache>
                <c:ptCount val="1"/>
                <c:pt idx="0">
                  <c:v>Outstanding</c:v>
                </c:pt>
              </c:strCache>
            </c:strRef>
          </c:tx>
          <c:spPr>
            <a:solidFill>
              <a:srgbClr val="FAB219"/>
            </a:solidFill>
            <a:effectLst/>
          </c:spPr>
          <c:invertIfNegative val="0"/>
          <c:dLbls>
            <c:numFmt formatCode="0;;;" sourceLinked="0"/>
            <c:txPr>
              <a:bodyPr/>
              <a:lstStyle/>
              <a:p>
                <a:pPr>
                  <a:defRPr b="1" i="0" strike="noStrike" sz="1000" u="none">
                    <a:solidFill>
                      <a:srgbClr val="1B2A41"/>
                    </a:solidFill>
                    <a:latin typeface="Calibri"/>
                  </a:defRPr>
                </a:pPr>
              </a:p>
            </c:txPr>
            <c:dLblPos val="ctr"/>
            <c:showLegendKey val="0"/>
            <c:showVal val="1"/>
            <c:showCatName val="0"/>
            <c:showSerName val="0"/>
            <c:showPercent val="0"/>
            <c:showBubbleSize val="0"/>
            <c:showLeaderLines val="0"/>
          </c:dLbls>
          <c:cat>
            <c:multiLvlStrRef>
              <c:f>Sheet1!$A$2:$A$7</c:f>
              <c:multiLvlStrCache>
                <c:ptCount val="6"/>
                <c:lvl>
                  <c:pt idx="0">
                    <c:v>Team</c:v>
                  </c:pt>
                  <c:pt idx="1">
                    <c:v>Obed</c:v>
                  </c:pt>
                  <c:pt idx="2">
                    <c:v>Tracy</c:v>
                  </c:pt>
                  <c:pt idx="3">
                    <c:v>Sedem</c:v>
                  </c:pt>
                  <c:pt idx="4">
                    <c:v>Gilbert</c:v>
                  </c:pt>
                  <c:pt idx="5">
                    <c:v>Eunice</c:v>
                  </c:pt>
                </c:lvl>
              </c:multiLvlStrCache>
            </c:multiLvlStrRef>
          </c:cat>
          <c:val>
            <c:numRef>
              <c:f>Sheet1!$C$2:$C$7</c:f>
              <c:numCache>
                <c:formatCode>General</c:formatCode>
                <c:ptCount val="6"/>
                <c:pt idx="0">
                  <c:v>2</c:v>
                </c:pt>
                <c:pt idx="1">
                  <c:v>3</c:v>
                </c:pt>
                <c:pt idx="2">
                  <c:v>1</c:v>
                </c:pt>
                <c:pt idx="3">
                  <c:v>2</c:v>
                </c:pt>
                <c:pt idx="4">
                  <c:v>2</c:v>
                </c:pt>
                <c:pt idx="5">
                  <c:v>1</c:v>
                </c:pt>
              </c:numCache>
            </c:numRef>
          </c:val>
        </c:ser>
        <c:dLbls>
          <c:numFmt formatCode="0;;;" sourceLinked="0"/>
          <c:txPr>
            <a:bodyPr/>
            <a:lstStyle/>
            <a:p>
              <a:pPr>
                <a:defRPr b="1" i="0" strike="noStrike" sz="1000" u="none">
                  <a:solidFill>
                    <a:srgbClr val="1B2A41"/>
                  </a:solidFill>
                  <a:latin typeface="Calibri"/>
                </a:defRPr>
              </a:pPr>
            </a:p>
          </c:txPr>
          <c:dLblPos val="ctr"/>
          <c:showLegendKey val="0"/>
          <c:showVal val="1"/>
          <c:showCatName val="0"/>
          <c:showSerName val="0"/>
          <c:showPercent val="0"/>
          <c:showBubbleSize val="0"/>
          <c:showLeaderLines val="0"/>
        </c:dLbls>
        <c:gapWidth val="52"/>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E1E0D9"/>
            </a:solidFill>
            <a:prstDash val="solid"/>
            <a:round/>
          </a:ln>
        </c:spPr>
        <c:txPr>
          <a:bodyPr/>
          <a:lstStyle/>
          <a:p>
            <a:pPr>
              <a:defRPr sz="1100" b="0" i="0" u="none" strike="noStrike">
                <a:solidFill>
                  <a:srgbClr val="52514E"/>
                </a:solidFill>
                <a:latin typeface="Calibri"/>
              </a:defRPr>
            </a:pPr>
            <a:endParaRPr lang="en-US"/>
          </a:p>
        </c:txPr>
        <c:crossAx val="2094734552"/>
        <c:crosses val="autoZero"/>
        <c:auto val="1"/>
        <c:lblAlgn val="ctr"/>
        <c:noMultiLvlLbl val="1"/>
      </c:catAx>
      <c:valAx>
        <c:axId val="2094734552"/>
        <c:scaling>
          <c:orientation val="minMax"/>
          <c:max val="10"/>
          <c:min val="0"/>
        </c:scaling>
        <c:delete val="0"/>
        <c:axPos val="b"/>
        <c:majorGridlines>
          <c:spPr>
            <a:ln w="12700" cap="flat">
              <a:solidFill>
                <a:srgbClr val="E1E0D9"/>
              </a:solidFill>
              <a:prstDash val="solid"/>
              <a:round/>
            </a:ln>
          </c:spPr>
        </c:majorGridlines>
        <c:numFmt formatCode="General" sourceLinked="0"/>
        <c:majorTickMark val="out"/>
        <c:minorTickMark val="none"/>
        <c:tickLblPos val="low"/>
        <c:spPr>
          <a:ln w="12700" cap="flat">
            <a:solidFill>
              <a:srgbClr val="E1E0D9"/>
            </a:solidFill>
            <a:prstDash val="solid"/>
            <a:round/>
          </a:ln>
        </c:spPr>
        <c:txPr>
          <a:bodyPr/>
          <a:lstStyle/>
          <a:p>
            <a:pPr>
              <a:defRPr sz="900" b="0" i="0" u="none" strike="noStrike">
                <a:solidFill>
                  <a:srgbClr val="898781"/>
                </a:solidFill>
                <a:latin typeface="Calibri"/>
              </a:defRPr>
            </a:pPr>
            <a:endParaRPr lang="en-US"/>
          </a:p>
        </c:txPr>
        <c:crossAx val="2094734554"/>
        <c:crosses val="autoZero"/>
        <c:crossBetween val="between"/>
        <c:majorUnit val="2"/>
      </c:valAx>
      <c:spPr>
        <a:noFill/>
        <a:ln>
          <a:noFill/>
        </a:ln>
        <a:effectLst/>
      </c:spPr>
    </c:plotArea>
    <c:legend>
      <c:legendPos val="t"/>
      <c:overlay val="0"/>
      <c:txPr>
        <a:bodyPr/>
        <a:lstStyle/>
        <a:p>
          <a:pPr>
            <a:defRPr sz="1100">
              <a:solidFill>
                <a:srgbClr val="52514E"/>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This is the commercial department status report as at 18 September 2026, covering pre and post contract deliverables across 13 active projects. Twenty-two deliverables are being tracked. Seventeen are complete. Five remain outstanding, and three of those need a decision from this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to take away. First, we are 84% complete against a 93% plan — a nine point gap, and it is concentrated, not spread. Second, two tenders close on 24 September and one of them, Kinbu, is only 10% priced. Third, Priority Insurance is blocked on information we do not control. Slides four to eight take each of these in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Seventeen of twenty-two deliverables are complete — just over three quarters of the register. Four are in progress and one has not started, though that one is still inside its plan. Measured on progress rather than headcount, we are at 84.1% against a planned 93.2% — a gap of about two deliverables.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variance actually sits. Kinbu is the outlier — 10% against a 100% plan. Stanbic and Ecole are both at half of what was planned. Priority Insurance looks small at 20 against 25, and it is small, because only half of its BoQ was ever scheduled to be done by today. Every other project in the portfolio, nine of them, is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delivered column. Nine projects are fully closed out for the period — seventeen deliverables in total. Anglogold, the Warehouse and RE Villa each carried three. Worth noting that the Anglogold budget is finished but is sitting with a reviewer; I will come back to that on the blockers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items. Kinbu is the one that should worry us — 10% priced with six days to submission. Stanbic is at half. Ecole was due today and is at half. Priority Insurance BoQ is only ten points behind plan, but it is blocked rather than late. The Priority budget has not started and does not need to have — it follows the BoQ.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Laid out on a calendar, the exposure is obvious. Today Ecole is due. Six days from now two tenders close on the same day. The Priority BoQ follows on the thirtieth and its budget on the ninth of October. The twenty-fourth is the pinch point, and neither of those two tenders has a named owner.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three asks. One: name a lead for each of the two tenders, or let us request an extension on Kinbu. Two: help us get a firm date for the Priority Insurance floor finishes schedule and structural drawings. Three: tell us who reviews the Anglogold budget and by when. All three are decisions, not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resourcing: Eunice is carrying nine deliverables and has closed eight. Gilbert six, Sedem five. Obed shows three open and none closed, but all three are shared items on blocked projects, so that is a blockage rather than a performance question. The two unowned items are the same two tenders we keep coming back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four actions. Name the two tender leads today. Finish Ecole by the twenty-second. Chase the Priority Insurance drawings by the twenty-third. Clear the Anglogold review by the twenty-second. Items one and two on their own take us back to plan. I need decisions on the tender ownership and the drawings before we leave this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1"/>
        </a:solidFill>
      </p:bgPr>
    </p:bg>
    <p:spTree>
      <p:nvGrpSpPr>
        <p:cNvPr id="1" name=""/>
        <p:cNvGrpSpPr/>
        <p:nvPr/>
      </p:nvGrpSpPr>
      <p:grpSpPr>
        <a:xfrm>
          <a:off x="0" y="0"/>
          <a:ext cx="0" cy="0"/>
          <a:chOff x="0" y="0"/>
          <a:chExt cx="0" cy="0"/>
        </a:xfrm>
      </p:grpSpPr>
      <p:sp>
        <p:nvSpPr>
          <p:cNvPr id="2" name="Shape 0"/>
          <p:cNvSpPr/>
          <p:nvPr/>
        </p:nvSpPr>
        <p:spPr>
          <a:xfrm>
            <a:off x="9464040" y="-1325880"/>
            <a:ext cx="4206240" cy="4206240"/>
          </a:xfrm>
          <a:prstGeom prst="ellipse">
            <a:avLst/>
          </a:prstGeom>
          <a:solidFill>
            <a:srgbClr val="FFFFFF">
              <a:alpha val="6000"/>
            </a:srgbClr>
          </a:solidFill>
          <a:ln/>
        </p:spPr>
      </p:sp>
      <p:sp>
        <p:nvSpPr>
          <p:cNvPr id="3" name="Shape 1"/>
          <p:cNvSpPr/>
          <p:nvPr/>
        </p:nvSpPr>
        <p:spPr>
          <a:xfrm>
            <a:off x="10561320" y="502920"/>
            <a:ext cx="2286000" cy="2286000"/>
          </a:xfrm>
          <a:prstGeom prst="ellipse">
            <a:avLst/>
          </a:prstGeom>
          <a:solidFill>
            <a:srgbClr val="E08A3C">
              <a:alpha val="14000"/>
            </a:srgbClr>
          </a:solidFill>
          <a:ln/>
        </p:spPr>
      </p:sp>
      <p:sp>
        <p:nvSpPr>
          <p:cNvPr id="4" name="Shape 2"/>
          <p:cNvSpPr/>
          <p:nvPr/>
        </p:nvSpPr>
        <p:spPr>
          <a:xfrm>
            <a:off x="-1463040" y="5532120"/>
            <a:ext cx="3017520" cy="3017520"/>
          </a:xfrm>
          <a:prstGeom prst="ellipse">
            <a:avLst/>
          </a:prstGeom>
          <a:solidFill>
            <a:srgbClr val="FFFFFF">
              <a:alpha val="4000"/>
            </a:srgbClr>
          </a:solidFill>
          <a:ln/>
        </p:spPr>
      </p:sp>
      <p:sp>
        <p:nvSpPr>
          <p:cNvPr id="5" name="Text 3"/>
          <p:cNvSpPr txBox="1"/>
          <p:nvPr/>
        </p:nvSpPr>
        <p:spPr>
          <a:xfrm>
            <a:off x="566928" y="1389888"/>
            <a:ext cx="9601200" cy="274320"/>
          </a:xfrm>
          <a:prstGeom prst="rect">
            <a:avLst/>
          </a:prstGeom>
          <a:noFill/>
          <a:ln/>
        </p:spPr>
        <p:txBody>
          <a:bodyPr wrap="square" lIns="0" tIns="0" rIns="0" bIns="0" rtlCol="0" anchor="ctr"/>
          <a:lstStyle/>
          <a:p>
            <a:pPr indent="0" marL="0">
              <a:buNone/>
            </a:pPr>
            <a:r>
              <a:rPr lang="en-US" sz="1200" b="1" spc="220" kern="0" dirty="0">
                <a:solidFill>
                  <a:srgbClr val="E08A3C"/>
                </a:solidFill>
                <a:latin typeface="Calibri" pitchFamily="34" charset="0"/>
                <a:ea typeface="Calibri" pitchFamily="34" charset="-122"/>
                <a:cs typeface="Calibri" pitchFamily="34" charset="-120"/>
              </a:rPr>
              <a:t>COMMERCIAL DEPARTMENT   ·   PRE &amp; POST CONTRACT</a:t>
            </a:r>
            <a:endParaRPr lang="en-US" sz="1200" dirty="0"/>
          </a:p>
        </p:txBody>
      </p:sp>
      <p:sp>
        <p:nvSpPr>
          <p:cNvPr id="6" name="Text 4"/>
          <p:cNvSpPr txBox="1"/>
          <p:nvPr/>
        </p:nvSpPr>
        <p:spPr>
          <a:xfrm>
            <a:off x="566928" y="1783080"/>
            <a:ext cx="8595360" cy="1691640"/>
          </a:xfrm>
          <a:prstGeom prst="rect">
            <a:avLst/>
          </a:prstGeom>
          <a:noFill/>
          <a:ln/>
        </p:spPr>
        <p:txBody>
          <a:bodyPr wrap="square" lIns="0" tIns="0" rIns="0" bIns="0" rtlCol="0" anchor="t"/>
          <a:lstStyle/>
          <a:p>
            <a:pPr indent="0" marL="0">
              <a:lnSpc>
                <a:spcPct val="102000"/>
              </a:lnSpc>
              <a:buNone/>
            </a:pPr>
            <a:r>
              <a:rPr lang="en-US" sz="4600" b="1" dirty="0">
                <a:solidFill>
                  <a:srgbClr val="FFFFFF"/>
                </a:solidFill>
                <a:latin typeface="Cambria" pitchFamily="34" charset="0"/>
                <a:ea typeface="Cambria" pitchFamily="34" charset="-122"/>
                <a:cs typeface="Cambria" pitchFamily="34" charset="-120"/>
              </a:rPr>
              <a:t>Outstanding Projects</a:t>
            </a:r>
            <a:endParaRPr lang="en-US" sz="4600" dirty="0"/>
          </a:p>
          <a:p>
            <a:pPr indent="0" marL="0">
              <a:lnSpc>
                <a:spcPct val="102000"/>
              </a:lnSpc>
              <a:buNone/>
            </a:pPr>
            <a:r>
              <a:rPr lang="en-US" sz="4600" b="1" dirty="0">
                <a:solidFill>
                  <a:srgbClr val="FFFFFF"/>
                </a:solidFill>
                <a:latin typeface="Cambria" pitchFamily="34" charset="0"/>
                <a:ea typeface="Cambria" pitchFamily="34" charset="-122"/>
                <a:cs typeface="Cambria" pitchFamily="34" charset="-120"/>
              </a:rPr>
              <a:t>&amp; Deliverables</a:t>
            </a:r>
            <a:endParaRPr lang="en-US" sz="4600" dirty="0"/>
          </a:p>
        </p:txBody>
      </p:sp>
      <p:sp>
        <p:nvSpPr>
          <p:cNvPr id="7" name="Text 5"/>
          <p:cNvSpPr txBox="1"/>
          <p:nvPr/>
        </p:nvSpPr>
        <p:spPr>
          <a:xfrm>
            <a:off x="566928" y="3584448"/>
            <a:ext cx="8595360" cy="347472"/>
          </a:xfrm>
          <a:prstGeom prst="rect">
            <a:avLst/>
          </a:prstGeom>
          <a:noFill/>
          <a:ln/>
        </p:spPr>
        <p:txBody>
          <a:bodyPr wrap="square" lIns="0" tIns="0" rIns="0" bIns="0" rtlCol="0" anchor="ctr"/>
          <a:lstStyle/>
          <a:p>
            <a:pPr indent="0" marL="0">
              <a:buNone/>
            </a:pPr>
            <a:r>
              <a:rPr lang="en-US" sz="1900" dirty="0">
                <a:solidFill>
                  <a:srgbClr val="AFC1D6"/>
                </a:solidFill>
                <a:latin typeface="Calibri" pitchFamily="34" charset="0"/>
                <a:ea typeface="Calibri" pitchFamily="34" charset="-122"/>
                <a:cs typeface="Calibri" pitchFamily="34" charset="-120"/>
              </a:rPr>
              <a:t>Status report to Management</a:t>
            </a:r>
            <a:endParaRPr lang="en-US" sz="1900" dirty="0"/>
          </a:p>
        </p:txBody>
      </p:sp>
      <p:sp>
        <p:nvSpPr>
          <p:cNvPr id="8" name="Shape 6"/>
          <p:cNvSpPr/>
          <p:nvPr/>
        </p:nvSpPr>
        <p:spPr>
          <a:xfrm>
            <a:off x="566928" y="4133088"/>
            <a:ext cx="2057400" cy="384048"/>
          </a:xfrm>
          <a:prstGeom prst="roundRect">
            <a:avLst>
              <a:gd name="adj" fmla="val 50000"/>
            </a:avLst>
          </a:prstGeom>
          <a:solidFill>
            <a:srgbClr val="E08A3C"/>
          </a:solidFill>
          <a:ln/>
        </p:spPr>
      </p:sp>
      <p:sp>
        <p:nvSpPr>
          <p:cNvPr id="9" name="Text 7"/>
          <p:cNvSpPr txBox="1"/>
          <p:nvPr/>
        </p:nvSpPr>
        <p:spPr>
          <a:xfrm>
            <a:off x="566928" y="4133088"/>
            <a:ext cx="2057400" cy="384048"/>
          </a:xfrm>
          <a:prstGeom prst="rect">
            <a:avLst/>
          </a:prstGeom>
          <a:noFill/>
          <a:ln/>
        </p:spPr>
        <p:txBody>
          <a:bodyPr wrap="square" lIns="0" tIns="0" rIns="0" bIns="0" rtlCol="0" anchor="ctr"/>
          <a:lstStyle/>
          <a:p>
            <a:pPr algn="ctr" indent="0" marL="0">
              <a:buNone/>
            </a:pPr>
            <a:r>
              <a:rPr lang="en-US" sz="900" b="1" spc="40" kern="0" dirty="0">
                <a:solidFill>
                  <a:srgbClr val="1B2A41"/>
                </a:solidFill>
                <a:latin typeface="Calibri" pitchFamily="34" charset="0"/>
                <a:ea typeface="Calibri" pitchFamily="34" charset="-122"/>
                <a:cs typeface="Calibri" pitchFamily="34" charset="-120"/>
              </a:rPr>
              <a:t>18 SEPTEMBER 2026</a:t>
            </a:r>
            <a:endParaRPr lang="en-US" sz="900" dirty="0"/>
          </a:p>
        </p:txBody>
      </p:sp>
      <p:sp>
        <p:nvSpPr>
          <p:cNvPr id="10" name="Shape 8"/>
          <p:cNvSpPr/>
          <p:nvPr/>
        </p:nvSpPr>
        <p:spPr>
          <a:xfrm>
            <a:off x="566928" y="4956048"/>
            <a:ext cx="2487168" cy="1005840"/>
          </a:xfrm>
          <a:prstGeom prst="roundRect">
            <a:avLst>
              <a:gd name="adj" fmla="val 9091"/>
            </a:avLst>
          </a:prstGeom>
          <a:solidFill>
            <a:srgbClr val="FFFFFF">
              <a:alpha val="10000"/>
            </a:srgbClr>
          </a:solidFill>
          <a:ln w="9525">
            <a:solidFill>
              <a:srgbClr val="FFFFFF">
                <a:alpha val="28000"/>
              </a:srgbClr>
            </a:solidFill>
            <a:prstDash val="solid"/>
          </a:ln>
        </p:spPr>
      </p:sp>
      <p:sp>
        <p:nvSpPr>
          <p:cNvPr id="11" name="Text 9"/>
          <p:cNvSpPr txBox="1"/>
          <p:nvPr/>
        </p:nvSpPr>
        <p:spPr>
          <a:xfrm>
            <a:off x="749808" y="5065776"/>
            <a:ext cx="2121408" cy="45720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22</a:t>
            </a:r>
            <a:endParaRPr lang="en-US" sz="2700" dirty="0"/>
          </a:p>
        </p:txBody>
      </p:sp>
      <p:sp>
        <p:nvSpPr>
          <p:cNvPr id="12" name="Text 10"/>
          <p:cNvSpPr txBox="1"/>
          <p:nvPr/>
        </p:nvSpPr>
        <p:spPr>
          <a:xfrm>
            <a:off x="749808" y="5513832"/>
            <a:ext cx="2121408" cy="274320"/>
          </a:xfrm>
          <a:prstGeom prst="rect">
            <a:avLst/>
          </a:prstGeom>
          <a:noFill/>
          <a:ln/>
        </p:spPr>
        <p:txBody>
          <a:bodyPr wrap="square" lIns="0" tIns="0" rIns="0" bIns="0" rtlCol="0" anchor="ctr"/>
          <a:lstStyle/>
          <a:p>
            <a:pPr indent="0" marL="0">
              <a:buNone/>
            </a:pPr>
            <a:r>
              <a:rPr lang="en-US" sz="1000" dirty="0">
                <a:solidFill>
                  <a:srgbClr val="AFC1D6"/>
                </a:solidFill>
                <a:latin typeface="Calibri" pitchFamily="34" charset="0"/>
                <a:ea typeface="Calibri" pitchFamily="34" charset="-122"/>
                <a:cs typeface="Calibri" pitchFamily="34" charset="-120"/>
              </a:rPr>
              <a:t>Deliverables tracked</a:t>
            </a:r>
            <a:endParaRPr lang="en-US" sz="1000" dirty="0"/>
          </a:p>
        </p:txBody>
      </p:sp>
      <p:sp>
        <p:nvSpPr>
          <p:cNvPr id="13" name="Shape 11"/>
          <p:cNvSpPr/>
          <p:nvPr/>
        </p:nvSpPr>
        <p:spPr>
          <a:xfrm>
            <a:off x="3328416" y="4956048"/>
            <a:ext cx="2487168" cy="1005840"/>
          </a:xfrm>
          <a:prstGeom prst="roundRect">
            <a:avLst>
              <a:gd name="adj" fmla="val 9091"/>
            </a:avLst>
          </a:prstGeom>
          <a:solidFill>
            <a:srgbClr val="FFFFFF">
              <a:alpha val="10000"/>
            </a:srgbClr>
          </a:solidFill>
          <a:ln w="9525">
            <a:solidFill>
              <a:srgbClr val="FFFFFF">
                <a:alpha val="28000"/>
              </a:srgbClr>
            </a:solidFill>
            <a:prstDash val="solid"/>
          </a:ln>
        </p:spPr>
      </p:sp>
      <p:sp>
        <p:nvSpPr>
          <p:cNvPr id="14" name="Text 12"/>
          <p:cNvSpPr txBox="1"/>
          <p:nvPr/>
        </p:nvSpPr>
        <p:spPr>
          <a:xfrm>
            <a:off x="3511296" y="5065776"/>
            <a:ext cx="2121408" cy="45720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13</a:t>
            </a:r>
            <a:endParaRPr lang="en-US" sz="2700" dirty="0"/>
          </a:p>
        </p:txBody>
      </p:sp>
      <p:sp>
        <p:nvSpPr>
          <p:cNvPr id="15" name="Text 13"/>
          <p:cNvSpPr txBox="1"/>
          <p:nvPr/>
        </p:nvSpPr>
        <p:spPr>
          <a:xfrm>
            <a:off x="3511296" y="5513832"/>
            <a:ext cx="2121408" cy="274320"/>
          </a:xfrm>
          <a:prstGeom prst="rect">
            <a:avLst/>
          </a:prstGeom>
          <a:noFill/>
          <a:ln/>
        </p:spPr>
        <p:txBody>
          <a:bodyPr wrap="square" lIns="0" tIns="0" rIns="0" bIns="0" rtlCol="0" anchor="ctr"/>
          <a:lstStyle/>
          <a:p>
            <a:pPr indent="0" marL="0">
              <a:buNone/>
            </a:pPr>
            <a:r>
              <a:rPr lang="en-US" sz="1000" dirty="0">
                <a:solidFill>
                  <a:srgbClr val="AFC1D6"/>
                </a:solidFill>
                <a:latin typeface="Calibri" pitchFamily="34" charset="0"/>
                <a:ea typeface="Calibri" pitchFamily="34" charset="-122"/>
                <a:cs typeface="Calibri" pitchFamily="34" charset="-120"/>
              </a:rPr>
              <a:t>Active projects</a:t>
            </a:r>
            <a:endParaRPr lang="en-US" sz="1000" dirty="0"/>
          </a:p>
        </p:txBody>
      </p:sp>
      <p:sp>
        <p:nvSpPr>
          <p:cNvPr id="16" name="Shape 14"/>
          <p:cNvSpPr/>
          <p:nvPr/>
        </p:nvSpPr>
        <p:spPr>
          <a:xfrm>
            <a:off x="6089904" y="4956048"/>
            <a:ext cx="2487168" cy="1005840"/>
          </a:xfrm>
          <a:prstGeom prst="roundRect">
            <a:avLst>
              <a:gd name="adj" fmla="val 9091"/>
            </a:avLst>
          </a:prstGeom>
          <a:solidFill>
            <a:srgbClr val="FFFFFF">
              <a:alpha val="10000"/>
            </a:srgbClr>
          </a:solidFill>
          <a:ln w="9525">
            <a:solidFill>
              <a:srgbClr val="FFFFFF">
                <a:alpha val="28000"/>
              </a:srgbClr>
            </a:solidFill>
            <a:prstDash val="solid"/>
          </a:ln>
        </p:spPr>
      </p:sp>
      <p:sp>
        <p:nvSpPr>
          <p:cNvPr id="17" name="Text 15"/>
          <p:cNvSpPr txBox="1"/>
          <p:nvPr/>
        </p:nvSpPr>
        <p:spPr>
          <a:xfrm>
            <a:off x="6272784" y="5065776"/>
            <a:ext cx="2121408" cy="45720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77%</a:t>
            </a:r>
            <a:endParaRPr lang="en-US" sz="2700" dirty="0"/>
          </a:p>
        </p:txBody>
      </p:sp>
      <p:sp>
        <p:nvSpPr>
          <p:cNvPr id="18" name="Text 16"/>
          <p:cNvSpPr txBox="1"/>
          <p:nvPr/>
        </p:nvSpPr>
        <p:spPr>
          <a:xfrm>
            <a:off x="6272784" y="5513832"/>
            <a:ext cx="2121408" cy="274320"/>
          </a:xfrm>
          <a:prstGeom prst="rect">
            <a:avLst/>
          </a:prstGeom>
          <a:noFill/>
          <a:ln/>
        </p:spPr>
        <p:txBody>
          <a:bodyPr wrap="square" lIns="0" tIns="0" rIns="0" bIns="0" rtlCol="0" anchor="ctr"/>
          <a:lstStyle/>
          <a:p>
            <a:pPr indent="0" marL="0">
              <a:buNone/>
            </a:pPr>
            <a:r>
              <a:rPr lang="en-US" sz="1000" dirty="0">
                <a:solidFill>
                  <a:srgbClr val="AFC1D6"/>
                </a:solidFill>
                <a:latin typeface="Calibri" pitchFamily="34" charset="0"/>
                <a:ea typeface="Calibri" pitchFamily="34" charset="-122"/>
                <a:cs typeface="Calibri" pitchFamily="34" charset="-120"/>
              </a:rPr>
              <a:t>Delivered to date</a:t>
            </a:r>
            <a:endParaRPr lang="en-US" sz="1000" dirty="0"/>
          </a:p>
        </p:txBody>
      </p:sp>
      <p:sp>
        <p:nvSpPr>
          <p:cNvPr id="19" name="Shape 17"/>
          <p:cNvSpPr/>
          <p:nvPr/>
        </p:nvSpPr>
        <p:spPr>
          <a:xfrm>
            <a:off x="8851392" y="4956048"/>
            <a:ext cx="2487168" cy="1005840"/>
          </a:xfrm>
          <a:prstGeom prst="roundRect">
            <a:avLst>
              <a:gd name="adj" fmla="val 9091"/>
            </a:avLst>
          </a:prstGeom>
          <a:solidFill>
            <a:srgbClr val="FFFFFF">
              <a:alpha val="10000"/>
            </a:srgbClr>
          </a:solidFill>
          <a:ln w="9525">
            <a:solidFill>
              <a:srgbClr val="FFFFFF">
                <a:alpha val="28000"/>
              </a:srgbClr>
            </a:solidFill>
            <a:prstDash val="solid"/>
          </a:ln>
        </p:spPr>
      </p:sp>
      <p:sp>
        <p:nvSpPr>
          <p:cNvPr id="20" name="Text 18"/>
          <p:cNvSpPr txBox="1"/>
          <p:nvPr/>
        </p:nvSpPr>
        <p:spPr>
          <a:xfrm>
            <a:off x="9034272" y="5065776"/>
            <a:ext cx="2121408" cy="45720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5</a:t>
            </a:r>
            <a:endParaRPr lang="en-US" sz="2700" dirty="0"/>
          </a:p>
        </p:txBody>
      </p:sp>
      <p:sp>
        <p:nvSpPr>
          <p:cNvPr id="21" name="Text 19"/>
          <p:cNvSpPr txBox="1"/>
          <p:nvPr/>
        </p:nvSpPr>
        <p:spPr>
          <a:xfrm>
            <a:off x="9034272" y="5513832"/>
            <a:ext cx="2121408" cy="274320"/>
          </a:xfrm>
          <a:prstGeom prst="rect">
            <a:avLst/>
          </a:prstGeom>
          <a:noFill/>
          <a:ln/>
        </p:spPr>
        <p:txBody>
          <a:bodyPr wrap="square" lIns="0" tIns="0" rIns="0" bIns="0" rtlCol="0" anchor="ctr"/>
          <a:lstStyle/>
          <a:p>
            <a:pPr indent="0" marL="0">
              <a:buNone/>
            </a:pPr>
            <a:r>
              <a:rPr lang="en-US" sz="1000" dirty="0">
                <a:solidFill>
                  <a:srgbClr val="AFC1D6"/>
                </a:solidFill>
                <a:latin typeface="Calibri" pitchFamily="34" charset="0"/>
                <a:ea typeface="Calibri" pitchFamily="34" charset="-122"/>
                <a:cs typeface="Calibri" pitchFamily="34" charset="-120"/>
              </a:rPr>
              <a:t>Still outstanding</a:t>
            </a:r>
            <a:endParaRPr lang="en-US" sz="1000" dirty="0"/>
          </a:p>
        </p:txBody>
      </p:sp>
      <p:sp>
        <p:nvSpPr>
          <p:cNvPr id="22" name="Text 20"/>
          <p:cNvSpPr txBox="1"/>
          <p:nvPr/>
        </p:nvSpPr>
        <p:spPr>
          <a:xfrm>
            <a:off x="566928" y="6291072"/>
            <a:ext cx="6858000" cy="274320"/>
          </a:xfrm>
          <a:prstGeom prst="rect">
            <a:avLst/>
          </a:prstGeom>
          <a:noFill/>
          <a:ln/>
        </p:spPr>
        <p:txBody>
          <a:bodyPr wrap="square" lIns="0" tIns="0" rIns="0" bIns="0" rtlCol="0" anchor="ctr"/>
          <a:lstStyle/>
          <a:p>
            <a:pPr indent="0" marL="0">
              <a:buNone/>
            </a:pPr>
            <a:r>
              <a:rPr lang="en-US" sz="1050" dirty="0">
                <a:solidFill>
                  <a:srgbClr val="AFC1D6"/>
                </a:solidFill>
                <a:latin typeface="Calibri" pitchFamily="34" charset="0"/>
                <a:ea typeface="Calibri" pitchFamily="34" charset="-122"/>
                <a:cs typeface="Calibri" pitchFamily="34" charset="-120"/>
              </a:rPr>
              <a:t>Presented by the Commercial Manager</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66928" y="420624"/>
            <a:ext cx="11057839" cy="219456"/>
          </a:xfrm>
          <a:prstGeom prst="rect">
            <a:avLst/>
          </a:prstGeom>
          <a:noFill/>
          <a:ln/>
        </p:spPr>
        <p:txBody>
          <a:bodyPr wrap="square" lIns="0" tIns="0" rIns="0" bIns="0" rtlCol="0" anchor="ctr"/>
          <a:lstStyle/>
          <a:p>
            <a:pPr indent="0" marL="0">
              <a:buNone/>
            </a:pPr>
            <a:r>
              <a:rPr lang="en-US" sz="1050" b="1" spc="160" kern="0" dirty="0">
                <a:solidFill>
                  <a:srgbClr val="2A78D6"/>
                </a:solidFill>
                <a:latin typeface="Calibri" pitchFamily="34" charset="0"/>
                <a:ea typeface="Calibri" pitchFamily="34" charset="-122"/>
                <a:cs typeface="Calibri" pitchFamily="34" charset="-120"/>
              </a:rPr>
              <a:t>AT A GLANCE</a:t>
            </a:r>
            <a:endParaRPr lang="en-US" sz="1050" dirty="0"/>
          </a:p>
        </p:txBody>
      </p:sp>
      <p:sp>
        <p:nvSpPr>
          <p:cNvPr id="3" name="Text 1"/>
          <p:cNvSpPr txBox="1"/>
          <p:nvPr/>
        </p:nvSpPr>
        <p:spPr>
          <a:xfrm>
            <a:off x="566928" y="676656"/>
            <a:ext cx="11057839" cy="566928"/>
          </a:xfrm>
          <a:prstGeom prst="rect">
            <a:avLst/>
          </a:prstGeom>
          <a:noFill/>
          <a:ln/>
        </p:spPr>
        <p:txBody>
          <a:bodyPr wrap="square" lIns="0" tIns="0" rIns="0" bIns="0" rtlCol="0" anchor="ctr"/>
          <a:lstStyle/>
          <a:p>
            <a:pPr indent="0" marL="0">
              <a:buNone/>
            </a:pPr>
            <a:r>
              <a:rPr lang="en-US" sz="3100" b="1" dirty="0">
                <a:solidFill>
                  <a:srgbClr val="1B2A41"/>
                </a:solidFill>
                <a:latin typeface="Cambria" pitchFamily="34" charset="0"/>
                <a:ea typeface="Cambria" pitchFamily="34" charset="-122"/>
                <a:cs typeface="Cambria" pitchFamily="34" charset="-120"/>
              </a:rPr>
              <a:t>Executive Summary</a:t>
            </a:r>
            <a:endParaRPr lang="en-US" sz="3100" dirty="0"/>
          </a:p>
        </p:txBody>
      </p:sp>
      <p:sp>
        <p:nvSpPr>
          <p:cNvPr id="4" name="Text 2"/>
          <p:cNvSpPr txBox="1"/>
          <p:nvPr/>
        </p:nvSpPr>
        <p:spPr>
          <a:xfrm>
            <a:off x="566928" y="1261872"/>
            <a:ext cx="11057839" cy="292608"/>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Position of the commercial deliverables register as at 18 September 2026.</a:t>
            </a:r>
            <a:endParaRPr lang="en-US" sz="1250" dirty="0"/>
          </a:p>
        </p:txBody>
      </p:sp>
      <p:sp>
        <p:nvSpPr>
          <p:cNvPr id="5" name="Shape 3"/>
          <p:cNvSpPr/>
          <p:nvPr/>
        </p:nvSpPr>
        <p:spPr>
          <a:xfrm>
            <a:off x="566928" y="1700784"/>
            <a:ext cx="2572436" cy="1389888"/>
          </a:xfrm>
          <a:prstGeom prst="roundRect">
            <a:avLst>
              <a:gd name="adj" fmla="val 6579"/>
            </a:avLst>
          </a:prstGeom>
          <a:solidFill>
            <a:srgbClr val="F2F5F8"/>
          </a:solidFill>
          <a:ln w="12700">
            <a:solidFill>
              <a:srgbClr val="E1E0D9"/>
            </a:solidFill>
            <a:prstDash val="solid"/>
          </a:ln>
          <a:effectLst>
            <a:outerShdw sx="100000" sy="100000" kx="0" ky="0" algn="bl" rotWithShape="0" blurRad="101600" dist="50800" dir="5400000">
              <a:srgbClr val="FFFFFF">
                <a:alpha val="75000"/>
              </a:srgbClr>
            </a:outerShdw>
          </a:effectLst>
        </p:spPr>
      </p:sp>
      <p:sp>
        <p:nvSpPr>
          <p:cNvPr id="6" name="Shape 4"/>
          <p:cNvSpPr/>
          <p:nvPr/>
        </p:nvSpPr>
        <p:spPr>
          <a:xfrm>
            <a:off x="2746172" y="1911096"/>
            <a:ext cx="164592" cy="164592"/>
          </a:xfrm>
          <a:prstGeom prst="ellipse">
            <a:avLst/>
          </a:prstGeom>
          <a:solidFill>
            <a:srgbClr val="1B2A41"/>
          </a:solidFill>
          <a:ln/>
        </p:spPr>
      </p:sp>
      <p:sp>
        <p:nvSpPr>
          <p:cNvPr id="7" name="Text 5"/>
          <p:cNvSpPr txBox="1"/>
          <p:nvPr/>
        </p:nvSpPr>
        <p:spPr>
          <a:xfrm>
            <a:off x="804672" y="1847088"/>
            <a:ext cx="1886636" cy="566928"/>
          </a:xfrm>
          <a:prstGeom prst="rect">
            <a:avLst/>
          </a:prstGeom>
          <a:noFill/>
          <a:ln/>
        </p:spPr>
        <p:txBody>
          <a:bodyPr wrap="square" lIns="0" tIns="0" rIns="0" bIns="0" rtlCol="0" anchor="ctr"/>
          <a:lstStyle/>
          <a:p>
            <a:pPr indent="0" marL="0">
              <a:buNone/>
            </a:pPr>
            <a:r>
              <a:rPr lang="en-US" sz="4000" b="1" dirty="0">
                <a:solidFill>
                  <a:srgbClr val="1B2A41"/>
                </a:solidFill>
                <a:latin typeface="Cambria" pitchFamily="34" charset="0"/>
                <a:ea typeface="Cambria" pitchFamily="34" charset="-122"/>
                <a:cs typeface="Cambria" pitchFamily="34" charset="-120"/>
              </a:rPr>
              <a:t>22</a:t>
            </a:r>
            <a:endParaRPr lang="en-US" sz="4000" dirty="0"/>
          </a:p>
        </p:txBody>
      </p:sp>
      <p:sp>
        <p:nvSpPr>
          <p:cNvPr id="8" name="Text 6"/>
          <p:cNvSpPr txBox="1"/>
          <p:nvPr/>
        </p:nvSpPr>
        <p:spPr>
          <a:xfrm>
            <a:off x="804672" y="2432304"/>
            <a:ext cx="2115236" cy="274320"/>
          </a:xfrm>
          <a:prstGeom prst="rect">
            <a:avLst/>
          </a:prstGeom>
          <a:noFill/>
          <a:ln/>
        </p:spPr>
        <p:txBody>
          <a:bodyPr wrap="square" lIns="0" tIns="0" rIns="0" bIns="0" rtlCol="0" anchor="ctr"/>
          <a:lstStyle/>
          <a:p>
            <a:pPr indent="0" marL="0">
              <a:buNone/>
            </a:pPr>
            <a:r>
              <a:rPr lang="en-US" sz="1250" b="1" dirty="0">
                <a:solidFill>
                  <a:srgbClr val="0B0B0B"/>
                </a:solidFill>
                <a:latin typeface="Calibri" pitchFamily="34" charset="0"/>
                <a:ea typeface="Calibri" pitchFamily="34" charset="-122"/>
                <a:cs typeface="Calibri" pitchFamily="34" charset="-120"/>
              </a:rPr>
              <a:t>Deliverables tracked</a:t>
            </a:r>
            <a:endParaRPr lang="en-US" sz="1250" dirty="0"/>
          </a:p>
        </p:txBody>
      </p:sp>
      <p:sp>
        <p:nvSpPr>
          <p:cNvPr id="9" name="Text 7"/>
          <p:cNvSpPr txBox="1"/>
          <p:nvPr/>
        </p:nvSpPr>
        <p:spPr>
          <a:xfrm>
            <a:off x="804672" y="2706624"/>
            <a:ext cx="2115236" cy="256032"/>
          </a:xfrm>
          <a:prstGeom prst="rect">
            <a:avLst/>
          </a:prstGeom>
          <a:noFill/>
          <a:ln/>
        </p:spPr>
        <p:txBody>
          <a:bodyPr wrap="square" lIns="0" tIns="0" rIns="0" bIns="0" rtlCol="0" anchor="ctr"/>
          <a:lstStyle/>
          <a:p>
            <a:pPr indent="0" marL="0">
              <a:buNone/>
            </a:pPr>
            <a:r>
              <a:rPr lang="en-US" sz="950" dirty="0">
                <a:solidFill>
                  <a:srgbClr val="898781"/>
                </a:solidFill>
                <a:latin typeface="Calibri" pitchFamily="34" charset="0"/>
                <a:ea typeface="Calibri" pitchFamily="34" charset="-122"/>
                <a:cs typeface="Calibri" pitchFamily="34" charset="-120"/>
              </a:rPr>
              <a:t>Across 13 active projects</a:t>
            </a:r>
            <a:endParaRPr lang="en-US" sz="950" dirty="0"/>
          </a:p>
        </p:txBody>
      </p:sp>
      <p:sp>
        <p:nvSpPr>
          <p:cNvPr id="10" name="Shape 8"/>
          <p:cNvSpPr/>
          <p:nvPr/>
        </p:nvSpPr>
        <p:spPr>
          <a:xfrm>
            <a:off x="3395396" y="1700784"/>
            <a:ext cx="2572436" cy="1389888"/>
          </a:xfrm>
          <a:prstGeom prst="roundRect">
            <a:avLst>
              <a:gd name="adj" fmla="val 6579"/>
            </a:avLst>
          </a:prstGeom>
          <a:solidFill>
            <a:srgbClr val="F2F5F8"/>
          </a:solidFill>
          <a:ln w="12700">
            <a:solidFill>
              <a:srgbClr val="E1E0D9"/>
            </a:solidFill>
            <a:prstDash val="solid"/>
          </a:ln>
          <a:effectLst>
            <a:outerShdw sx="100000" sy="100000" kx="0" ky="0" algn="bl" rotWithShape="0" blurRad="101600" dist="50800" dir="5400000">
              <a:srgbClr val="FFFFFF">
                <a:alpha val="75000"/>
              </a:srgbClr>
            </a:outerShdw>
          </a:effectLst>
        </p:spPr>
      </p:sp>
      <p:sp>
        <p:nvSpPr>
          <p:cNvPr id="11" name="Shape 9"/>
          <p:cNvSpPr/>
          <p:nvPr/>
        </p:nvSpPr>
        <p:spPr>
          <a:xfrm>
            <a:off x="5574640" y="1911096"/>
            <a:ext cx="164592" cy="164592"/>
          </a:xfrm>
          <a:prstGeom prst="ellipse">
            <a:avLst/>
          </a:prstGeom>
          <a:solidFill>
            <a:srgbClr val="0CA30C"/>
          </a:solidFill>
          <a:ln/>
        </p:spPr>
      </p:sp>
      <p:sp>
        <p:nvSpPr>
          <p:cNvPr id="12" name="Text 10"/>
          <p:cNvSpPr txBox="1"/>
          <p:nvPr/>
        </p:nvSpPr>
        <p:spPr>
          <a:xfrm>
            <a:off x="3633140" y="1847088"/>
            <a:ext cx="1886636" cy="566928"/>
          </a:xfrm>
          <a:prstGeom prst="rect">
            <a:avLst/>
          </a:prstGeom>
          <a:noFill/>
          <a:ln/>
        </p:spPr>
        <p:txBody>
          <a:bodyPr wrap="square" lIns="0" tIns="0" rIns="0" bIns="0" rtlCol="0" anchor="ctr"/>
          <a:lstStyle/>
          <a:p>
            <a:pPr indent="0" marL="0">
              <a:buNone/>
            </a:pPr>
            <a:r>
              <a:rPr lang="en-US" sz="4000" b="1" dirty="0">
                <a:solidFill>
                  <a:srgbClr val="1B2A41"/>
                </a:solidFill>
                <a:latin typeface="Cambria" pitchFamily="34" charset="0"/>
                <a:ea typeface="Cambria" pitchFamily="34" charset="-122"/>
                <a:cs typeface="Cambria" pitchFamily="34" charset="-120"/>
              </a:rPr>
              <a:t>17</a:t>
            </a:r>
            <a:endParaRPr lang="en-US" sz="4000" dirty="0"/>
          </a:p>
        </p:txBody>
      </p:sp>
      <p:sp>
        <p:nvSpPr>
          <p:cNvPr id="13" name="Text 11"/>
          <p:cNvSpPr txBox="1"/>
          <p:nvPr/>
        </p:nvSpPr>
        <p:spPr>
          <a:xfrm>
            <a:off x="3633140" y="2432304"/>
            <a:ext cx="2115236" cy="274320"/>
          </a:xfrm>
          <a:prstGeom prst="rect">
            <a:avLst/>
          </a:prstGeom>
          <a:noFill/>
          <a:ln/>
        </p:spPr>
        <p:txBody>
          <a:bodyPr wrap="square" lIns="0" tIns="0" rIns="0" bIns="0" rtlCol="0" anchor="ctr"/>
          <a:lstStyle/>
          <a:p>
            <a:pPr indent="0" marL="0">
              <a:buNone/>
            </a:pPr>
            <a:r>
              <a:rPr lang="en-US" sz="1250" b="1" dirty="0">
                <a:solidFill>
                  <a:srgbClr val="0B0B0B"/>
                </a:solidFill>
                <a:latin typeface="Calibri" pitchFamily="34" charset="0"/>
                <a:ea typeface="Calibri" pitchFamily="34" charset="-122"/>
                <a:cs typeface="Calibri" pitchFamily="34" charset="-120"/>
              </a:rPr>
              <a:t>Delivered</a:t>
            </a:r>
            <a:endParaRPr lang="en-US" sz="1250" dirty="0"/>
          </a:p>
        </p:txBody>
      </p:sp>
      <p:sp>
        <p:nvSpPr>
          <p:cNvPr id="14" name="Text 12"/>
          <p:cNvSpPr txBox="1"/>
          <p:nvPr/>
        </p:nvSpPr>
        <p:spPr>
          <a:xfrm>
            <a:off x="3633140" y="2706624"/>
            <a:ext cx="2115236" cy="256032"/>
          </a:xfrm>
          <a:prstGeom prst="rect">
            <a:avLst/>
          </a:prstGeom>
          <a:noFill/>
          <a:ln/>
        </p:spPr>
        <p:txBody>
          <a:bodyPr wrap="square" lIns="0" tIns="0" rIns="0" bIns="0" rtlCol="0" anchor="ctr"/>
          <a:lstStyle/>
          <a:p>
            <a:pPr indent="0" marL="0">
              <a:buNone/>
            </a:pPr>
            <a:r>
              <a:rPr lang="en-US" sz="950" dirty="0">
                <a:solidFill>
                  <a:srgbClr val="898781"/>
                </a:solidFill>
                <a:latin typeface="Calibri" pitchFamily="34" charset="0"/>
                <a:ea typeface="Calibri" pitchFamily="34" charset="-122"/>
                <a:cs typeface="Calibri" pitchFamily="34" charset="-120"/>
              </a:rPr>
              <a:t>77% of the register</a:t>
            </a:r>
            <a:endParaRPr lang="en-US" sz="950" dirty="0"/>
          </a:p>
        </p:txBody>
      </p:sp>
      <p:sp>
        <p:nvSpPr>
          <p:cNvPr id="15" name="Shape 13"/>
          <p:cNvSpPr/>
          <p:nvPr/>
        </p:nvSpPr>
        <p:spPr>
          <a:xfrm>
            <a:off x="6223864" y="1700784"/>
            <a:ext cx="2572436" cy="1389888"/>
          </a:xfrm>
          <a:prstGeom prst="roundRect">
            <a:avLst>
              <a:gd name="adj" fmla="val 6579"/>
            </a:avLst>
          </a:prstGeom>
          <a:solidFill>
            <a:srgbClr val="F2F5F8"/>
          </a:solidFill>
          <a:ln w="12700">
            <a:solidFill>
              <a:srgbClr val="E1E0D9"/>
            </a:solidFill>
            <a:prstDash val="solid"/>
          </a:ln>
          <a:effectLst>
            <a:outerShdw sx="100000" sy="100000" kx="0" ky="0" algn="bl" rotWithShape="0" blurRad="101600" dist="50800" dir="5400000">
              <a:srgbClr val="FFFFFF">
                <a:alpha val="75000"/>
              </a:srgbClr>
            </a:outerShdw>
          </a:effectLst>
        </p:spPr>
      </p:sp>
      <p:sp>
        <p:nvSpPr>
          <p:cNvPr id="16" name="Shape 14"/>
          <p:cNvSpPr/>
          <p:nvPr/>
        </p:nvSpPr>
        <p:spPr>
          <a:xfrm>
            <a:off x="8403107" y="1911096"/>
            <a:ext cx="164592" cy="164592"/>
          </a:xfrm>
          <a:prstGeom prst="ellipse">
            <a:avLst/>
          </a:prstGeom>
          <a:solidFill>
            <a:srgbClr val="FAB219"/>
          </a:solidFill>
          <a:ln/>
        </p:spPr>
      </p:sp>
      <p:sp>
        <p:nvSpPr>
          <p:cNvPr id="17" name="Text 15"/>
          <p:cNvSpPr txBox="1"/>
          <p:nvPr/>
        </p:nvSpPr>
        <p:spPr>
          <a:xfrm>
            <a:off x="6461608" y="1847088"/>
            <a:ext cx="1886636" cy="566928"/>
          </a:xfrm>
          <a:prstGeom prst="rect">
            <a:avLst/>
          </a:prstGeom>
          <a:noFill/>
          <a:ln/>
        </p:spPr>
        <p:txBody>
          <a:bodyPr wrap="square" lIns="0" tIns="0" rIns="0" bIns="0" rtlCol="0" anchor="ctr"/>
          <a:lstStyle/>
          <a:p>
            <a:pPr indent="0" marL="0">
              <a:buNone/>
            </a:pPr>
            <a:r>
              <a:rPr lang="en-US" sz="4000" b="1" dirty="0">
                <a:solidFill>
                  <a:srgbClr val="1B2A41"/>
                </a:solidFill>
                <a:latin typeface="Cambria" pitchFamily="34" charset="0"/>
                <a:ea typeface="Cambria" pitchFamily="34" charset="-122"/>
                <a:cs typeface="Cambria" pitchFamily="34" charset="-120"/>
              </a:rPr>
              <a:t>5</a:t>
            </a:r>
            <a:endParaRPr lang="en-US" sz="4000" dirty="0"/>
          </a:p>
        </p:txBody>
      </p:sp>
      <p:sp>
        <p:nvSpPr>
          <p:cNvPr id="18" name="Text 16"/>
          <p:cNvSpPr txBox="1"/>
          <p:nvPr/>
        </p:nvSpPr>
        <p:spPr>
          <a:xfrm>
            <a:off x="6461608" y="2432304"/>
            <a:ext cx="2115236" cy="274320"/>
          </a:xfrm>
          <a:prstGeom prst="rect">
            <a:avLst/>
          </a:prstGeom>
          <a:noFill/>
          <a:ln/>
        </p:spPr>
        <p:txBody>
          <a:bodyPr wrap="square" lIns="0" tIns="0" rIns="0" bIns="0" rtlCol="0" anchor="ctr"/>
          <a:lstStyle/>
          <a:p>
            <a:pPr indent="0" marL="0">
              <a:buNone/>
            </a:pPr>
            <a:r>
              <a:rPr lang="en-US" sz="1250" b="1" dirty="0">
                <a:solidFill>
                  <a:srgbClr val="0B0B0B"/>
                </a:solidFill>
                <a:latin typeface="Calibri" pitchFamily="34" charset="0"/>
                <a:ea typeface="Calibri" pitchFamily="34" charset="-122"/>
                <a:cs typeface="Calibri" pitchFamily="34" charset="-120"/>
              </a:rPr>
              <a:t>Outstanding</a:t>
            </a:r>
            <a:endParaRPr lang="en-US" sz="1250" dirty="0"/>
          </a:p>
        </p:txBody>
      </p:sp>
      <p:sp>
        <p:nvSpPr>
          <p:cNvPr id="19" name="Text 17"/>
          <p:cNvSpPr txBox="1"/>
          <p:nvPr/>
        </p:nvSpPr>
        <p:spPr>
          <a:xfrm>
            <a:off x="6461608" y="2706624"/>
            <a:ext cx="2115236" cy="256032"/>
          </a:xfrm>
          <a:prstGeom prst="rect">
            <a:avLst/>
          </a:prstGeom>
          <a:noFill/>
          <a:ln/>
        </p:spPr>
        <p:txBody>
          <a:bodyPr wrap="square" lIns="0" tIns="0" rIns="0" bIns="0" rtlCol="0" anchor="ctr"/>
          <a:lstStyle/>
          <a:p>
            <a:pPr indent="0" marL="0">
              <a:buNone/>
            </a:pPr>
            <a:r>
              <a:rPr lang="en-US" sz="950" dirty="0">
                <a:solidFill>
                  <a:srgbClr val="898781"/>
                </a:solidFill>
                <a:latin typeface="Calibri" pitchFamily="34" charset="0"/>
                <a:ea typeface="Calibri" pitchFamily="34" charset="-122"/>
                <a:cs typeface="Calibri" pitchFamily="34" charset="-120"/>
              </a:rPr>
              <a:t>4 in progress, 1 not started</a:t>
            </a:r>
            <a:endParaRPr lang="en-US" sz="950" dirty="0"/>
          </a:p>
        </p:txBody>
      </p:sp>
      <p:sp>
        <p:nvSpPr>
          <p:cNvPr id="20" name="Shape 18"/>
          <p:cNvSpPr/>
          <p:nvPr/>
        </p:nvSpPr>
        <p:spPr>
          <a:xfrm>
            <a:off x="9052331" y="1700784"/>
            <a:ext cx="2572436" cy="1389888"/>
          </a:xfrm>
          <a:prstGeom prst="roundRect">
            <a:avLst>
              <a:gd name="adj" fmla="val 6579"/>
            </a:avLst>
          </a:prstGeom>
          <a:solidFill>
            <a:srgbClr val="F2F5F8"/>
          </a:solidFill>
          <a:ln w="12700">
            <a:solidFill>
              <a:srgbClr val="E1E0D9"/>
            </a:solidFill>
            <a:prstDash val="solid"/>
          </a:ln>
          <a:effectLst>
            <a:outerShdw sx="100000" sy="100000" kx="0" ky="0" algn="bl" rotWithShape="0" blurRad="101600" dist="50800" dir="5400000">
              <a:srgbClr val="FFFFFF">
                <a:alpha val="75000"/>
              </a:srgbClr>
            </a:outerShdw>
          </a:effectLst>
        </p:spPr>
      </p:sp>
      <p:sp>
        <p:nvSpPr>
          <p:cNvPr id="21" name="Shape 19"/>
          <p:cNvSpPr/>
          <p:nvPr/>
        </p:nvSpPr>
        <p:spPr>
          <a:xfrm>
            <a:off x="11231575" y="1911096"/>
            <a:ext cx="164592" cy="164592"/>
          </a:xfrm>
          <a:prstGeom prst="ellipse">
            <a:avLst/>
          </a:prstGeom>
          <a:solidFill>
            <a:srgbClr val="D03B3B"/>
          </a:solidFill>
          <a:ln/>
        </p:spPr>
      </p:sp>
      <p:sp>
        <p:nvSpPr>
          <p:cNvPr id="22" name="Text 20"/>
          <p:cNvSpPr txBox="1"/>
          <p:nvPr/>
        </p:nvSpPr>
        <p:spPr>
          <a:xfrm>
            <a:off x="9290075" y="1847088"/>
            <a:ext cx="1886636" cy="566928"/>
          </a:xfrm>
          <a:prstGeom prst="rect">
            <a:avLst/>
          </a:prstGeom>
          <a:noFill/>
          <a:ln/>
        </p:spPr>
        <p:txBody>
          <a:bodyPr wrap="square" lIns="0" tIns="0" rIns="0" bIns="0" rtlCol="0" anchor="ctr"/>
          <a:lstStyle/>
          <a:p>
            <a:pPr indent="0" marL="0">
              <a:buNone/>
            </a:pPr>
            <a:r>
              <a:rPr lang="en-US" sz="4000" b="1" dirty="0">
                <a:solidFill>
                  <a:srgbClr val="1B2A41"/>
                </a:solidFill>
                <a:latin typeface="Cambria" pitchFamily="34" charset="0"/>
                <a:ea typeface="Cambria" pitchFamily="34" charset="-122"/>
                <a:cs typeface="Cambria" pitchFamily="34" charset="-120"/>
              </a:rPr>
              <a:t>3</a:t>
            </a:r>
            <a:endParaRPr lang="en-US" sz="4000" dirty="0"/>
          </a:p>
        </p:txBody>
      </p:sp>
      <p:sp>
        <p:nvSpPr>
          <p:cNvPr id="23" name="Text 21"/>
          <p:cNvSpPr txBox="1"/>
          <p:nvPr/>
        </p:nvSpPr>
        <p:spPr>
          <a:xfrm>
            <a:off x="9290075" y="2432304"/>
            <a:ext cx="2115236" cy="274320"/>
          </a:xfrm>
          <a:prstGeom prst="rect">
            <a:avLst/>
          </a:prstGeom>
          <a:noFill/>
          <a:ln/>
        </p:spPr>
        <p:txBody>
          <a:bodyPr wrap="square" lIns="0" tIns="0" rIns="0" bIns="0" rtlCol="0" anchor="ctr"/>
          <a:lstStyle/>
          <a:p>
            <a:pPr indent="0" marL="0">
              <a:buNone/>
            </a:pPr>
            <a:r>
              <a:rPr lang="en-US" sz="1250" b="1" dirty="0">
                <a:solidFill>
                  <a:srgbClr val="0B0B0B"/>
                </a:solidFill>
                <a:latin typeface="Calibri" pitchFamily="34" charset="0"/>
                <a:ea typeface="Calibri" pitchFamily="34" charset="-122"/>
                <a:cs typeface="Calibri" pitchFamily="34" charset="-120"/>
              </a:rPr>
              <a:t>Need a decision today</a:t>
            </a:r>
            <a:endParaRPr lang="en-US" sz="1250" dirty="0"/>
          </a:p>
        </p:txBody>
      </p:sp>
      <p:sp>
        <p:nvSpPr>
          <p:cNvPr id="24" name="Text 22"/>
          <p:cNvSpPr txBox="1"/>
          <p:nvPr/>
        </p:nvSpPr>
        <p:spPr>
          <a:xfrm>
            <a:off x="9290075" y="2706624"/>
            <a:ext cx="2115236" cy="256032"/>
          </a:xfrm>
          <a:prstGeom prst="rect">
            <a:avLst/>
          </a:prstGeom>
          <a:noFill/>
          <a:ln/>
        </p:spPr>
        <p:txBody>
          <a:bodyPr wrap="square" lIns="0" tIns="0" rIns="0" bIns="0" rtlCol="0" anchor="ctr"/>
          <a:lstStyle/>
          <a:p>
            <a:pPr indent="0" marL="0">
              <a:buNone/>
            </a:pPr>
            <a:r>
              <a:rPr lang="en-US" sz="950" dirty="0">
                <a:solidFill>
                  <a:srgbClr val="898781"/>
                </a:solidFill>
                <a:latin typeface="Calibri" pitchFamily="34" charset="0"/>
                <a:ea typeface="Calibri" pitchFamily="34" charset="-122"/>
                <a:cs typeface="Calibri" pitchFamily="34" charset="-120"/>
              </a:rPr>
              <a:t>Blocked or at risk of slipping</a:t>
            </a:r>
            <a:endParaRPr lang="en-US" sz="950" dirty="0"/>
          </a:p>
        </p:txBody>
      </p:sp>
      <p:sp>
        <p:nvSpPr>
          <p:cNvPr id="25" name="Shape 23"/>
          <p:cNvSpPr/>
          <p:nvPr/>
        </p:nvSpPr>
        <p:spPr>
          <a:xfrm>
            <a:off x="566928" y="3328416"/>
            <a:ext cx="11057839" cy="859536"/>
          </a:xfrm>
          <a:prstGeom prst="roundRect">
            <a:avLst>
              <a:gd name="adj" fmla="val 10638"/>
            </a:avLst>
          </a:prstGeom>
          <a:solidFill>
            <a:srgbClr val="FFFFFF"/>
          </a:solidFill>
          <a:ln w="12700">
            <a:solidFill>
              <a:srgbClr val="E1E0D9"/>
            </a:solidFill>
            <a:prstDash val="solid"/>
          </a:ln>
          <a:effectLst>
            <a:outerShdw sx="100000" sy="100000" kx="0" ky="0" algn="bl" rotWithShape="0" blurRad="152400" dist="25400" dir="5400000">
              <a:srgbClr val="1B2A41">
                <a:alpha val="10000"/>
              </a:srgbClr>
            </a:outerShdw>
          </a:effectLst>
        </p:spPr>
      </p:sp>
      <p:sp>
        <p:nvSpPr>
          <p:cNvPr id="26" name="Shape 24"/>
          <p:cNvSpPr/>
          <p:nvPr/>
        </p:nvSpPr>
        <p:spPr>
          <a:xfrm>
            <a:off x="832104" y="3547872"/>
            <a:ext cx="420624" cy="420624"/>
          </a:xfrm>
          <a:prstGeom prst="ellipse">
            <a:avLst/>
          </a:prstGeom>
          <a:solidFill>
            <a:srgbClr val="2A78D6"/>
          </a:solidFill>
          <a:ln/>
        </p:spPr>
      </p:sp>
      <p:sp>
        <p:nvSpPr>
          <p:cNvPr id="27" name="Text 25"/>
          <p:cNvSpPr txBox="1"/>
          <p:nvPr/>
        </p:nvSpPr>
        <p:spPr>
          <a:xfrm>
            <a:off x="832104" y="354787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8" name="Text 26"/>
          <p:cNvSpPr txBox="1"/>
          <p:nvPr/>
        </p:nvSpPr>
        <p:spPr>
          <a:xfrm>
            <a:off x="1463040" y="3447288"/>
            <a:ext cx="9869119" cy="256032"/>
          </a:xfrm>
          <a:prstGeom prst="rect">
            <a:avLst/>
          </a:prstGeom>
          <a:noFill/>
          <a:ln/>
        </p:spPr>
        <p:txBody>
          <a:bodyPr wrap="square" lIns="0" tIns="0" rIns="0" bIns="0" rtlCol="0" anchor="ctr"/>
          <a:lstStyle/>
          <a:p>
            <a:pPr indent="0" marL="0">
              <a:buNone/>
            </a:pPr>
            <a:r>
              <a:rPr lang="en-US" sz="1300" b="1" dirty="0">
                <a:solidFill>
                  <a:srgbClr val="1B2A41"/>
                </a:solidFill>
                <a:latin typeface="Calibri" pitchFamily="34" charset="0"/>
                <a:ea typeface="Calibri" pitchFamily="34" charset="-122"/>
                <a:cs typeface="Calibri" pitchFamily="34" charset="-120"/>
              </a:rPr>
              <a:t>The register is 84% complete against a 93% plan</a:t>
            </a:r>
            <a:endParaRPr lang="en-US" sz="1300" dirty="0"/>
          </a:p>
        </p:txBody>
      </p:sp>
      <p:sp>
        <p:nvSpPr>
          <p:cNvPr id="29" name="Text 27"/>
          <p:cNvSpPr txBox="1"/>
          <p:nvPr/>
        </p:nvSpPr>
        <p:spPr>
          <a:xfrm>
            <a:off x="1463040" y="3721608"/>
            <a:ext cx="9869119" cy="329184"/>
          </a:xfrm>
          <a:prstGeom prst="rect">
            <a:avLst/>
          </a:prstGeom>
          <a:noFill/>
          <a:ln/>
        </p:spPr>
        <p:txBody>
          <a:bodyPr wrap="square" lIns="0" tIns="0" rIns="0" bIns="0" rtlCol="0" anchor="t"/>
          <a:lstStyle/>
          <a:p>
            <a:pPr indent="0" marL="0">
              <a:buNone/>
            </a:pPr>
            <a:r>
              <a:rPr lang="en-US" sz="1050" dirty="0">
                <a:solidFill>
                  <a:srgbClr val="52514E"/>
                </a:solidFill>
                <a:latin typeface="Calibri" pitchFamily="34" charset="0"/>
                <a:ea typeface="Calibri" pitchFamily="34" charset="-122"/>
                <a:cs typeface="Calibri" pitchFamily="34" charset="-120"/>
              </a:rPr>
              <a:t>A shortfall of 9 percentage points, equivalent to two full deliverables. All of it sits in three items: Kinbu, Stanbic and Ecole.</a:t>
            </a:r>
            <a:endParaRPr lang="en-US" sz="1050" dirty="0"/>
          </a:p>
        </p:txBody>
      </p:sp>
      <p:sp>
        <p:nvSpPr>
          <p:cNvPr id="30" name="Shape 28"/>
          <p:cNvSpPr/>
          <p:nvPr/>
        </p:nvSpPr>
        <p:spPr>
          <a:xfrm>
            <a:off x="566928" y="4297680"/>
            <a:ext cx="11057839" cy="859536"/>
          </a:xfrm>
          <a:prstGeom prst="roundRect">
            <a:avLst>
              <a:gd name="adj" fmla="val 10638"/>
            </a:avLst>
          </a:prstGeom>
          <a:solidFill>
            <a:srgbClr val="FFFFFF"/>
          </a:solidFill>
          <a:ln w="12700">
            <a:solidFill>
              <a:srgbClr val="E1E0D9"/>
            </a:solidFill>
            <a:prstDash val="solid"/>
          </a:ln>
          <a:effectLst>
            <a:outerShdw sx="100000" sy="100000" kx="0" ky="0" algn="bl" rotWithShape="0" blurRad="152400" dist="25400" dir="5400000">
              <a:srgbClr val="1B2A41">
                <a:alpha val="10000"/>
              </a:srgbClr>
            </a:outerShdw>
          </a:effectLst>
        </p:spPr>
      </p:sp>
      <p:sp>
        <p:nvSpPr>
          <p:cNvPr id="31" name="Shape 29"/>
          <p:cNvSpPr/>
          <p:nvPr/>
        </p:nvSpPr>
        <p:spPr>
          <a:xfrm>
            <a:off x="832104" y="4517136"/>
            <a:ext cx="420624" cy="420624"/>
          </a:xfrm>
          <a:prstGeom prst="ellipse">
            <a:avLst/>
          </a:prstGeom>
          <a:solidFill>
            <a:srgbClr val="D03B3B"/>
          </a:solidFill>
          <a:ln/>
        </p:spPr>
      </p:sp>
      <p:sp>
        <p:nvSpPr>
          <p:cNvPr id="32" name="Text 30"/>
          <p:cNvSpPr txBox="1"/>
          <p:nvPr/>
        </p:nvSpPr>
        <p:spPr>
          <a:xfrm>
            <a:off x="832104" y="451713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33" name="Text 31"/>
          <p:cNvSpPr txBox="1"/>
          <p:nvPr/>
        </p:nvSpPr>
        <p:spPr>
          <a:xfrm>
            <a:off x="1463040" y="4416552"/>
            <a:ext cx="9869119" cy="256032"/>
          </a:xfrm>
          <a:prstGeom prst="rect">
            <a:avLst/>
          </a:prstGeom>
          <a:noFill/>
          <a:ln/>
        </p:spPr>
        <p:txBody>
          <a:bodyPr wrap="square" lIns="0" tIns="0" rIns="0" bIns="0" rtlCol="0" anchor="ctr"/>
          <a:lstStyle/>
          <a:p>
            <a:pPr indent="0" marL="0">
              <a:buNone/>
            </a:pPr>
            <a:r>
              <a:rPr lang="en-US" sz="1300" b="1" dirty="0">
                <a:solidFill>
                  <a:srgbClr val="1B2A41"/>
                </a:solidFill>
                <a:latin typeface="Calibri" pitchFamily="34" charset="0"/>
                <a:ea typeface="Calibri" pitchFamily="34" charset="-122"/>
                <a:cs typeface="Calibri" pitchFamily="34" charset="-120"/>
              </a:rPr>
              <a:t>Two tender submissions fall due on 24 September</a:t>
            </a:r>
            <a:endParaRPr lang="en-US" sz="1300" dirty="0"/>
          </a:p>
        </p:txBody>
      </p:sp>
      <p:sp>
        <p:nvSpPr>
          <p:cNvPr id="34" name="Text 32"/>
          <p:cNvSpPr txBox="1"/>
          <p:nvPr/>
        </p:nvSpPr>
        <p:spPr>
          <a:xfrm>
            <a:off x="1463040" y="4690872"/>
            <a:ext cx="9869119" cy="329184"/>
          </a:xfrm>
          <a:prstGeom prst="rect">
            <a:avLst/>
          </a:prstGeom>
          <a:noFill/>
          <a:ln/>
        </p:spPr>
        <p:txBody>
          <a:bodyPr wrap="square" lIns="0" tIns="0" rIns="0" bIns="0" rtlCol="0" anchor="t"/>
          <a:lstStyle/>
          <a:p>
            <a:pPr indent="0" marL="0">
              <a:buNone/>
            </a:pPr>
            <a:r>
              <a:rPr lang="en-US" sz="1050" dirty="0">
                <a:solidFill>
                  <a:srgbClr val="52514E"/>
                </a:solidFill>
                <a:latin typeface="Calibri" pitchFamily="34" charset="0"/>
                <a:ea typeface="Calibri" pitchFamily="34" charset="-122"/>
                <a:cs typeface="Calibri" pitchFamily="34" charset="-120"/>
              </a:rPr>
              <a:t>The Kinbu School Canteen priced BoQ stands at 10% against a 100% plan, and the Stanbic Bank preliminary estimate at 50%. Both are held by the wider team rather than a named owner.</a:t>
            </a:r>
            <a:endParaRPr lang="en-US" sz="1050" dirty="0"/>
          </a:p>
        </p:txBody>
      </p:sp>
      <p:sp>
        <p:nvSpPr>
          <p:cNvPr id="35" name="Shape 33"/>
          <p:cNvSpPr/>
          <p:nvPr/>
        </p:nvSpPr>
        <p:spPr>
          <a:xfrm>
            <a:off x="566928" y="5266944"/>
            <a:ext cx="11057839" cy="859536"/>
          </a:xfrm>
          <a:prstGeom prst="roundRect">
            <a:avLst>
              <a:gd name="adj" fmla="val 10638"/>
            </a:avLst>
          </a:prstGeom>
          <a:solidFill>
            <a:srgbClr val="FFFFFF"/>
          </a:solidFill>
          <a:ln w="12700">
            <a:solidFill>
              <a:srgbClr val="E1E0D9"/>
            </a:solidFill>
            <a:prstDash val="solid"/>
          </a:ln>
          <a:effectLst>
            <a:outerShdw sx="100000" sy="100000" kx="0" ky="0" algn="bl" rotWithShape="0" blurRad="152400" dist="25400" dir="5400000">
              <a:srgbClr val="1B2A41">
                <a:alpha val="10000"/>
              </a:srgbClr>
            </a:outerShdw>
          </a:effectLst>
        </p:spPr>
      </p:sp>
      <p:sp>
        <p:nvSpPr>
          <p:cNvPr id="36" name="Shape 34"/>
          <p:cNvSpPr/>
          <p:nvPr/>
        </p:nvSpPr>
        <p:spPr>
          <a:xfrm>
            <a:off x="832104" y="5486400"/>
            <a:ext cx="420624" cy="420624"/>
          </a:xfrm>
          <a:prstGeom prst="ellipse">
            <a:avLst/>
          </a:prstGeom>
          <a:solidFill>
            <a:srgbClr val="FAB219"/>
          </a:solidFill>
          <a:ln/>
        </p:spPr>
      </p:sp>
      <p:sp>
        <p:nvSpPr>
          <p:cNvPr id="37" name="Text 35"/>
          <p:cNvSpPr txBox="1"/>
          <p:nvPr/>
        </p:nvSpPr>
        <p:spPr>
          <a:xfrm>
            <a:off x="832104" y="548640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38" name="Text 36"/>
          <p:cNvSpPr txBox="1"/>
          <p:nvPr/>
        </p:nvSpPr>
        <p:spPr>
          <a:xfrm>
            <a:off x="1463040" y="5385816"/>
            <a:ext cx="9869119" cy="256032"/>
          </a:xfrm>
          <a:prstGeom prst="rect">
            <a:avLst/>
          </a:prstGeom>
          <a:noFill/>
          <a:ln/>
        </p:spPr>
        <p:txBody>
          <a:bodyPr wrap="square" lIns="0" tIns="0" rIns="0" bIns="0" rtlCol="0" anchor="ctr"/>
          <a:lstStyle/>
          <a:p>
            <a:pPr indent="0" marL="0">
              <a:buNone/>
            </a:pPr>
            <a:r>
              <a:rPr lang="en-US" sz="1300" b="1" dirty="0">
                <a:solidFill>
                  <a:srgbClr val="1B2A41"/>
                </a:solidFill>
                <a:latin typeface="Calibri" pitchFamily="34" charset="0"/>
                <a:ea typeface="Calibri" pitchFamily="34" charset="-122"/>
                <a:cs typeface="Calibri" pitchFamily="34" charset="-120"/>
              </a:rPr>
              <a:t>Priority Insurance is held up by missing design information</a:t>
            </a:r>
            <a:endParaRPr lang="en-US" sz="1300" dirty="0"/>
          </a:p>
        </p:txBody>
      </p:sp>
      <p:sp>
        <p:nvSpPr>
          <p:cNvPr id="39" name="Text 37"/>
          <p:cNvSpPr txBox="1"/>
          <p:nvPr/>
        </p:nvSpPr>
        <p:spPr>
          <a:xfrm>
            <a:off x="1463040" y="5660136"/>
            <a:ext cx="9869119" cy="329184"/>
          </a:xfrm>
          <a:prstGeom prst="rect">
            <a:avLst/>
          </a:prstGeom>
          <a:noFill/>
          <a:ln/>
        </p:spPr>
        <p:txBody>
          <a:bodyPr wrap="square" lIns="0" tIns="0" rIns="0" bIns="0" rtlCol="0" anchor="t"/>
          <a:lstStyle/>
          <a:p>
            <a:pPr indent="0" marL="0">
              <a:buNone/>
            </a:pPr>
            <a:r>
              <a:rPr lang="en-US" sz="1050" dirty="0">
                <a:solidFill>
                  <a:srgbClr val="52514E"/>
                </a:solidFill>
                <a:latin typeface="Calibri" pitchFamily="34" charset="0"/>
                <a:ea typeface="Calibri" pitchFamily="34" charset="-122"/>
                <a:cs typeface="Calibri" pitchFamily="34" charset="-120"/>
              </a:rPr>
              <a:t>The architectural take-off is 90% done, but the floor finishes schedule and structural drawings are still outstanding. The budget that follows it cannot start.</a:t>
            </a:r>
            <a:endParaRPr lang="en-US" sz="1050" dirty="0"/>
          </a:p>
        </p:txBody>
      </p:sp>
      <p:sp>
        <p:nvSpPr>
          <p:cNvPr id="40" name="Text 38"/>
          <p:cNvSpPr txBox="1"/>
          <p:nvPr/>
        </p:nvSpPr>
        <p:spPr>
          <a:xfrm>
            <a:off x="566928" y="6355080"/>
            <a:ext cx="8961120" cy="274320"/>
          </a:xfrm>
          <a:prstGeom prst="rect">
            <a:avLst/>
          </a:prstGeom>
          <a:noFill/>
          <a:ln/>
        </p:spPr>
        <p:txBody>
          <a:bodyPr wrap="square" lIns="0" tIns="0" rIns="0" bIns="0" rtlCol="0" anchor="ctr"/>
          <a:lstStyle/>
          <a:p>
            <a:pPr indent="0" marL="0">
              <a:buNone/>
            </a:pPr>
            <a:r>
              <a:rPr lang="en-US" sz="900" dirty="0">
                <a:solidFill>
                  <a:srgbClr val="898781"/>
                </a:solidFill>
                <a:latin typeface="Calibri" pitchFamily="34" charset="0"/>
                <a:ea typeface="Calibri" pitchFamily="34" charset="-122"/>
                <a:cs typeface="Calibri" pitchFamily="34" charset="-120"/>
              </a:rPr>
              <a:t>Commercial Department   ·   Outstanding Projects &amp; Deliverables   ·   18 September 2026</a:t>
            </a:r>
            <a:endParaRPr lang="en-US" sz="900" dirty="0"/>
          </a:p>
        </p:txBody>
      </p:sp>
      <p:sp>
        <p:nvSpPr>
          <p:cNvPr id="41" name="Text 39"/>
          <p:cNvSpPr txBox="1"/>
          <p:nvPr/>
        </p:nvSpPr>
        <p:spPr>
          <a:xfrm>
            <a:off x="10984687" y="6355080"/>
            <a:ext cx="640080" cy="274320"/>
          </a:xfrm>
          <a:prstGeom prst="rect">
            <a:avLst/>
          </a:prstGeom>
          <a:noFill/>
          <a:ln/>
        </p:spPr>
        <p:txBody>
          <a:bodyPr wrap="square" lIns="0" tIns="0" rIns="0" bIns="0"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66928" y="420624"/>
            <a:ext cx="11057839" cy="219456"/>
          </a:xfrm>
          <a:prstGeom prst="rect">
            <a:avLst/>
          </a:prstGeom>
          <a:noFill/>
          <a:ln/>
        </p:spPr>
        <p:txBody>
          <a:bodyPr wrap="square" lIns="0" tIns="0" rIns="0" bIns="0" rtlCol="0" anchor="ctr"/>
          <a:lstStyle/>
          <a:p>
            <a:pPr indent="0" marL="0">
              <a:buNone/>
            </a:pPr>
            <a:r>
              <a:rPr lang="en-US" sz="1050" b="1" spc="160" kern="0" dirty="0">
                <a:solidFill>
                  <a:srgbClr val="2A78D6"/>
                </a:solidFill>
                <a:latin typeface="Calibri" pitchFamily="34" charset="0"/>
                <a:ea typeface="Calibri" pitchFamily="34" charset="-122"/>
                <a:cs typeface="Calibri" pitchFamily="34" charset="-120"/>
              </a:rPr>
              <a:t>PORTFOLIO HEALTH</a:t>
            </a:r>
            <a:endParaRPr lang="en-US" sz="1050" dirty="0"/>
          </a:p>
        </p:txBody>
      </p:sp>
      <p:sp>
        <p:nvSpPr>
          <p:cNvPr id="3" name="Text 1"/>
          <p:cNvSpPr txBox="1"/>
          <p:nvPr/>
        </p:nvSpPr>
        <p:spPr>
          <a:xfrm>
            <a:off x="566928" y="676656"/>
            <a:ext cx="11057839" cy="566928"/>
          </a:xfrm>
          <a:prstGeom prst="rect">
            <a:avLst/>
          </a:prstGeom>
          <a:noFill/>
          <a:ln/>
        </p:spPr>
        <p:txBody>
          <a:bodyPr wrap="square" lIns="0" tIns="0" rIns="0" bIns="0" rtlCol="0" anchor="ctr"/>
          <a:lstStyle/>
          <a:p>
            <a:pPr indent="0" marL="0">
              <a:buNone/>
            </a:pPr>
            <a:r>
              <a:rPr lang="en-US" sz="3100" b="1" dirty="0">
                <a:solidFill>
                  <a:srgbClr val="1B2A41"/>
                </a:solidFill>
                <a:latin typeface="Cambria" pitchFamily="34" charset="0"/>
                <a:ea typeface="Cambria" pitchFamily="34" charset="-122"/>
                <a:cs typeface="Cambria" pitchFamily="34" charset="-120"/>
              </a:rPr>
              <a:t>Where the 22 Deliverables Stand</a:t>
            </a:r>
            <a:endParaRPr lang="en-US" sz="3100" dirty="0"/>
          </a:p>
        </p:txBody>
      </p:sp>
      <p:graphicFrame>
        <p:nvGraphicFramePr>
          <p:cNvPr id="4" name="Chart 0" descr=""/>
          <p:cNvGraphicFramePr/>
          <p:nvPr/>
        </p:nvGraphicFramePr>
        <p:xfrm>
          <a:off x="566928" y="1499616"/>
          <a:ext cx="4846320" cy="41148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2075688" y="3054096"/>
            <a:ext cx="1828800" cy="566928"/>
          </a:xfrm>
          <a:prstGeom prst="rect">
            <a:avLst/>
          </a:prstGeom>
          <a:noFill/>
          <a:ln/>
        </p:spPr>
        <p:txBody>
          <a:bodyPr wrap="square" lIns="0" tIns="0" rIns="0" bIns="0" rtlCol="0" anchor="ctr"/>
          <a:lstStyle/>
          <a:p>
            <a:pPr algn="ctr" indent="0" marL="0">
              <a:buNone/>
            </a:pPr>
            <a:r>
              <a:rPr lang="en-US" sz="4000" b="1" dirty="0">
                <a:solidFill>
                  <a:srgbClr val="1B2A41"/>
                </a:solidFill>
                <a:latin typeface="Cambria" pitchFamily="34" charset="0"/>
                <a:ea typeface="Cambria" pitchFamily="34" charset="-122"/>
                <a:cs typeface="Cambria" pitchFamily="34" charset="-120"/>
              </a:rPr>
              <a:t>22</a:t>
            </a:r>
            <a:endParaRPr lang="en-US" sz="4000" dirty="0"/>
          </a:p>
        </p:txBody>
      </p:sp>
      <p:sp>
        <p:nvSpPr>
          <p:cNvPr id="6" name="Text 3"/>
          <p:cNvSpPr txBox="1"/>
          <p:nvPr/>
        </p:nvSpPr>
        <p:spPr>
          <a:xfrm>
            <a:off x="2075688" y="3602736"/>
            <a:ext cx="1828800" cy="256032"/>
          </a:xfrm>
          <a:prstGeom prst="rect">
            <a:avLst/>
          </a:prstGeom>
          <a:noFill/>
          <a:ln/>
        </p:spPr>
        <p:txBody>
          <a:bodyPr wrap="square" lIns="0" tIns="0" rIns="0" bIns="0" rtlCol="0" anchor="ctr"/>
          <a:lstStyle/>
          <a:p>
            <a:pPr algn="ctr" indent="0" marL="0">
              <a:buNone/>
            </a:pPr>
            <a:r>
              <a:rPr lang="en-US" sz="1100" dirty="0">
                <a:solidFill>
                  <a:srgbClr val="898781"/>
                </a:solidFill>
                <a:latin typeface="Calibri" pitchFamily="34" charset="0"/>
                <a:ea typeface="Calibri" pitchFamily="34" charset="-122"/>
                <a:cs typeface="Calibri" pitchFamily="34" charset="-120"/>
              </a:rPr>
              <a:t>deliverables</a:t>
            </a:r>
            <a:endParaRPr lang="en-US" sz="1100" dirty="0"/>
          </a:p>
        </p:txBody>
      </p:sp>
      <p:sp>
        <p:nvSpPr>
          <p:cNvPr id="7" name="Shape 4"/>
          <p:cNvSpPr/>
          <p:nvPr/>
        </p:nvSpPr>
        <p:spPr>
          <a:xfrm>
            <a:off x="5760720" y="1554480"/>
            <a:ext cx="5864047" cy="731520"/>
          </a:xfrm>
          <a:prstGeom prst="roundRect">
            <a:avLst>
              <a:gd name="adj" fmla="val 12500"/>
            </a:avLst>
          </a:prstGeom>
          <a:solidFill>
            <a:srgbClr val="F2F5F8"/>
          </a:solidFill>
          <a:ln w="12700">
            <a:solidFill>
              <a:srgbClr val="E1E0D9"/>
            </a:solidFill>
            <a:prstDash val="solid"/>
          </a:ln>
          <a:effectLst>
            <a:outerShdw sx="100000" sy="100000" kx="0" ky="0" algn="bl" rotWithShape="0" blurRad="101600" dist="50800" dir="5400000">
              <a:srgbClr val="FFFFFF">
                <a:alpha val="75000"/>
              </a:srgbClr>
            </a:outerShdw>
          </a:effectLst>
        </p:spPr>
      </p:sp>
      <p:sp>
        <p:nvSpPr>
          <p:cNvPr id="8" name="Shape 5"/>
          <p:cNvSpPr/>
          <p:nvPr/>
        </p:nvSpPr>
        <p:spPr>
          <a:xfrm>
            <a:off x="5971032" y="1801368"/>
            <a:ext cx="237744" cy="237744"/>
          </a:xfrm>
          <a:prstGeom prst="ellipse">
            <a:avLst/>
          </a:prstGeom>
          <a:solidFill>
            <a:srgbClr val="0CA30C"/>
          </a:solidFill>
          <a:ln/>
        </p:spPr>
      </p:sp>
      <p:sp>
        <p:nvSpPr>
          <p:cNvPr id="9" name="Text 6"/>
          <p:cNvSpPr txBox="1"/>
          <p:nvPr/>
        </p:nvSpPr>
        <p:spPr>
          <a:xfrm>
            <a:off x="6382512" y="1673352"/>
            <a:ext cx="2468880" cy="256032"/>
          </a:xfrm>
          <a:prstGeom prst="rect">
            <a:avLst/>
          </a:prstGeom>
          <a:noFill/>
          <a:ln/>
        </p:spPr>
        <p:txBody>
          <a:bodyPr wrap="square" lIns="0" tIns="0" rIns="0" bIns="0" rtlCol="0" anchor="ctr"/>
          <a:lstStyle/>
          <a:p>
            <a:pPr indent="0" marL="0">
              <a:buNone/>
            </a:pPr>
            <a:r>
              <a:rPr lang="en-US" sz="1300" b="1" dirty="0">
                <a:solidFill>
                  <a:srgbClr val="1B2A41"/>
                </a:solidFill>
                <a:latin typeface="Calibri" pitchFamily="34" charset="0"/>
                <a:ea typeface="Calibri" pitchFamily="34" charset="-122"/>
                <a:cs typeface="Calibri" pitchFamily="34" charset="-120"/>
              </a:rPr>
              <a:t>Delivered</a:t>
            </a:r>
            <a:endParaRPr lang="en-US" sz="1300" dirty="0"/>
          </a:p>
        </p:txBody>
      </p:sp>
      <p:sp>
        <p:nvSpPr>
          <p:cNvPr id="10" name="Text 7"/>
          <p:cNvSpPr txBox="1"/>
          <p:nvPr/>
        </p:nvSpPr>
        <p:spPr>
          <a:xfrm>
            <a:off x="6382512" y="1929384"/>
            <a:ext cx="2834640" cy="237744"/>
          </a:xfrm>
          <a:prstGeom prst="rect">
            <a:avLst/>
          </a:prstGeom>
          <a:noFill/>
          <a:ln/>
        </p:spPr>
        <p:txBody>
          <a:bodyPr wrap="square" lIns="0" tIns="0" rIns="0" bIns="0" rtlCol="0" anchor="ctr"/>
          <a:lstStyle/>
          <a:p>
            <a:pPr indent="0" marL="0">
              <a:buNone/>
            </a:pPr>
            <a:r>
              <a:rPr lang="en-US" sz="950" dirty="0">
                <a:solidFill>
                  <a:srgbClr val="898781"/>
                </a:solidFill>
                <a:latin typeface="Calibri" pitchFamily="34" charset="0"/>
                <a:ea typeface="Calibri" pitchFamily="34" charset="-122"/>
                <a:cs typeface="Calibri" pitchFamily="34" charset="-120"/>
              </a:rPr>
              <a:t>Signed off and issued</a:t>
            </a:r>
            <a:endParaRPr lang="en-US" sz="950" dirty="0"/>
          </a:p>
        </p:txBody>
      </p:sp>
      <p:sp>
        <p:nvSpPr>
          <p:cNvPr id="11" name="Text 8"/>
          <p:cNvSpPr txBox="1"/>
          <p:nvPr/>
        </p:nvSpPr>
        <p:spPr>
          <a:xfrm>
            <a:off x="9372600" y="1709928"/>
            <a:ext cx="960120" cy="420624"/>
          </a:xfrm>
          <a:prstGeom prst="rect">
            <a:avLst/>
          </a:prstGeom>
          <a:noFill/>
          <a:ln/>
        </p:spPr>
        <p:txBody>
          <a:bodyPr wrap="square" lIns="0" tIns="0" rIns="0" bIns="0" rtlCol="0" anchor="ctr"/>
          <a:lstStyle/>
          <a:p>
            <a:pPr algn="r" indent="0" marL="0">
              <a:buNone/>
            </a:pPr>
            <a:r>
              <a:rPr lang="en-US" sz="2400" b="1" dirty="0">
                <a:solidFill>
                  <a:srgbClr val="1B2A41"/>
                </a:solidFill>
                <a:latin typeface="Cambria" pitchFamily="34" charset="0"/>
                <a:ea typeface="Cambria" pitchFamily="34" charset="-122"/>
                <a:cs typeface="Cambria" pitchFamily="34" charset="-120"/>
              </a:rPr>
              <a:t>17</a:t>
            </a:r>
            <a:endParaRPr lang="en-US" sz="2400" dirty="0"/>
          </a:p>
        </p:txBody>
      </p:sp>
      <p:sp>
        <p:nvSpPr>
          <p:cNvPr id="12" name="Text 9"/>
          <p:cNvSpPr txBox="1"/>
          <p:nvPr/>
        </p:nvSpPr>
        <p:spPr>
          <a:xfrm>
            <a:off x="10387584" y="1792224"/>
            <a:ext cx="960120" cy="274320"/>
          </a:xfrm>
          <a:prstGeom prst="rect">
            <a:avLst/>
          </a:prstGeom>
          <a:noFill/>
          <a:ln/>
        </p:spPr>
        <p:txBody>
          <a:bodyPr wrap="square" lIns="0" tIns="0" rIns="0" bIns="0" rtlCol="0" anchor="ctr"/>
          <a:lstStyle/>
          <a:p>
            <a:pPr algn="r" indent="0" marL="0">
              <a:buNone/>
            </a:pPr>
            <a:r>
              <a:rPr lang="en-US" sz="1200" dirty="0">
                <a:solidFill>
                  <a:srgbClr val="52514E"/>
                </a:solidFill>
                <a:latin typeface="Calibri" pitchFamily="34" charset="0"/>
                <a:ea typeface="Calibri" pitchFamily="34" charset="-122"/>
                <a:cs typeface="Calibri" pitchFamily="34" charset="-120"/>
              </a:rPr>
              <a:t>77%</a:t>
            </a:r>
            <a:endParaRPr lang="en-US" sz="1200" dirty="0"/>
          </a:p>
        </p:txBody>
      </p:sp>
      <p:sp>
        <p:nvSpPr>
          <p:cNvPr id="13" name="Shape 10"/>
          <p:cNvSpPr/>
          <p:nvPr/>
        </p:nvSpPr>
        <p:spPr>
          <a:xfrm>
            <a:off x="5760720" y="2404872"/>
            <a:ext cx="5864047" cy="731520"/>
          </a:xfrm>
          <a:prstGeom prst="roundRect">
            <a:avLst>
              <a:gd name="adj" fmla="val 12500"/>
            </a:avLst>
          </a:prstGeom>
          <a:solidFill>
            <a:srgbClr val="F2F5F8"/>
          </a:solidFill>
          <a:ln w="12700">
            <a:solidFill>
              <a:srgbClr val="E1E0D9"/>
            </a:solidFill>
            <a:prstDash val="solid"/>
          </a:ln>
          <a:effectLst>
            <a:outerShdw sx="100000" sy="100000" kx="0" ky="0" algn="bl" rotWithShape="0" blurRad="101600" dist="50800" dir="5400000">
              <a:srgbClr val="FFFFFF">
                <a:alpha val="75000"/>
              </a:srgbClr>
            </a:outerShdw>
          </a:effectLst>
        </p:spPr>
      </p:sp>
      <p:sp>
        <p:nvSpPr>
          <p:cNvPr id="14" name="Shape 11"/>
          <p:cNvSpPr/>
          <p:nvPr/>
        </p:nvSpPr>
        <p:spPr>
          <a:xfrm>
            <a:off x="5971032" y="2651760"/>
            <a:ext cx="237744" cy="237744"/>
          </a:xfrm>
          <a:prstGeom prst="ellipse">
            <a:avLst/>
          </a:prstGeom>
          <a:solidFill>
            <a:srgbClr val="FAB219"/>
          </a:solidFill>
          <a:ln/>
        </p:spPr>
      </p:sp>
      <p:sp>
        <p:nvSpPr>
          <p:cNvPr id="15" name="Text 12"/>
          <p:cNvSpPr txBox="1"/>
          <p:nvPr/>
        </p:nvSpPr>
        <p:spPr>
          <a:xfrm>
            <a:off x="6382512" y="2523744"/>
            <a:ext cx="2468880" cy="256032"/>
          </a:xfrm>
          <a:prstGeom prst="rect">
            <a:avLst/>
          </a:prstGeom>
          <a:noFill/>
          <a:ln/>
        </p:spPr>
        <p:txBody>
          <a:bodyPr wrap="square" lIns="0" tIns="0" rIns="0" bIns="0" rtlCol="0" anchor="ctr"/>
          <a:lstStyle/>
          <a:p>
            <a:pPr indent="0" marL="0">
              <a:buNone/>
            </a:pPr>
            <a:r>
              <a:rPr lang="en-US" sz="1300" b="1" dirty="0">
                <a:solidFill>
                  <a:srgbClr val="1B2A41"/>
                </a:solidFill>
                <a:latin typeface="Calibri" pitchFamily="34" charset="0"/>
                <a:ea typeface="Calibri" pitchFamily="34" charset="-122"/>
                <a:cs typeface="Calibri" pitchFamily="34" charset="-120"/>
              </a:rPr>
              <a:t>In progress</a:t>
            </a:r>
            <a:endParaRPr lang="en-US" sz="1300" dirty="0"/>
          </a:p>
        </p:txBody>
      </p:sp>
      <p:sp>
        <p:nvSpPr>
          <p:cNvPr id="16" name="Text 13"/>
          <p:cNvSpPr txBox="1"/>
          <p:nvPr/>
        </p:nvSpPr>
        <p:spPr>
          <a:xfrm>
            <a:off x="6382512" y="2779776"/>
            <a:ext cx="2834640" cy="237744"/>
          </a:xfrm>
          <a:prstGeom prst="rect">
            <a:avLst/>
          </a:prstGeom>
          <a:noFill/>
          <a:ln/>
        </p:spPr>
        <p:txBody>
          <a:bodyPr wrap="square" lIns="0" tIns="0" rIns="0" bIns="0" rtlCol="0" anchor="ctr"/>
          <a:lstStyle/>
          <a:p>
            <a:pPr indent="0" marL="0">
              <a:buNone/>
            </a:pPr>
            <a:r>
              <a:rPr lang="en-US" sz="950" dirty="0">
                <a:solidFill>
                  <a:srgbClr val="898781"/>
                </a:solidFill>
                <a:latin typeface="Calibri" pitchFamily="34" charset="0"/>
                <a:ea typeface="Calibri" pitchFamily="34" charset="-122"/>
                <a:cs typeface="Calibri" pitchFamily="34" charset="-120"/>
              </a:rPr>
              <a:t>Started but short of the plan</a:t>
            </a:r>
            <a:endParaRPr lang="en-US" sz="950" dirty="0"/>
          </a:p>
        </p:txBody>
      </p:sp>
      <p:sp>
        <p:nvSpPr>
          <p:cNvPr id="17" name="Text 14"/>
          <p:cNvSpPr txBox="1"/>
          <p:nvPr/>
        </p:nvSpPr>
        <p:spPr>
          <a:xfrm>
            <a:off x="9372600" y="2560320"/>
            <a:ext cx="960120" cy="420624"/>
          </a:xfrm>
          <a:prstGeom prst="rect">
            <a:avLst/>
          </a:prstGeom>
          <a:noFill/>
          <a:ln/>
        </p:spPr>
        <p:txBody>
          <a:bodyPr wrap="square" lIns="0" tIns="0" rIns="0" bIns="0" rtlCol="0" anchor="ctr"/>
          <a:lstStyle/>
          <a:p>
            <a:pPr algn="r" indent="0" marL="0">
              <a:buNone/>
            </a:pPr>
            <a:r>
              <a:rPr lang="en-US" sz="2400" b="1" dirty="0">
                <a:solidFill>
                  <a:srgbClr val="1B2A41"/>
                </a:solidFill>
                <a:latin typeface="Cambria" pitchFamily="34" charset="0"/>
                <a:ea typeface="Cambria" pitchFamily="34" charset="-122"/>
                <a:cs typeface="Cambria" pitchFamily="34" charset="-120"/>
              </a:rPr>
              <a:t>4</a:t>
            </a:r>
            <a:endParaRPr lang="en-US" sz="2400" dirty="0"/>
          </a:p>
        </p:txBody>
      </p:sp>
      <p:sp>
        <p:nvSpPr>
          <p:cNvPr id="18" name="Text 15"/>
          <p:cNvSpPr txBox="1"/>
          <p:nvPr/>
        </p:nvSpPr>
        <p:spPr>
          <a:xfrm>
            <a:off x="10387584" y="2642616"/>
            <a:ext cx="960120" cy="274320"/>
          </a:xfrm>
          <a:prstGeom prst="rect">
            <a:avLst/>
          </a:prstGeom>
          <a:noFill/>
          <a:ln/>
        </p:spPr>
        <p:txBody>
          <a:bodyPr wrap="square" lIns="0" tIns="0" rIns="0" bIns="0" rtlCol="0" anchor="ctr"/>
          <a:lstStyle/>
          <a:p>
            <a:pPr algn="r" indent="0" marL="0">
              <a:buNone/>
            </a:pPr>
            <a:r>
              <a:rPr lang="en-US" sz="1200" dirty="0">
                <a:solidFill>
                  <a:srgbClr val="52514E"/>
                </a:solidFill>
                <a:latin typeface="Calibri" pitchFamily="34" charset="0"/>
                <a:ea typeface="Calibri" pitchFamily="34" charset="-122"/>
                <a:cs typeface="Calibri" pitchFamily="34" charset="-120"/>
              </a:rPr>
              <a:t>18%</a:t>
            </a:r>
            <a:endParaRPr lang="en-US" sz="1200" dirty="0"/>
          </a:p>
        </p:txBody>
      </p:sp>
      <p:sp>
        <p:nvSpPr>
          <p:cNvPr id="19" name="Shape 16"/>
          <p:cNvSpPr/>
          <p:nvPr/>
        </p:nvSpPr>
        <p:spPr>
          <a:xfrm>
            <a:off x="5760720" y="3255264"/>
            <a:ext cx="5864047" cy="731520"/>
          </a:xfrm>
          <a:prstGeom prst="roundRect">
            <a:avLst>
              <a:gd name="adj" fmla="val 12500"/>
            </a:avLst>
          </a:prstGeom>
          <a:solidFill>
            <a:srgbClr val="F2F5F8"/>
          </a:solidFill>
          <a:ln w="12700">
            <a:solidFill>
              <a:srgbClr val="E1E0D9"/>
            </a:solidFill>
            <a:prstDash val="solid"/>
          </a:ln>
          <a:effectLst>
            <a:outerShdw sx="100000" sy="100000" kx="0" ky="0" algn="bl" rotWithShape="0" blurRad="101600" dist="50800" dir="5400000">
              <a:srgbClr val="FFFFFF">
                <a:alpha val="75000"/>
              </a:srgbClr>
            </a:outerShdw>
          </a:effectLst>
        </p:spPr>
      </p:sp>
      <p:sp>
        <p:nvSpPr>
          <p:cNvPr id="20" name="Shape 17"/>
          <p:cNvSpPr/>
          <p:nvPr/>
        </p:nvSpPr>
        <p:spPr>
          <a:xfrm>
            <a:off x="5971032" y="3502152"/>
            <a:ext cx="237744" cy="237744"/>
          </a:xfrm>
          <a:prstGeom prst="ellipse">
            <a:avLst/>
          </a:prstGeom>
          <a:solidFill>
            <a:srgbClr val="898781"/>
          </a:solidFill>
          <a:ln/>
        </p:spPr>
      </p:sp>
      <p:sp>
        <p:nvSpPr>
          <p:cNvPr id="21" name="Text 18"/>
          <p:cNvSpPr txBox="1"/>
          <p:nvPr/>
        </p:nvSpPr>
        <p:spPr>
          <a:xfrm>
            <a:off x="6382512" y="3374136"/>
            <a:ext cx="2468880" cy="256032"/>
          </a:xfrm>
          <a:prstGeom prst="rect">
            <a:avLst/>
          </a:prstGeom>
          <a:noFill/>
          <a:ln/>
        </p:spPr>
        <p:txBody>
          <a:bodyPr wrap="square" lIns="0" tIns="0" rIns="0" bIns="0" rtlCol="0" anchor="ctr"/>
          <a:lstStyle/>
          <a:p>
            <a:pPr indent="0" marL="0">
              <a:buNone/>
            </a:pPr>
            <a:r>
              <a:rPr lang="en-US" sz="1300" b="1" dirty="0">
                <a:solidFill>
                  <a:srgbClr val="1B2A41"/>
                </a:solidFill>
                <a:latin typeface="Calibri" pitchFamily="34" charset="0"/>
                <a:ea typeface="Calibri" pitchFamily="34" charset="-122"/>
                <a:cs typeface="Calibri" pitchFamily="34" charset="-120"/>
              </a:rPr>
              <a:t>Not started</a:t>
            </a:r>
            <a:endParaRPr lang="en-US" sz="1300" dirty="0"/>
          </a:p>
        </p:txBody>
      </p:sp>
      <p:sp>
        <p:nvSpPr>
          <p:cNvPr id="22" name="Text 19"/>
          <p:cNvSpPr txBox="1"/>
          <p:nvPr/>
        </p:nvSpPr>
        <p:spPr>
          <a:xfrm>
            <a:off x="6382512" y="3630168"/>
            <a:ext cx="2834640" cy="237744"/>
          </a:xfrm>
          <a:prstGeom prst="rect">
            <a:avLst/>
          </a:prstGeom>
          <a:noFill/>
          <a:ln/>
        </p:spPr>
        <p:txBody>
          <a:bodyPr wrap="square" lIns="0" tIns="0" rIns="0" bIns="0" rtlCol="0" anchor="ctr"/>
          <a:lstStyle/>
          <a:p>
            <a:pPr indent="0" marL="0">
              <a:buNone/>
            </a:pPr>
            <a:r>
              <a:rPr lang="en-US" sz="950" dirty="0">
                <a:solidFill>
                  <a:srgbClr val="898781"/>
                </a:solidFill>
                <a:latin typeface="Calibri" pitchFamily="34" charset="0"/>
                <a:ea typeface="Calibri" pitchFamily="34" charset="-122"/>
                <a:cs typeface="Calibri" pitchFamily="34" charset="-120"/>
              </a:rPr>
              <a:t>Zero progress, still within plan</a:t>
            </a:r>
            <a:endParaRPr lang="en-US" sz="950" dirty="0"/>
          </a:p>
        </p:txBody>
      </p:sp>
      <p:sp>
        <p:nvSpPr>
          <p:cNvPr id="23" name="Text 20"/>
          <p:cNvSpPr txBox="1"/>
          <p:nvPr/>
        </p:nvSpPr>
        <p:spPr>
          <a:xfrm>
            <a:off x="9372600" y="3410712"/>
            <a:ext cx="960120" cy="420624"/>
          </a:xfrm>
          <a:prstGeom prst="rect">
            <a:avLst/>
          </a:prstGeom>
          <a:noFill/>
          <a:ln/>
        </p:spPr>
        <p:txBody>
          <a:bodyPr wrap="square" lIns="0" tIns="0" rIns="0" bIns="0" rtlCol="0" anchor="ctr"/>
          <a:lstStyle/>
          <a:p>
            <a:pPr algn="r" indent="0" marL="0">
              <a:buNone/>
            </a:pPr>
            <a:r>
              <a:rPr lang="en-US" sz="2400" b="1" dirty="0">
                <a:solidFill>
                  <a:srgbClr val="1B2A41"/>
                </a:solidFill>
                <a:latin typeface="Cambria" pitchFamily="34" charset="0"/>
                <a:ea typeface="Cambria" pitchFamily="34" charset="-122"/>
                <a:cs typeface="Cambria" pitchFamily="34" charset="-120"/>
              </a:rPr>
              <a:t>1</a:t>
            </a:r>
            <a:endParaRPr lang="en-US" sz="2400" dirty="0"/>
          </a:p>
        </p:txBody>
      </p:sp>
      <p:sp>
        <p:nvSpPr>
          <p:cNvPr id="24" name="Text 21"/>
          <p:cNvSpPr txBox="1"/>
          <p:nvPr/>
        </p:nvSpPr>
        <p:spPr>
          <a:xfrm>
            <a:off x="10387584" y="3493008"/>
            <a:ext cx="960120" cy="274320"/>
          </a:xfrm>
          <a:prstGeom prst="rect">
            <a:avLst/>
          </a:prstGeom>
          <a:noFill/>
          <a:ln/>
        </p:spPr>
        <p:txBody>
          <a:bodyPr wrap="square" lIns="0" tIns="0" rIns="0" bIns="0" rtlCol="0" anchor="ctr"/>
          <a:lstStyle/>
          <a:p>
            <a:pPr algn="r" indent="0" marL="0">
              <a:buNone/>
            </a:pPr>
            <a:r>
              <a:rPr lang="en-US" sz="1200" dirty="0">
                <a:solidFill>
                  <a:srgbClr val="52514E"/>
                </a:solidFill>
                <a:latin typeface="Calibri" pitchFamily="34" charset="0"/>
                <a:ea typeface="Calibri" pitchFamily="34" charset="-122"/>
                <a:cs typeface="Calibri" pitchFamily="34" charset="-120"/>
              </a:rPr>
              <a:t>5%</a:t>
            </a:r>
            <a:endParaRPr lang="en-US" sz="1200" dirty="0"/>
          </a:p>
        </p:txBody>
      </p:sp>
      <p:sp>
        <p:nvSpPr>
          <p:cNvPr id="25" name="Shape 22"/>
          <p:cNvSpPr/>
          <p:nvPr/>
        </p:nvSpPr>
        <p:spPr>
          <a:xfrm>
            <a:off x="5760720" y="4306824"/>
            <a:ext cx="5864047" cy="1517904"/>
          </a:xfrm>
          <a:prstGeom prst="roundRect">
            <a:avLst>
              <a:gd name="adj" fmla="val 6024"/>
            </a:avLst>
          </a:prstGeom>
          <a:solidFill>
            <a:srgbClr val="FFFFFF"/>
          </a:solidFill>
          <a:ln w="12700">
            <a:solidFill>
              <a:srgbClr val="E1E0D9"/>
            </a:solidFill>
            <a:prstDash val="solid"/>
          </a:ln>
          <a:effectLst>
            <a:outerShdw sx="100000" sy="100000" kx="0" ky="0" algn="bl" rotWithShape="0" blurRad="152400" dist="25400" dir="5400000">
              <a:srgbClr val="1B2A41">
                <a:alpha val="10000"/>
              </a:srgbClr>
            </a:outerShdw>
          </a:effectLst>
        </p:spPr>
      </p:sp>
      <p:sp>
        <p:nvSpPr>
          <p:cNvPr id="26" name="Text 23"/>
          <p:cNvSpPr txBox="1"/>
          <p:nvPr/>
        </p:nvSpPr>
        <p:spPr>
          <a:xfrm>
            <a:off x="5961888" y="4453128"/>
            <a:ext cx="5461711" cy="256032"/>
          </a:xfrm>
          <a:prstGeom prst="rect">
            <a:avLst/>
          </a:prstGeom>
          <a:noFill/>
          <a:ln/>
        </p:spPr>
        <p:txBody>
          <a:bodyPr wrap="square" lIns="0" tIns="0" rIns="0" bIns="0" rtlCol="0" anchor="ctr"/>
          <a:lstStyle/>
          <a:p>
            <a:pPr indent="0" marL="0">
              <a:buNone/>
            </a:pPr>
            <a:r>
              <a:rPr lang="en-US" sz="1250" b="1" dirty="0">
                <a:solidFill>
                  <a:srgbClr val="1B2A41"/>
                </a:solidFill>
                <a:latin typeface="Calibri" pitchFamily="34" charset="0"/>
                <a:ea typeface="Calibri" pitchFamily="34" charset="-122"/>
                <a:cs typeface="Calibri" pitchFamily="34" charset="-120"/>
              </a:rPr>
              <a:t>Progress against plan</a:t>
            </a:r>
            <a:endParaRPr lang="en-US" sz="1250" dirty="0"/>
          </a:p>
        </p:txBody>
      </p:sp>
      <p:sp>
        <p:nvSpPr>
          <p:cNvPr id="27" name="Text 24"/>
          <p:cNvSpPr txBox="1"/>
          <p:nvPr/>
        </p:nvSpPr>
        <p:spPr>
          <a:xfrm>
            <a:off x="5961888" y="4782312"/>
            <a:ext cx="960120" cy="237744"/>
          </a:xfrm>
          <a:prstGeom prst="rect">
            <a:avLst/>
          </a:prstGeom>
          <a:noFill/>
          <a:ln/>
        </p:spPr>
        <p:txBody>
          <a:bodyPr wrap="square" lIns="0" tIns="0" rIns="0" bIns="0" rtlCol="0" anchor="ctr"/>
          <a:lstStyle/>
          <a:p>
            <a:pPr indent="0" marL="0">
              <a:buNone/>
            </a:pPr>
            <a:r>
              <a:rPr lang="en-US" sz="1050" dirty="0">
                <a:solidFill>
                  <a:srgbClr val="52514E"/>
                </a:solidFill>
                <a:latin typeface="Calibri" pitchFamily="34" charset="0"/>
                <a:ea typeface="Calibri" pitchFamily="34" charset="-122"/>
                <a:cs typeface="Calibri" pitchFamily="34" charset="-120"/>
              </a:rPr>
              <a:t>Planned</a:t>
            </a:r>
            <a:endParaRPr lang="en-US" sz="1050" dirty="0"/>
          </a:p>
        </p:txBody>
      </p:sp>
      <p:sp>
        <p:nvSpPr>
          <p:cNvPr id="28" name="Shape 25"/>
          <p:cNvSpPr/>
          <p:nvPr/>
        </p:nvSpPr>
        <p:spPr>
          <a:xfrm>
            <a:off x="6986016" y="4818888"/>
            <a:ext cx="2834640" cy="155448"/>
          </a:xfrm>
          <a:prstGeom prst="roundRect">
            <a:avLst>
              <a:gd name="adj" fmla="val 50000"/>
            </a:avLst>
          </a:prstGeom>
          <a:solidFill>
            <a:srgbClr val="E3E9F0"/>
          </a:solidFill>
          <a:ln/>
        </p:spPr>
      </p:sp>
      <p:sp>
        <p:nvSpPr>
          <p:cNvPr id="29" name="Shape 26"/>
          <p:cNvSpPr/>
          <p:nvPr/>
        </p:nvSpPr>
        <p:spPr>
          <a:xfrm>
            <a:off x="6986016" y="4818888"/>
            <a:ext cx="2641884" cy="155448"/>
          </a:xfrm>
          <a:prstGeom prst="roundRect">
            <a:avLst>
              <a:gd name="adj" fmla="val 50000"/>
            </a:avLst>
          </a:prstGeom>
          <a:solidFill>
            <a:srgbClr val="EB6834"/>
          </a:solidFill>
          <a:ln/>
        </p:spPr>
      </p:sp>
      <p:sp>
        <p:nvSpPr>
          <p:cNvPr id="30" name="Text 27"/>
          <p:cNvSpPr txBox="1"/>
          <p:nvPr/>
        </p:nvSpPr>
        <p:spPr>
          <a:xfrm>
            <a:off x="9930384" y="4773168"/>
            <a:ext cx="1463040" cy="256032"/>
          </a:xfrm>
          <a:prstGeom prst="rect">
            <a:avLst/>
          </a:prstGeom>
          <a:noFill/>
          <a:ln/>
        </p:spPr>
        <p:txBody>
          <a:bodyPr wrap="square" lIns="0" tIns="0" rIns="0" bIns="0" rtlCol="0" anchor="ctr"/>
          <a:lstStyle/>
          <a:p>
            <a:pPr indent="0" marL="0">
              <a:buNone/>
            </a:pPr>
            <a:r>
              <a:rPr lang="en-US" sz="1150" b="1" dirty="0">
                <a:solidFill>
                  <a:srgbClr val="1B2A41"/>
                </a:solidFill>
                <a:latin typeface="Calibri" pitchFamily="34" charset="0"/>
                <a:ea typeface="Calibri" pitchFamily="34" charset="-122"/>
                <a:cs typeface="Calibri" pitchFamily="34" charset="-120"/>
              </a:rPr>
              <a:t>93.2%</a:t>
            </a:r>
            <a:endParaRPr lang="en-US" sz="1150" dirty="0"/>
          </a:p>
        </p:txBody>
      </p:sp>
      <p:sp>
        <p:nvSpPr>
          <p:cNvPr id="31" name="Text 28"/>
          <p:cNvSpPr txBox="1"/>
          <p:nvPr/>
        </p:nvSpPr>
        <p:spPr>
          <a:xfrm>
            <a:off x="5961888" y="5148072"/>
            <a:ext cx="960120" cy="237744"/>
          </a:xfrm>
          <a:prstGeom prst="rect">
            <a:avLst/>
          </a:prstGeom>
          <a:noFill/>
          <a:ln/>
        </p:spPr>
        <p:txBody>
          <a:bodyPr wrap="square" lIns="0" tIns="0" rIns="0" bIns="0" rtlCol="0" anchor="ctr"/>
          <a:lstStyle/>
          <a:p>
            <a:pPr indent="0" marL="0">
              <a:buNone/>
            </a:pPr>
            <a:r>
              <a:rPr lang="en-US" sz="1050" dirty="0">
                <a:solidFill>
                  <a:srgbClr val="52514E"/>
                </a:solidFill>
                <a:latin typeface="Calibri" pitchFamily="34" charset="0"/>
                <a:ea typeface="Calibri" pitchFamily="34" charset="-122"/>
                <a:cs typeface="Calibri" pitchFamily="34" charset="-120"/>
              </a:rPr>
              <a:t>Actual</a:t>
            </a:r>
            <a:endParaRPr lang="en-US" sz="1050" dirty="0"/>
          </a:p>
        </p:txBody>
      </p:sp>
      <p:sp>
        <p:nvSpPr>
          <p:cNvPr id="32" name="Shape 29"/>
          <p:cNvSpPr/>
          <p:nvPr/>
        </p:nvSpPr>
        <p:spPr>
          <a:xfrm>
            <a:off x="6986016" y="5184648"/>
            <a:ext cx="2834640" cy="155448"/>
          </a:xfrm>
          <a:prstGeom prst="roundRect">
            <a:avLst>
              <a:gd name="adj" fmla="val 50000"/>
            </a:avLst>
          </a:prstGeom>
          <a:solidFill>
            <a:srgbClr val="E3E9F0"/>
          </a:solidFill>
          <a:ln/>
        </p:spPr>
      </p:sp>
      <p:sp>
        <p:nvSpPr>
          <p:cNvPr id="33" name="Shape 30"/>
          <p:cNvSpPr/>
          <p:nvPr/>
        </p:nvSpPr>
        <p:spPr>
          <a:xfrm>
            <a:off x="6986016" y="5184648"/>
            <a:ext cx="2383932" cy="155448"/>
          </a:xfrm>
          <a:prstGeom prst="roundRect">
            <a:avLst>
              <a:gd name="adj" fmla="val 50000"/>
            </a:avLst>
          </a:prstGeom>
          <a:solidFill>
            <a:srgbClr val="2A78D6"/>
          </a:solidFill>
          <a:ln/>
        </p:spPr>
      </p:sp>
      <p:sp>
        <p:nvSpPr>
          <p:cNvPr id="34" name="Text 31"/>
          <p:cNvSpPr txBox="1"/>
          <p:nvPr/>
        </p:nvSpPr>
        <p:spPr>
          <a:xfrm>
            <a:off x="9930384" y="5138928"/>
            <a:ext cx="1463040" cy="256032"/>
          </a:xfrm>
          <a:prstGeom prst="rect">
            <a:avLst/>
          </a:prstGeom>
          <a:noFill/>
          <a:ln/>
        </p:spPr>
        <p:txBody>
          <a:bodyPr wrap="square" lIns="0" tIns="0" rIns="0" bIns="0" rtlCol="0" anchor="ctr"/>
          <a:lstStyle/>
          <a:p>
            <a:pPr indent="0" marL="0">
              <a:buNone/>
            </a:pPr>
            <a:r>
              <a:rPr lang="en-US" sz="1150" b="1" dirty="0">
                <a:solidFill>
                  <a:srgbClr val="1B2A41"/>
                </a:solidFill>
                <a:latin typeface="Calibri" pitchFamily="34" charset="0"/>
                <a:ea typeface="Calibri" pitchFamily="34" charset="-122"/>
                <a:cs typeface="Calibri" pitchFamily="34" charset="-120"/>
              </a:rPr>
              <a:t>84.1%</a:t>
            </a:r>
            <a:endParaRPr lang="en-US" sz="1150" dirty="0"/>
          </a:p>
        </p:txBody>
      </p:sp>
      <p:sp>
        <p:nvSpPr>
          <p:cNvPr id="35" name="Text 32"/>
          <p:cNvSpPr txBox="1"/>
          <p:nvPr/>
        </p:nvSpPr>
        <p:spPr>
          <a:xfrm>
            <a:off x="5961888" y="5513832"/>
            <a:ext cx="5461711" cy="237744"/>
          </a:xfrm>
          <a:prstGeom prst="rect">
            <a:avLst/>
          </a:prstGeom>
          <a:noFill/>
          <a:ln/>
        </p:spPr>
        <p:txBody>
          <a:bodyPr wrap="square" lIns="0" tIns="0" rIns="0" bIns="0" rtlCol="0" anchor="ctr"/>
          <a:lstStyle/>
          <a:p>
            <a:pPr indent="0" marL="0">
              <a:buNone/>
            </a:pPr>
            <a:r>
              <a:rPr lang="en-US" sz="1050" b="1" dirty="0">
                <a:solidFill>
                  <a:srgbClr val="D03B3B"/>
                </a:solidFill>
                <a:latin typeface="Calibri" pitchFamily="34" charset="0"/>
                <a:ea typeface="Calibri" pitchFamily="34" charset="-122"/>
                <a:cs typeface="Calibri" pitchFamily="34" charset="-120"/>
              </a:rPr>
              <a:t>9.1 points behind plan — a shortfall of two deliverables</a:t>
            </a:r>
            <a:endParaRPr lang="en-US" sz="1050" dirty="0"/>
          </a:p>
        </p:txBody>
      </p:sp>
      <p:sp>
        <p:nvSpPr>
          <p:cNvPr id="36" name="Text 33"/>
          <p:cNvSpPr txBox="1"/>
          <p:nvPr/>
        </p:nvSpPr>
        <p:spPr>
          <a:xfrm>
            <a:off x="566928" y="6355080"/>
            <a:ext cx="8961120" cy="274320"/>
          </a:xfrm>
          <a:prstGeom prst="rect">
            <a:avLst/>
          </a:prstGeom>
          <a:noFill/>
          <a:ln/>
        </p:spPr>
        <p:txBody>
          <a:bodyPr wrap="square" lIns="0" tIns="0" rIns="0" bIns="0" rtlCol="0" anchor="ctr"/>
          <a:lstStyle/>
          <a:p>
            <a:pPr indent="0" marL="0">
              <a:buNone/>
            </a:pPr>
            <a:r>
              <a:rPr lang="en-US" sz="900" dirty="0">
                <a:solidFill>
                  <a:srgbClr val="898781"/>
                </a:solidFill>
                <a:latin typeface="Calibri" pitchFamily="34" charset="0"/>
                <a:ea typeface="Calibri" pitchFamily="34" charset="-122"/>
                <a:cs typeface="Calibri" pitchFamily="34" charset="-120"/>
              </a:rPr>
              <a:t>Commercial Department   ·   Outstanding Projects &amp; Deliverables   ·   18 September 2026</a:t>
            </a:r>
            <a:endParaRPr lang="en-US" sz="900" dirty="0"/>
          </a:p>
        </p:txBody>
      </p:sp>
      <p:sp>
        <p:nvSpPr>
          <p:cNvPr id="37" name="Text 34"/>
          <p:cNvSpPr txBox="1"/>
          <p:nvPr/>
        </p:nvSpPr>
        <p:spPr>
          <a:xfrm>
            <a:off x="10984687" y="6355080"/>
            <a:ext cx="640080" cy="274320"/>
          </a:xfrm>
          <a:prstGeom prst="rect">
            <a:avLst/>
          </a:prstGeom>
          <a:noFill/>
          <a:ln/>
        </p:spPr>
        <p:txBody>
          <a:bodyPr wrap="square" lIns="0" tIns="0" rIns="0" bIns="0"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66928" y="420624"/>
            <a:ext cx="11057839" cy="219456"/>
          </a:xfrm>
          <a:prstGeom prst="rect">
            <a:avLst/>
          </a:prstGeom>
          <a:noFill/>
          <a:ln/>
        </p:spPr>
        <p:txBody>
          <a:bodyPr wrap="square" lIns="0" tIns="0" rIns="0" bIns="0" rtlCol="0" anchor="ctr"/>
          <a:lstStyle/>
          <a:p>
            <a:pPr indent="0" marL="0">
              <a:buNone/>
            </a:pPr>
            <a:r>
              <a:rPr lang="en-US" sz="1050" b="1" spc="160" kern="0" dirty="0">
                <a:solidFill>
                  <a:srgbClr val="2A78D6"/>
                </a:solidFill>
                <a:latin typeface="Calibri" pitchFamily="34" charset="0"/>
                <a:ea typeface="Calibri" pitchFamily="34" charset="-122"/>
                <a:cs typeface="Calibri" pitchFamily="34" charset="-120"/>
              </a:rPr>
              <a:t>DELIVERY PERFORMANCE</a:t>
            </a:r>
            <a:endParaRPr lang="en-US" sz="1050" dirty="0"/>
          </a:p>
        </p:txBody>
      </p:sp>
      <p:sp>
        <p:nvSpPr>
          <p:cNvPr id="3" name="Text 1"/>
          <p:cNvSpPr txBox="1"/>
          <p:nvPr/>
        </p:nvSpPr>
        <p:spPr>
          <a:xfrm>
            <a:off x="566928" y="676656"/>
            <a:ext cx="11057839" cy="566928"/>
          </a:xfrm>
          <a:prstGeom prst="rect">
            <a:avLst/>
          </a:prstGeom>
          <a:noFill/>
          <a:ln/>
        </p:spPr>
        <p:txBody>
          <a:bodyPr wrap="square" lIns="0" tIns="0" rIns="0" bIns="0" rtlCol="0" anchor="ctr"/>
          <a:lstStyle/>
          <a:p>
            <a:pPr indent="0" marL="0">
              <a:buNone/>
            </a:pPr>
            <a:r>
              <a:rPr lang="en-US" sz="3100" b="1" dirty="0">
                <a:solidFill>
                  <a:srgbClr val="1B2A41"/>
                </a:solidFill>
                <a:latin typeface="Cambria" pitchFamily="34" charset="0"/>
                <a:ea typeface="Cambria" pitchFamily="34" charset="-122"/>
                <a:cs typeface="Cambria" pitchFamily="34" charset="-120"/>
              </a:rPr>
              <a:t>Where the Portfolio Is Behind</a:t>
            </a:r>
            <a:endParaRPr lang="en-US" sz="3100" dirty="0"/>
          </a:p>
        </p:txBody>
      </p:sp>
      <p:sp>
        <p:nvSpPr>
          <p:cNvPr id="4" name="Text 2"/>
          <p:cNvSpPr txBox="1"/>
          <p:nvPr/>
        </p:nvSpPr>
        <p:spPr>
          <a:xfrm>
            <a:off x="566928" y="1261872"/>
            <a:ext cx="11057839" cy="292608"/>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The four projects carrying variance. Planned versus actual completion, averaged across each project’s deliverables.</a:t>
            </a:r>
            <a:endParaRPr lang="en-US" sz="1250" dirty="0"/>
          </a:p>
        </p:txBody>
      </p:sp>
      <p:graphicFrame>
        <p:nvGraphicFramePr>
          <p:cNvPr id="5" name="Chart 0" descr=""/>
          <p:cNvGraphicFramePr/>
          <p:nvPr/>
        </p:nvGraphicFramePr>
        <p:xfrm>
          <a:off x="566928" y="1700784"/>
          <a:ext cx="7635240" cy="39319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566928" y="5705856"/>
            <a:ext cx="7635240" cy="274320"/>
          </a:xfrm>
          <a:prstGeom prst="rect">
            <a:avLst/>
          </a:prstGeom>
          <a:noFill/>
          <a:ln/>
        </p:spPr>
        <p:txBody>
          <a:bodyPr wrap="square" lIns="0" tIns="0" rIns="0" bIns="0" rtlCol="0" anchor="ctr"/>
          <a:lstStyle/>
          <a:p>
            <a:pPr indent="0" marL="0">
              <a:buNone/>
            </a:pPr>
            <a:r>
              <a:rPr lang="en-US" sz="1000" dirty="0">
                <a:solidFill>
                  <a:srgbClr val="898781"/>
                </a:solidFill>
                <a:latin typeface="Calibri" pitchFamily="34" charset="0"/>
                <a:ea typeface="Calibri" pitchFamily="34" charset="-122"/>
                <a:cs typeface="Calibri" pitchFamily="34" charset="-120"/>
              </a:rPr>
              <a:t>Priority Insurance shows a small gap because only part of its work was scheduled to be complete by today.</a:t>
            </a:r>
            <a:endParaRPr lang="en-US" sz="1000" dirty="0"/>
          </a:p>
        </p:txBody>
      </p:sp>
      <p:sp>
        <p:nvSpPr>
          <p:cNvPr id="7" name="Shape 4"/>
          <p:cNvSpPr/>
          <p:nvPr/>
        </p:nvSpPr>
        <p:spPr>
          <a:xfrm>
            <a:off x="8494776" y="1700784"/>
            <a:ext cx="3129991" cy="1901952"/>
          </a:xfrm>
          <a:prstGeom prst="roundRect">
            <a:avLst>
              <a:gd name="adj" fmla="val 4808"/>
            </a:avLst>
          </a:prstGeom>
          <a:solidFill>
            <a:srgbClr val="F2F5F8"/>
          </a:solidFill>
          <a:ln w="12700">
            <a:solidFill>
              <a:srgbClr val="E1E0D9"/>
            </a:solidFill>
            <a:prstDash val="solid"/>
          </a:ln>
          <a:effectLst>
            <a:outerShdw sx="100000" sy="100000" kx="0" ky="0" algn="bl" rotWithShape="0" blurRad="101600" dist="50800" dir="5400000">
              <a:srgbClr val="FFFFFF">
                <a:alpha val="75000"/>
              </a:srgbClr>
            </a:outerShdw>
          </a:effectLst>
        </p:spPr>
      </p:sp>
      <p:sp>
        <p:nvSpPr>
          <p:cNvPr id="8" name="Shape 5"/>
          <p:cNvSpPr/>
          <p:nvPr/>
        </p:nvSpPr>
        <p:spPr>
          <a:xfrm>
            <a:off x="11185855" y="1938528"/>
            <a:ext cx="182880" cy="182880"/>
          </a:xfrm>
          <a:prstGeom prst="ellipse">
            <a:avLst/>
          </a:prstGeom>
          <a:solidFill>
            <a:srgbClr val="0CA30C"/>
          </a:solidFill>
          <a:ln/>
        </p:spPr>
      </p:sp>
      <p:sp>
        <p:nvSpPr>
          <p:cNvPr id="9" name="Text 6"/>
          <p:cNvSpPr txBox="1"/>
          <p:nvPr/>
        </p:nvSpPr>
        <p:spPr>
          <a:xfrm>
            <a:off x="8732520" y="1865376"/>
            <a:ext cx="2398471" cy="658368"/>
          </a:xfrm>
          <a:prstGeom prst="rect">
            <a:avLst/>
          </a:prstGeom>
          <a:noFill/>
          <a:ln/>
        </p:spPr>
        <p:txBody>
          <a:bodyPr wrap="square" lIns="0" tIns="0" rIns="0" bIns="0" rtlCol="0" anchor="ctr"/>
          <a:lstStyle/>
          <a:p>
            <a:pPr indent="0" marL="0">
              <a:buNone/>
            </a:pPr>
            <a:r>
              <a:rPr lang="en-US" sz="4600" b="1" dirty="0">
                <a:solidFill>
                  <a:srgbClr val="1B2A41"/>
                </a:solidFill>
                <a:latin typeface="Cambria" pitchFamily="34" charset="0"/>
                <a:ea typeface="Cambria" pitchFamily="34" charset="-122"/>
                <a:cs typeface="Cambria" pitchFamily="34" charset="-120"/>
              </a:rPr>
              <a:t>9</a:t>
            </a:r>
            <a:endParaRPr lang="en-US" sz="4600" dirty="0"/>
          </a:p>
        </p:txBody>
      </p:sp>
      <p:sp>
        <p:nvSpPr>
          <p:cNvPr id="10" name="Text 7"/>
          <p:cNvSpPr txBox="1"/>
          <p:nvPr/>
        </p:nvSpPr>
        <p:spPr>
          <a:xfrm>
            <a:off x="8732520" y="2542032"/>
            <a:ext cx="2654503" cy="274320"/>
          </a:xfrm>
          <a:prstGeom prst="rect">
            <a:avLst/>
          </a:prstGeom>
          <a:noFill/>
          <a:ln/>
        </p:spPr>
        <p:txBody>
          <a:bodyPr wrap="square" lIns="0" tIns="0" rIns="0" bIns="0" rtlCol="0" anchor="ctr"/>
          <a:lstStyle/>
          <a:p>
            <a:pPr indent="0" marL="0">
              <a:buNone/>
            </a:pPr>
            <a:r>
              <a:rPr lang="en-US" sz="1300" b="1" dirty="0">
                <a:solidFill>
                  <a:srgbClr val="0B0B0B"/>
                </a:solidFill>
                <a:latin typeface="Calibri" pitchFamily="34" charset="0"/>
                <a:ea typeface="Calibri" pitchFamily="34" charset="-122"/>
                <a:cs typeface="Calibri" pitchFamily="34" charset="-120"/>
              </a:rPr>
              <a:t>projects fully delivered</a:t>
            </a:r>
            <a:endParaRPr lang="en-US" sz="1300" dirty="0"/>
          </a:p>
        </p:txBody>
      </p:sp>
      <p:sp>
        <p:nvSpPr>
          <p:cNvPr id="11" name="Text 8"/>
          <p:cNvSpPr txBox="1"/>
          <p:nvPr/>
        </p:nvSpPr>
        <p:spPr>
          <a:xfrm>
            <a:off x="8732520" y="2852928"/>
            <a:ext cx="2654503" cy="621792"/>
          </a:xfrm>
          <a:prstGeom prst="rect">
            <a:avLst/>
          </a:prstGeom>
          <a:noFill/>
          <a:ln/>
        </p:spPr>
        <p:txBody>
          <a:bodyPr wrap="square" lIns="0" tIns="0" rIns="0" bIns="0" rtlCol="0" anchor="t"/>
          <a:lstStyle/>
          <a:p>
            <a:pPr indent="0" marL="0">
              <a:buNone/>
            </a:pPr>
            <a:r>
              <a:rPr lang="en-US" sz="1000" dirty="0">
                <a:solidFill>
                  <a:srgbClr val="52514E"/>
                </a:solidFill>
                <a:latin typeface="Calibri" pitchFamily="34" charset="0"/>
                <a:ea typeface="Calibri" pitchFamily="34" charset="-122"/>
                <a:cs typeface="Calibri" pitchFamily="34" charset="-120"/>
              </a:rPr>
              <a:t>Seventeen deliverables closed, every one of them at 100% of plan. The detail follows on the next slide.</a:t>
            </a:r>
            <a:endParaRPr lang="en-US" sz="1000" dirty="0"/>
          </a:p>
        </p:txBody>
      </p:sp>
      <p:sp>
        <p:nvSpPr>
          <p:cNvPr id="12" name="Shape 9"/>
          <p:cNvSpPr/>
          <p:nvPr/>
        </p:nvSpPr>
        <p:spPr>
          <a:xfrm>
            <a:off x="8494776" y="3785616"/>
            <a:ext cx="3129991" cy="1901952"/>
          </a:xfrm>
          <a:prstGeom prst="roundRect">
            <a:avLst>
              <a:gd name="adj" fmla="val 4808"/>
            </a:avLst>
          </a:prstGeom>
          <a:solidFill>
            <a:srgbClr val="F2F5F8"/>
          </a:solidFill>
          <a:ln w="12700">
            <a:solidFill>
              <a:srgbClr val="E1E0D9"/>
            </a:solidFill>
            <a:prstDash val="solid"/>
          </a:ln>
          <a:effectLst>
            <a:outerShdw sx="100000" sy="100000" kx="0" ky="0" algn="bl" rotWithShape="0" blurRad="101600" dist="50800" dir="5400000">
              <a:srgbClr val="FFFFFF">
                <a:alpha val="75000"/>
              </a:srgbClr>
            </a:outerShdw>
          </a:effectLst>
        </p:spPr>
      </p:sp>
      <p:sp>
        <p:nvSpPr>
          <p:cNvPr id="13" name="Shape 10"/>
          <p:cNvSpPr/>
          <p:nvPr/>
        </p:nvSpPr>
        <p:spPr>
          <a:xfrm>
            <a:off x="11185855" y="4023360"/>
            <a:ext cx="182880" cy="182880"/>
          </a:xfrm>
          <a:prstGeom prst="ellipse">
            <a:avLst/>
          </a:prstGeom>
          <a:solidFill>
            <a:srgbClr val="D03B3B"/>
          </a:solidFill>
          <a:ln/>
        </p:spPr>
      </p:sp>
      <p:sp>
        <p:nvSpPr>
          <p:cNvPr id="14" name="Text 11"/>
          <p:cNvSpPr txBox="1"/>
          <p:nvPr/>
        </p:nvSpPr>
        <p:spPr>
          <a:xfrm>
            <a:off x="8732520" y="3950208"/>
            <a:ext cx="2398471" cy="658368"/>
          </a:xfrm>
          <a:prstGeom prst="rect">
            <a:avLst/>
          </a:prstGeom>
          <a:noFill/>
          <a:ln/>
        </p:spPr>
        <p:txBody>
          <a:bodyPr wrap="square" lIns="0" tIns="0" rIns="0" bIns="0" rtlCol="0" anchor="ctr"/>
          <a:lstStyle/>
          <a:p>
            <a:pPr indent="0" marL="0">
              <a:buNone/>
            </a:pPr>
            <a:r>
              <a:rPr lang="en-US" sz="4600" b="1" dirty="0">
                <a:solidFill>
                  <a:srgbClr val="1B2A41"/>
                </a:solidFill>
                <a:latin typeface="Cambria" pitchFamily="34" charset="0"/>
                <a:ea typeface="Cambria" pitchFamily="34" charset="-122"/>
                <a:cs typeface="Cambria" pitchFamily="34" charset="-120"/>
              </a:rPr>
              <a:t>4</a:t>
            </a:r>
            <a:endParaRPr lang="en-US" sz="4600" dirty="0"/>
          </a:p>
        </p:txBody>
      </p:sp>
      <p:sp>
        <p:nvSpPr>
          <p:cNvPr id="15" name="Text 12"/>
          <p:cNvSpPr txBox="1"/>
          <p:nvPr/>
        </p:nvSpPr>
        <p:spPr>
          <a:xfrm>
            <a:off x="8732520" y="4626864"/>
            <a:ext cx="2654503" cy="274320"/>
          </a:xfrm>
          <a:prstGeom prst="rect">
            <a:avLst/>
          </a:prstGeom>
          <a:noFill/>
          <a:ln/>
        </p:spPr>
        <p:txBody>
          <a:bodyPr wrap="square" lIns="0" tIns="0" rIns="0" bIns="0" rtlCol="0" anchor="ctr"/>
          <a:lstStyle/>
          <a:p>
            <a:pPr indent="0" marL="0">
              <a:buNone/>
            </a:pPr>
            <a:r>
              <a:rPr lang="en-US" sz="1300" b="1" dirty="0">
                <a:solidFill>
                  <a:srgbClr val="0B0B0B"/>
                </a:solidFill>
                <a:latin typeface="Calibri" pitchFamily="34" charset="0"/>
                <a:ea typeface="Calibri" pitchFamily="34" charset="-122"/>
                <a:cs typeface="Calibri" pitchFamily="34" charset="-120"/>
              </a:rPr>
              <a:t>projects behind plan</a:t>
            </a:r>
            <a:endParaRPr lang="en-US" sz="1300" dirty="0"/>
          </a:p>
        </p:txBody>
      </p:sp>
      <p:sp>
        <p:nvSpPr>
          <p:cNvPr id="16" name="Text 13"/>
          <p:cNvSpPr txBox="1"/>
          <p:nvPr/>
        </p:nvSpPr>
        <p:spPr>
          <a:xfrm>
            <a:off x="8732520" y="4937760"/>
            <a:ext cx="2654503" cy="621792"/>
          </a:xfrm>
          <a:prstGeom prst="rect">
            <a:avLst/>
          </a:prstGeom>
          <a:noFill/>
          <a:ln/>
        </p:spPr>
        <p:txBody>
          <a:bodyPr wrap="square" lIns="0" tIns="0" rIns="0" bIns="0" rtlCol="0" anchor="t"/>
          <a:lstStyle/>
          <a:p>
            <a:pPr indent="0" marL="0">
              <a:buNone/>
            </a:pPr>
            <a:r>
              <a:rPr lang="en-US" sz="1000" dirty="0">
                <a:solidFill>
                  <a:srgbClr val="52514E"/>
                </a:solidFill>
                <a:latin typeface="Calibri" pitchFamily="34" charset="0"/>
                <a:ea typeface="Calibri" pitchFamily="34" charset="-122"/>
                <a:cs typeface="Calibri" pitchFamily="34" charset="-120"/>
              </a:rPr>
              <a:t>Between them they account for the entire shortfall of two deliverables against the September plan.</a:t>
            </a:r>
            <a:endParaRPr lang="en-US" sz="1000" dirty="0"/>
          </a:p>
        </p:txBody>
      </p:sp>
      <p:sp>
        <p:nvSpPr>
          <p:cNvPr id="17" name="Text 14"/>
          <p:cNvSpPr txBox="1"/>
          <p:nvPr/>
        </p:nvSpPr>
        <p:spPr>
          <a:xfrm>
            <a:off x="566928" y="6355080"/>
            <a:ext cx="8961120" cy="274320"/>
          </a:xfrm>
          <a:prstGeom prst="rect">
            <a:avLst/>
          </a:prstGeom>
          <a:noFill/>
          <a:ln/>
        </p:spPr>
        <p:txBody>
          <a:bodyPr wrap="square" lIns="0" tIns="0" rIns="0" bIns="0" rtlCol="0" anchor="ctr"/>
          <a:lstStyle/>
          <a:p>
            <a:pPr indent="0" marL="0">
              <a:buNone/>
            </a:pPr>
            <a:r>
              <a:rPr lang="en-US" sz="900" dirty="0">
                <a:solidFill>
                  <a:srgbClr val="898781"/>
                </a:solidFill>
                <a:latin typeface="Calibri" pitchFamily="34" charset="0"/>
                <a:ea typeface="Calibri" pitchFamily="34" charset="-122"/>
                <a:cs typeface="Calibri" pitchFamily="34" charset="-120"/>
              </a:rPr>
              <a:t>Commercial Department   ·   Outstanding Projects &amp; Deliverables   ·   18 September 2026</a:t>
            </a:r>
            <a:endParaRPr lang="en-US" sz="900" dirty="0"/>
          </a:p>
        </p:txBody>
      </p:sp>
      <p:sp>
        <p:nvSpPr>
          <p:cNvPr id="18" name="Text 15"/>
          <p:cNvSpPr txBox="1"/>
          <p:nvPr/>
        </p:nvSpPr>
        <p:spPr>
          <a:xfrm>
            <a:off x="10984687" y="6355080"/>
            <a:ext cx="640080" cy="274320"/>
          </a:xfrm>
          <a:prstGeom prst="rect">
            <a:avLst/>
          </a:prstGeom>
          <a:noFill/>
          <a:ln/>
        </p:spPr>
        <p:txBody>
          <a:bodyPr wrap="square" lIns="0" tIns="0" rIns="0" bIns="0"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66928" y="420624"/>
            <a:ext cx="11057839" cy="219456"/>
          </a:xfrm>
          <a:prstGeom prst="rect">
            <a:avLst/>
          </a:prstGeom>
          <a:noFill/>
          <a:ln/>
        </p:spPr>
        <p:txBody>
          <a:bodyPr wrap="square" lIns="0" tIns="0" rIns="0" bIns="0" rtlCol="0" anchor="ctr"/>
          <a:lstStyle/>
          <a:p>
            <a:pPr indent="0" marL="0">
              <a:buNone/>
            </a:pPr>
            <a:r>
              <a:rPr lang="en-US" sz="1050" b="1" spc="160" kern="0" dirty="0">
                <a:solidFill>
                  <a:srgbClr val="2A78D6"/>
                </a:solidFill>
                <a:latin typeface="Calibri" pitchFamily="34" charset="0"/>
                <a:ea typeface="Calibri" pitchFamily="34" charset="-122"/>
                <a:cs typeface="Calibri" pitchFamily="34" charset="-120"/>
              </a:rPr>
              <a:t>COMPLETED WORK</a:t>
            </a:r>
            <a:endParaRPr lang="en-US" sz="1050" dirty="0"/>
          </a:p>
        </p:txBody>
      </p:sp>
      <p:sp>
        <p:nvSpPr>
          <p:cNvPr id="3" name="Text 1"/>
          <p:cNvSpPr txBox="1"/>
          <p:nvPr/>
        </p:nvSpPr>
        <p:spPr>
          <a:xfrm>
            <a:off x="566928" y="676656"/>
            <a:ext cx="11057839" cy="566928"/>
          </a:xfrm>
          <a:prstGeom prst="rect">
            <a:avLst/>
          </a:prstGeom>
          <a:noFill/>
          <a:ln/>
        </p:spPr>
        <p:txBody>
          <a:bodyPr wrap="square" lIns="0" tIns="0" rIns="0" bIns="0" rtlCol="0" anchor="ctr"/>
          <a:lstStyle/>
          <a:p>
            <a:pPr indent="0" marL="0">
              <a:buNone/>
            </a:pPr>
            <a:r>
              <a:rPr lang="en-US" sz="3100" b="1" dirty="0">
                <a:solidFill>
                  <a:srgbClr val="1B2A41"/>
                </a:solidFill>
                <a:latin typeface="Cambria" pitchFamily="34" charset="0"/>
                <a:ea typeface="Cambria" pitchFamily="34" charset="-122"/>
                <a:cs typeface="Cambria" pitchFamily="34" charset="-120"/>
              </a:rPr>
              <a:t>17 Deliverables Signed Off Across 9 Projects</a:t>
            </a:r>
            <a:endParaRPr lang="en-US" sz="3100" dirty="0"/>
          </a:p>
        </p:txBody>
      </p:sp>
      <p:sp>
        <p:nvSpPr>
          <p:cNvPr id="4" name="Shape 2"/>
          <p:cNvSpPr/>
          <p:nvPr/>
        </p:nvSpPr>
        <p:spPr>
          <a:xfrm>
            <a:off x="566928" y="1408176"/>
            <a:ext cx="3515258" cy="1414272"/>
          </a:xfrm>
          <a:prstGeom prst="roundRect">
            <a:avLst>
              <a:gd name="adj" fmla="val 6466"/>
            </a:avLst>
          </a:prstGeom>
          <a:solidFill>
            <a:srgbClr val="FFFFFF"/>
          </a:solidFill>
          <a:ln w="12700">
            <a:solidFill>
              <a:srgbClr val="E1E0D9"/>
            </a:solidFill>
            <a:prstDash val="solid"/>
          </a:ln>
          <a:effectLst>
            <a:outerShdw sx="100000" sy="100000" kx="0" ky="0" algn="bl" rotWithShape="0" blurRad="152400" dist="25400" dir="5400000">
              <a:srgbClr val="1B2A41">
                <a:alpha val="10000"/>
              </a:srgbClr>
            </a:outerShdw>
          </a:effectLst>
        </p:spPr>
      </p:sp>
      <p:sp>
        <p:nvSpPr>
          <p:cNvPr id="5" name="Shape 3"/>
          <p:cNvSpPr/>
          <p:nvPr/>
        </p:nvSpPr>
        <p:spPr>
          <a:xfrm>
            <a:off x="3515258" y="1554480"/>
            <a:ext cx="402336" cy="402336"/>
          </a:xfrm>
          <a:prstGeom prst="ellipse">
            <a:avLst/>
          </a:prstGeom>
          <a:solidFill>
            <a:srgbClr val="0CA30C"/>
          </a:solidFill>
          <a:ln/>
        </p:spPr>
      </p:sp>
      <p:sp>
        <p:nvSpPr>
          <p:cNvPr id="6" name="Text 4"/>
          <p:cNvSpPr txBox="1"/>
          <p:nvPr/>
        </p:nvSpPr>
        <p:spPr>
          <a:xfrm>
            <a:off x="3515258" y="1554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7" name="Text 5"/>
          <p:cNvSpPr txBox="1"/>
          <p:nvPr/>
        </p:nvSpPr>
        <p:spPr>
          <a:xfrm>
            <a:off x="786384" y="1554480"/>
            <a:ext cx="2765450" cy="402336"/>
          </a:xfrm>
          <a:prstGeom prst="rect">
            <a:avLst/>
          </a:prstGeom>
          <a:noFill/>
          <a:ln/>
        </p:spPr>
        <p:txBody>
          <a:bodyPr wrap="square" lIns="0" tIns="0" rIns="0" bIns="0" rtlCol="0" anchor="ctr"/>
          <a:lstStyle/>
          <a:p>
            <a:pPr indent="0" marL="0">
              <a:buNone/>
            </a:pPr>
            <a:r>
              <a:rPr lang="en-US" sz="1300" b="1" dirty="0">
                <a:solidFill>
                  <a:srgbClr val="1B2A41"/>
                </a:solidFill>
                <a:latin typeface="Cambria" pitchFamily="34" charset="0"/>
                <a:ea typeface="Cambria" pitchFamily="34" charset="-122"/>
                <a:cs typeface="Cambria" pitchFamily="34" charset="-120"/>
              </a:rPr>
              <a:t>Anglogold Ashanti</a:t>
            </a:r>
            <a:endParaRPr lang="en-US" sz="1300" dirty="0"/>
          </a:p>
        </p:txBody>
      </p:sp>
      <p:sp>
        <p:nvSpPr>
          <p:cNvPr id="8" name="Text 6"/>
          <p:cNvSpPr txBox="1"/>
          <p:nvPr/>
        </p:nvSpPr>
        <p:spPr>
          <a:xfrm>
            <a:off x="859536" y="1993392"/>
            <a:ext cx="2984906" cy="499872"/>
          </a:xfrm>
          <a:prstGeom prst="rect">
            <a:avLst/>
          </a:prstGeom>
          <a:noFill/>
          <a:ln/>
        </p:spPr>
        <p:txBody>
          <a:bodyPr wrap="square" lIns="0" tIns="0" rIns="0" bIns="0" rtlCol="0" anchor="t"/>
          <a:lstStyle/>
          <a:p>
            <a:pPr marL="165100" indent="-165100">
              <a:spcAft>
                <a:spcPts val="300"/>
              </a:spcAft>
              <a:buSzPct val="100000"/>
              <a:buChar char="•"/>
            </a:pPr>
            <a:r>
              <a:rPr lang="en-US" sz="900" dirty="0">
                <a:solidFill>
                  <a:srgbClr val="52514E"/>
                </a:solidFill>
                <a:latin typeface="Calibri" pitchFamily="34" charset="0"/>
                <a:ea typeface="Calibri" pitchFamily="34" charset="-122"/>
                <a:cs typeface="Calibri" pitchFamily="34" charset="-120"/>
              </a:rPr>
              <a:t>Budget</a:t>
            </a:r>
            <a:endParaRPr lang="en-US" sz="900" dirty="0"/>
          </a:p>
          <a:p>
            <a:pPr marL="165100" indent="-165100">
              <a:spcAft>
                <a:spcPts val="300"/>
              </a:spcAft>
              <a:buSzPct val="100000"/>
              <a:buChar char="•"/>
            </a:pPr>
            <a:r>
              <a:rPr lang="en-US" sz="900" dirty="0">
                <a:solidFill>
                  <a:srgbClr val="52514E"/>
                </a:solidFill>
                <a:latin typeface="Calibri" pitchFamily="34" charset="0"/>
                <a:ea typeface="Calibri" pitchFamily="34" charset="-122"/>
                <a:cs typeface="Calibri" pitchFamily="34" charset="-120"/>
              </a:rPr>
              <a:t>Revised BoQ</a:t>
            </a:r>
            <a:endParaRPr lang="en-US" sz="900" dirty="0"/>
          </a:p>
          <a:p>
            <a:pPr marL="165100" indent="-165100">
              <a:spcAft>
                <a:spcPts val="300"/>
              </a:spcAft>
              <a:buSzPct val="100000"/>
              <a:buChar char="•"/>
            </a:pPr>
            <a:r>
              <a:rPr lang="en-US" sz="900" dirty="0">
                <a:solidFill>
                  <a:srgbClr val="52514E"/>
                </a:solidFill>
                <a:latin typeface="Calibri" pitchFamily="34" charset="0"/>
                <a:ea typeface="Calibri" pitchFamily="34" charset="-122"/>
                <a:cs typeface="Calibri" pitchFamily="34" charset="-120"/>
              </a:rPr>
              <a:t>Valuation report</a:t>
            </a:r>
            <a:endParaRPr lang="en-US" sz="900" dirty="0"/>
          </a:p>
        </p:txBody>
      </p:sp>
      <p:sp>
        <p:nvSpPr>
          <p:cNvPr id="9" name="Text 7"/>
          <p:cNvSpPr txBox="1"/>
          <p:nvPr/>
        </p:nvSpPr>
        <p:spPr>
          <a:xfrm>
            <a:off x="786384" y="2493264"/>
            <a:ext cx="3076346" cy="237744"/>
          </a:xfrm>
          <a:prstGeom prst="rect">
            <a:avLst/>
          </a:prstGeom>
          <a:noFill/>
          <a:ln/>
        </p:spPr>
        <p:txBody>
          <a:bodyPr wrap="square" lIns="0" tIns="0" rIns="0" bIns="0" rtlCol="0" anchor="ctr"/>
          <a:lstStyle/>
          <a:p>
            <a:pPr indent="0" marL="0">
              <a:buNone/>
            </a:pPr>
            <a:r>
              <a:rPr lang="en-US" sz="900" b="1" dirty="0">
                <a:solidFill>
                  <a:srgbClr val="898781"/>
                </a:solidFill>
                <a:latin typeface="Calibri" pitchFamily="34" charset="0"/>
                <a:ea typeface="Calibri" pitchFamily="34" charset="-122"/>
                <a:cs typeface="Calibri" pitchFamily="34" charset="-120"/>
              </a:rPr>
              <a:t>Gilbert, Sedem</a:t>
            </a:r>
            <a:endParaRPr lang="en-US" sz="900" dirty="0"/>
          </a:p>
        </p:txBody>
      </p:sp>
      <p:sp>
        <p:nvSpPr>
          <p:cNvPr id="10" name="Shape 8"/>
          <p:cNvSpPr/>
          <p:nvPr/>
        </p:nvSpPr>
        <p:spPr>
          <a:xfrm>
            <a:off x="4338218" y="1408176"/>
            <a:ext cx="3515258" cy="1414272"/>
          </a:xfrm>
          <a:prstGeom prst="roundRect">
            <a:avLst>
              <a:gd name="adj" fmla="val 6466"/>
            </a:avLst>
          </a:prstGeom>
          <a:solidFill>
            <a:srgbClr val="FFFFFF"/>
          </a:solidFill>
          <a:ln w="12700">
            <a:solidFill>
              <a:srgbClr val="E1E0D9"/>
            </a:solidFill>
            <a:prstDash val="solid"/>
          </a:ln>
          <a:effectLst>
            <a:outerShdw sx="100000" sy="100000" kx="0" ky="0" algn="bl" rotWithShape="0" blurRad="152400" dist="25400" dir="5400000">
              <a:srgbClr val="1B2A41">
                <a:alpha val="10000"/>
              </a:srgbClr>
            </a:outerShdw>
          </a:effectLst>
        </p:spPr>
      </p:sp>
      <p:sp>
        <p:nvSpPr>
          <p:cNvPr id="11" name="Shape 9"/>
          <p:cNvSpPr/>
          <p:nvPr/>
        </p:nvSpPr>
        <p:spPr>
          <a:xfrm>
            <a:off x="7286549" y="1554480"/>
            <a:ext cx="402336" cy="402336"/>
          </a:xfrm>
          <a:prstGeom prst="ellipse">
            <a:avLst/>
          </a:prstGeom>
          <a:solidFill>
            <a:srgbClr val="0CA30C"/>
          </a:solidFill>
          <a:ln/>
        </p:spPr>
      </p:sp>
      <p:sp>
        <p:nvSpPr>
          <p:cNvPr id="12" name="Text 10"/>
          <p:cNvSpPr txBox="1"/>
          <p:nvPr/>
        </p:nvSpPr>
        <p:spPr>
          <a:xfrm>
            <a:off x="7286549" y="1554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txBox="1"/>
          <p:nvPr/>
        </p:nvSpPr>
        <p:spPr>
          <a:xfrm>
            <a:off x="4557674" y="1554480"/>
            <a:ext cx="2765450" cy="402336"/>
          </a:xfrm>
          <a:prstGeom prst="rect">
            <a:avLst/>
          </a:prstGeom>
          <a:noFill/>
          <a:ln/>
        </p:spPr>
        <p:txBody>
          <a:bodyPr wrap="square" lIns="0" tIns="0" rIns="0" bIns="0" rtlCol="0" anchor="ctr"/>
          <a:lstStyle/>
          <a:p>
            <a:pPr indent="0" marL="0">
              <a:buNone/>
            </a:pPr>
            <a:r>
              <a:rPr lang="en-US" sz="1300" b="1" dirty="0">
                <a:solidFill>
                  <a:srgbClr val="1B2A41"/>
                </a:solidFill>
                <a:latin typeface="Cambria" pitchFamily="34" charset="0"/>
                <a:ea typeface="Cambria" pitchFamily="34" charset="-122"/>
                <a:cs typeface="Cambria" pitchFamily="34" charset="-120"/>
              </a:rPr>
              <a:t>Warehouse</a:t>
            </a:r>
            <a:endParaRPr lang="en-US" sz="1300" dirty="0"/>
          </a:p>
        </p:txBody>
      </p:sp>
      <p:sp>
        <p:nvSpPr>
          <p:cNvPr id="14" name="Text 12"/>
          <p:cNvSpPr txBox="1"/>
          <p:nvPr/>
        </p:nvSpPr>
        <p:spPr>
          <a:xfrm>
            <a:off x="4630826" y="1993392"/>
            <a:ext cx="2984906" cy="499872"/>
          </a:xfrm>
          <a:prstGeom prst="rect">
            <a:avLst/>
          </a:prstGeom>
          <a:noFill/>
          <a:ln/>
        </p:spPr>
        <p:txBody>
          <a:bodyPr wrap="square" lIns="0" tIns="0" rIns="0" bIns="0" rtlCol="0" anchor="t"/>
          <a:lstStyle/>
          <a:p>
            <a:pPr marL="165100" indent="-165100">
              <a:spcAft>
                <a:spcPts val="300"/>
              </a:spcAft>
              <a:buSzPct val="100000"/>
              <a:buChar char="•"/>
            </a:pPr>
            <a:r>
              <a:rPr lang="en-US" sz="900" dirty="0">
                <a:solidFill>
                  <a:srgbClr val="52514E"/>
                </a:solidFill>
                <a:latin typeface="Calibri" pitchFamily="34" charset="0"/>
                <a:ea typeface="Calibri" pitchFamily="34" charset="-122"/>
                <a:cs typeface="Calibri" pitchFamily="34" charset="-120"/>
              </a:rPr>
              <a:t>Cost analysis — electrical works</a:t>
            </a:r>
            <a:endParaRPr lang="en-US" sz="900" dirty="0"/>
          </a:p>
          <a:p>
            <a:pPr marL="165100" indent="-165100">
              <a:spcAft>
                <a:spcPts val="300"/>
              </a:spcAft>
              <a:buSzPct val="100000"/>
              <a:buChar char="•"/>
            </a:pPr>
            <a:r>
              <a:rPr lang="en-US" sz="900" dirty="0">
                <a:solidFill>
                  <a:srgbClr val="52514E"/>
                </a:solidFill>
                <a:latin typeface="Calibri" pitchFamily="34" charset="0"/>
                <a:ea typeface="Calibri" pitchFamily="34" charset="-122"/>
                <a:cs typeface="Calibri" pitchFamily="34" charset="-120"/>
              </a:rPr>
              <a:t>Cashflow forecast</a:t>
            </a:r>
            <a:endParaRPr lang="en-US" sz="900" dirty="0"/>
          </a:p>
          <a:p>
            <a:pPr marL="165100" indent="-165100">
              <a:spcAft>
                <a:spcPts val="300"/>
              </a:spcAft>
              <a:buSzPct val="100000"/>
              <a:buChar char="•"/>
            </a:pPr>
            <a:r>
              <a:rPr lang="en-US" sz="900" dirty="0">
                <a:solidFill>
                  <a:srgbClr val="52514E"/>
                </a:solidFill>
                <a:latin typeface="Calibri" pitchFamily="34" charset="0"/>
                <a:ea typeface="Calibri" pitchFamily="34" charset="-122"/>
                <a:cs typeface="Calibri" pitchFamily="34" charset="-120"/>
              </a:rPr>
              <a:t>Subcontractor selection — roller shutter</a:t>
            </a:r>
            <a:endParaRPr lang="en-US" sz="900" dirty="0"/>
          </a:p>
        </p:txBody>
      </p:sp>
      <p:sp>
        <p:nvSpPr>
          <p:cNvPr id="15" name="Text 13"/>
          <p:cNvSpPr txBox="1"/>
          <p:nvPr/>
        </p:nvSpPr>
        <p:spPr>
          <a:xfrm>
            <a:off x="4557674" y="2493264"/>
            <a:ext cx="3076346" cy="237744"/>
          </a:xfrm>
          <a:prstGeom prst="rect">
            <a:avLst/>
          </a:prstGeom>
          <a:noFill/>
          <a:ln/>
        </p:spPr>
        <p:txBody>
          <a:bodyPr wrap="square" lIns="0" tIns="0" rIns="0" bIns="0" rtlCol="0" anchor="ctr"/>
          <a:lstStyle/>
          <a:p>
            <a:pPr indent="0" marL="0">
              <a:buNone/>
            </a:pPr>
            <a:r>
              <a:rPr lang="en-US" sz="900" b="1" dirty="0">
                <a:solidFill>
                  <a:srgbClr val="898781"/>
                </a:solidFill>
                <a:latin typeface="Calibri" pitchFamily="34" charset="0"/>
                <a:ea typeface="Calibri" pitchFamily="34" charset="-122"/>
                <a:cs typeface="Calibri" pitchFamily="34" charset="-120"/>
              </a:rPr>
              <a:t>Eunice</a:t>
            </a:r>
            <a:endParaRPr lang="en-US" sz="900" dirty="0"/>
          </a:p>
        </p:txBody>
      </p:sp>
      <p:sp>
        <p:nvSpPr>
          <p:cNvPr id="16" name="Shape 14"/>
          <p:cNvSpPr/>
          <p:nvPr/>
        </p:nvSpPr>
        <p:spPr>
          <a:xfrm>
            <a:off x="8109509" y="1408176"/>
            <a:ext cx="3515258" cy="1414272"/>
          </a:xfrm>
          <a:prstGeom prst="roundRect">
            <a:avLst>
              <a:gd name="adj" fmla="val 6466"/>
            </a:avLst>
          </a:prstGeom>
          <a:solidFill>
            <a:srgbClr val="FFFFFF"/>
          </a:solidFill>
          <a:ln w="12700">
            <a:solidFill>
              <a:srgbClr val="E1E0D9"/>
            </a:solidFill>
            <a:prstDash val="solid"/>
          </a:ln>
          <a:effectLst>
            <a:outerShdw sx="100000" sy="100000" kx="0" ky="0" algn="bl" rotWithShape="0" blurRad="152400" dist="25400" dir="5400000">
              <a:srgbClr val="1B2A41">
                <a:alpha val="10000"/>
              </a:srgbClr>
            </a:outerShdw>
          </a:effectLst>
        </p:spPr>
      </p:sp>
      <p:sp>
        <p:nvSpPr>
          <p:cNvPr id="17" name="Shape 15"/>
          <p:cNvSpPr/>
          <p:nvPr/>
        </p:nvSpPr>
        <p:spPr>
          <a:xfrm>
            <a:off x="11057839" y="1554480"/>
            <a:ext cx="402336" cy="402336"/>
          </a:xfrm>
          <a:prstGeom prst="ellipse">
            <a:avLst/>
          </a:prstGeom>
          <a:solidFill>
            <a:srgbClr val="0CA30C"/>
          </a:solidFill>
          <a:ln/>
        </p:spPr>
      </p:sp>
      <p:sp>
        <p:nvSpPr>
          <p:cNvPr id="18" name="Text 16"/>
          <p:cNvSpPr txBox="1"/>
          <p:nvPr/>
        </p:nvSpPr>
        <p:spPr>
          <a:xfrm>
            <a:off x="11057839" y="1554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8328965" y="1554480"/>
            <a:ext cx="2765450" cy="402336"/>
          </a:xfrm>
          <a:prstGeom prst="rect">
            <a:avLst/>
          </a:prstGeom>
          <a:noFill/>
          <a:ln/>
        </p:spPr>
        <p:txBody>
          <a:bodyPr wrap="square" lIns="0" tIns="0" rIns="0" bIns="0" rtlCol="0" anchor="ctr"/>
          <a:lstStyle/>
          <a:p>
            <a:pPr indent="0" marL="0">
              <a:buNone/>
            </a:pPr>
            <a:r>
              <a:rPr lang="en-US" sz="1300" b="1" dirty="0">
                <a:solidFill>
                  <a:srgbClr val="1B2A41"/>
                </a:solidFill>
                <a:latin typeface="Cambria" pitchFamily="34" charset="0"/>
                <a:ea typeface="Cambria" pitchFamily="34" charset="-122"/>
                <a:cs typeface="Cambria" pitchFamily="34" charset="-120"/>
              </a:rPr>
              <a:t>RE Villa</a:t>
            </a:r>
            <a:endParaRPr lang="en-US" sz="1300" dirty="0"/>
          </a:p>
        </p:txBody>
      </p:sp>
      <p:sp>
        <p:nvSpPr>
          <p:cNvPr id="20" name="Text 18"/>
          <p:cNvSpPr txBox="1"/>
          <p:nvPr/>
        </p:nvSpPr>
        <p:spPr>
          <a:xfrm>
            <a:off x="8402117" y="1993392"/>
            <a:ext cx="2984906" cy="499872"/>
          </a:xfrm>
          <a:prstGeom prst="rect">
            <a:avLst/>
          </a:prstGeom>
          <a:noFill/>
          <a:ln/>
        </p:spPr>
        <p:txBody>
          <a:bodyPr wrap="square" lIns="0" tIns="0" rIns="0" bIns="0" rtlCol="0" anchor="t"/>
          <a:lstStyle/>
          <a:p>
            <a:pPr marL="165100" indent="-165100">
              <a:spcAft>
                <a:spcPts val="300"/>
              </a:spcAft>
              <a:buSzPct val="100000"/>
              <a:buChar char="•"/>
            </a:pPr>
            <a:r>
              <a:rPr lang="en-US" sz="900" dirty="0">
                <a:solidFill>
                  <a:srgbClr val="52514E"/>
                </a:solidFill>
                <a:latin typeface="Calibri" pitchFamily="34" charset="0"/>
                <a:ea typeface="Calibri" pitchFamily="34" charset="-122"/>
                <a:cs typeface="Calibri" pitchFamily="34" charset="-120"/>
              </a:rPr>
              <a:t>Budgetary report</a:t>
            </a:r>
            <a:endParaRPr lang="en-US" sz="900" dirty="0"/>
          </a:p>
          <a:p>
            <a:pPr marL="165100" indent="-165100">
              <a:spcAft>
                <a:spcPts val="300"/>
              </a:spcAft>
              <a:buSzPct val="100000"/>
              <a:buChar char="•"/>
            </a:pPr>
            <a:r>
              <a:rPr lang="en-US" sz="900" dirty="0">
                <a:solidFill>
                  <a:srgbClr val="52514E"/>
                </a:solidFill>
                <a:latin typeface="Calibri" pitchFamily="34" charset="0"/>
                <a:ea typeface="Calibri" pitchFamily="34" charset="-122"/>
                <a:cs typeface="Calibri" pitchFamily="34" charset="-120"/>
              </a:rPr>
              <a:t>Remeasurement of hardcore filling</a:t>
            </a:r>
            <a:endParaRPr lang="en-US" sz="900" dirty="0"/>
          </a:p>
          <a:p>
            <a:pPr marL="165100" indent="-165100">
              <a:spcAft>
                <a:spcPts val="300"/>
              </a:spcAft>
              <a:buSzPct val="100000"/>
              <a:buChar char="•"/>
            </a:pPr>
            <a:r>
              <a:rPr lang="en-US" sz="900" dirty="0">
                <a:solidFill>
                  <a:srgbClr val="52514E"/>
                </a:solidFill>
                <a:latin typeface="Calibri" pitchFamily="34" charset="0"/>
                <a:ea typeface="Calibri" pitchFamily="34" charset="-122"/>
                <a:cs typeface="Calibri" pitchFamily="34" charset="-120"/>
              </a:rPr>
              <a:t>Cashflow forecast</a:t>
            </a:r>
            <a:endParaRPr lang="en-US" sz="900" dirty="0"/>
          </a:p>
        </p:txBody>
      </p:sp>
      <p:sp>
        <p:nvSpPr>
          <p:cNvPr id="21" name="Text 19"/>
          <p:cNvSpPr txBox="1"/>
          <p:nvPr/>
        </p:nvSpPr>
        <p:spPr>
          <a:xfrm>
            <a:off x="8328965" y="2493264"/>
            <a:ext cx="3076346" cy="237744"/>
          </a:xfrm>
          <a:prstGeom prst="rect">
            <a:avLst/>
          </a:prstGeom>
          <a:noFill/>
          <a:ln/>
        </p:spPr>
        <p:txBody>
          <a:bodyPr wrap="square" lIns="0" tIns="0" rIns="0" bIns="0" rtlCol="0" anchor="ctr"/>
          <a:lstStyle/>
          <a:p>
            <a:pPr indent="0" marL="0">
              <a:buNone/>
            </a:pPr>
            <a:r>
              <a:rPr lang="en-US" sz="900" b="1" dirty="0">
                <a:solidFill>
                  <a:srgbClr val="898781"/>
                </a:solidFill>
                <a:latin typeface="Calibri" pitchFamily="34" charset="0"/>
                <a:ea typeface="Calibri" pitchFamily="34" charset="-122"/>
                <a:cs typeface="Calibri" pitchFamily="34" charset="-120"/>
              </a:rPr>
              <a:t>Eunice</a:t>
            </a:r>
            <a:endParaRPr lang="en-US" sz="900" dirty="0"/>
          </a:p>
        </p:txBody>
      </p:sp>
      <p:sp>
        <p:nvSpPr>
          <p:cNvPr id="22" name="Shape 20"/>
          <p:cNvSpPr/>
          <p:nvPr/>
        </p:nvSpPr>
        <p:spPr>
          <a:xfrm>
            <a:off x="566928" y="3005328"/>
            <a:ext cx="3515258" cy="1414272"/>
          </a:xfrm>
          <a:prstGeom prst="roundRect">
            <a:avLst>
              <a:gd name="adj" fmla="val 6466"/>
            </a:avLst>
          </a:prstGeom>
          <a:solidFill>
            <a:srgbClr val="FFFFFF"/>
          </a:solidFill>
          <a:ln w="12700">
            <a:solidFill>
              <a:srgbClr val="E1E0D9"/>
            </a:solidFill>
            <a:prstDash val="solid"/>
          </a:ln>
          <a:effectLst>
            <a:outerShdw sx="100000" sy="100000" kx="0" ky="0" algn="bl" rotWithShape="0" blurRad="152400" dist="25400" dir="5400000">
              <a:srgbClr val="1B2A41">
                <a:alpha val="10000"/>
              </a:srgbClr>
            </a:outerShdw>
          </a:effectLst>
        </p:spPr>
      </p:sp>
      <p:sp>
        <p:nvSpPr>
          <p:cNvPr id="23" name="Shape 21"/>
          <p:cNvSpPr/>
          <p:nvPr/>
        </p:nvSpPr>
        <p:spPr>
          <a:xfrm>
            <a:off x="3515258" y="3151632"/>
            <a:ext cx="402336" cy="402336"/>
          </a:xfrm>
          <a:prstGeom prst="ellipse">
            <a:avLst/>
          </a:prstGeom>
          <a:solidFill>
            <a:srgbClr val="0CA30C"/>
          </a:solidFill>
          <a:ln/>
        </p:spPr>
      </p:sp>
      <p:sp>
        <p:nvSpPr>
          <p:cNvPr id="24" name="Text 22"/>
          <p:cNvSpPr txBox="1"/>
          <p:nvPr/>
        </p:nvSpPr>
        <p:spPr>
          <a:xfrm>
            <a:off x="3515258" y="315163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5" name="Text 23"/>
          <p:cNvSpPr txBox="1"/>
          <p:nvPr/>
        </p:nvSpPr>
        <p:spPr>
          <a:xfrm>
            <a:off x="786384" y="3151632"/>
            <a:ext cx="2765450" cy="402336"/>
          </a:xfrm>
          <a:prstGeom prst="rect">
            <a:avLst/>
          </a:prstGeom>
          <a:noFill/>
          <a:ln/>
        </p:spPr>
        <p:txBody>
          <a:bodyPr wrap="square" lIns="0" tIns="0" rIns="0" bIns="0" rtlCol="0" anchor="ctr"/>
          <a:lstStyle/>
          <a:p>
            <a:pPr indent="0" marL="0">
              <a:buNone/>
            </a:pPr>
            <a:r>
              <a:rPr lang="en-US" sz="1300" b="1" dirty="0">
                <a:solidFill>
                  <a:srgbClr val="1B2A41"/>
                </a:solidFill>
                <a:latin typeface="Cambria" pitchFamily="34" charset="0"/>
                <a:ea typeface="Cambria" pitchFamily="34" charset="-122"/>
                <a:cs typeface="Cambria" pitchFamily="34" charset="-120"/>
              </a:rPr>
              <a:t>Vanguard Assurance Spintex</a:t>
            </a:r>
            <a:endParaRPr lang="en-US" sz="1300" dirty="0"/>
          </a:p>
        </p:txBody>
      </p:sp>
      <p:sp>
        <p:nvSpPr>
          <p:cNvPr id="26" name="Text 24"/>
          <p:cNvSpPr txBox="1"/>
          <p:nvPr/>
        </p:nvSpPr>
        <p:spPr>
          <a:xfrm>
            <a:off x="859536" y="3590544"/>
            <a:ext cx="2984906" cy="499872"/>
          </a:xfrm>
          <a:prstGeom prst="rect">
            <a:avLst/>
          </a:prstGeom>
          <a:noFill/>
          <a:ln/>
        </p:spPr>
        <p:txBody>
          <a:bodyPr wrap="square" lIns="0" tIns="0" rIns="0" bIns="0" rtlCol="0" anchor="t"/>
          <a:lstStyle/>
          <a:p>
            <a:pPr marL="165100" indent="-165100">
              <a:spcAft>
                <a:spcPts val="300"/>
              </a:spcAft>
              <a:buSzPct val="100000"/>
              <a:buChar char="•"/>
            </a:pPr>
            <a:r>
              <a:rPr lang="en-US" sz="900" dirty="0">
                <a:solidFill>
                  <a:srgbClr val="52514E"/>
                </a:solidFill>
                <a:latin typeface="Calibri" pitchFamily="34" charset="0"/>
                <a:ea typeface="Calibri" pitchFamily="34" charset="-122"/>
                <a:cs typeface="Calibri" pitchFamily="34" charset="-120"/>
              </a:rPr>
              <a:t>Monthly valuation</a:t>
            </a:r>
            <a:endParaRPr lang="en-US" sz="900" dirty="0"/>
          </a:p>
          <a:p>
            <a:pPr marL="165100" indent="-165100">
              <a:spcAft>
                <a:spcPts val="300"/>
              </a:spcAft>
              <a:buSzPct val="100000"/>
              <a:buChar char="•"/>
            </a:pPr>
            <a:r>
              <a:rPr lang="en-US" sz="900" dirty="0">
                <a:solidFill>
                  <a:srgbClr val="52514E"/>
                </a:solidFill>
                <a:latin typeface="Calibri" pitchFamily="34" charset="0"/>
                <a:ea typeface="Calibri" pitchFamily="34" charset="-122"/>
                <a:cs typeface="Calibri" pitchFamily="34" charset="-120"/>
              </a:rPr>
              <a:t>Budgetary report</a:t>
            </a:r>
            <a:endParaRPr lang="en-US" sz="900" dirty="0"/>
          </a:p>
        </p:txBody>
      </p:sp>
      <p:sp>
        <p:nvSpPr>
          <p:cNvPr id="27" name="Text 25"/>
          <p:cNvSpPr txBox="1"/>
          <p:nvPr/>
        </p:nvSpPr>
        <p:spPr>
          <a:xfrm>
            <a:off x="786384" y="4090416"/>
            <a:ext cx="3076346" cy="237744"/>
          </a:xfrm>
          <a:prstGeom prst="rect">
            <a:avLst/>
          </a:prstGeom>
          <a:noFill/>
          <a:ln/>
        </p:spPr>
        <p:txBody>
          <a:bodyPr wrap="square" lIns="0" tIns="0" rIns="0" bIns="0" rtlCol="0" anchor="ctr"/>
          <a:lstStyle/>
          <a:p>
            <a:pPr indent="0" marL="0">
              <a:buNone/>
            </a:pPr>
            <a:r>
              <a:rPr lang="en-US" sz="900" b="1" dirty="0">
                <a:solidFill>
                  <a:srgbClr val="898781"/>
                </a:solidFill>
                <a:latin typeface="Calibri" pitchFamily="34" charset="0"/>
                <a:ea typeface="Calibri" pitchFamily="34" charset="-122"/>
                <a:cs typeface="Calibri" pitchFamily="34" charset="-120"/>
              </a:rPr>
              <a:t>Gilbert</a:t>
            </a:r>
            <a:endParaRPr lang="en-US" sz="900" dirty="0"/>
          </a:p>
        </p:txBody>
      </p:sp>
      <p:sp>
        <p:nvSpPr>
          <p:cNvPr id="28" name="Shape 26"/>
          <p:cNvSpPr/>
          <p:nvPr/>
        </p:nvSpPr>
        <p:spPr>
          <a:xfrm>
            <a:off x="4338218" y="3005328"/>
            <a:ext cx="3515258" cy="1414272"/>
          </a:xfrm>
          <a:prstGeom prst="roundRect">
            <a:avLst>
              <a:gd name="adj" fmla="val 6466"/>
            </a:avLst>
          </a:prstGeom>
          <a:solidFill>
            <a:srgbClr val="FFFFFF"/>
          </a:solidFill>
          <a:ln w="12700">
            <a:solidFill>
              <a:srgbClr val="E1E0D9"/>
            </a:solidFill>
            <a:prstDash val="solid"/>
          </a:ln>
          <a:effectLst>
            <a:outerShdw sx="100000" sy="100000" kx="0" ky="0" algn="bl" rotWithShape="0" blurRad="152400" dist="25400" dir="5400000">
              <a:srgbClr val="1B2A41">
                <a:alpha val="10000"/>
              </a:srgbClr>
            </a:outerShdw>
          </a:effectLst>
        </p:spPr>
      </p:sp>
      <p:sp>
        <p:nvSpPr>
          <p:cNvPr id="29" name="Shape 27"/>
          <p:cNvSpPr/>
          <p:nvPr/>
        </p:nvSpPr>
        <p:spPr>
          <a:xfrm>
            <a:off x="7286549" y="3151632"/>
            <a:ext cx="402336" cy="402336"/>
          </a:xfrm>
          <a:prstGeom prst="ellipse">
            <a:avLst/>
          </a:prstGeom>
          <a:solidFill>
            <a:srgbClr val="0CA30C"/>
          </a:solidFill>
          <a:ln/>
        </p:spPr>
      </p:sp>
      <p:sp>
        <p:nvSpPr>
          <p:cNvPr id="30" name="Text 28"/>
          <p:cNvSpPr txBox="1"/>
          <p:nvPr/>
        </p:nvSpPr>
        <p:spPr>
          <a:xfrm>
            <a:off x="7286549" y="315163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31" name="Text 29"/>
          <p:cNvSpPr txBox="1"/>
          <p:nvPr/>
        </p:nvSpPr>
        <p:spPr>
          <a:xfrm>
            <a:off x="4557674" y="3151632"/>
            <a:ext cx="2765450" cy="402336"/>
          </a:xfrm>
          <a:prstGeom prst="rect">
            <a:avLst/>
          </a:prstGeom>
          <a:noFill/>
          <a:ln/>
        </p:spPr>
        <p:txBody>
          <a:bodyPr wrap="square" lIns="0" tIns="0" rIns="0" bIns="0" rtlCol="0" anchor="ctr"/>
          <a:lstStyle/>
          <a:p>
            <a:pPr indent="0" marL="0">
              <a:buNone/>
            </a:pPr>
            <a:r>
              <a:rPr lang="en-US" sz="1300" b="1" dirty="0">
                <a:solidFill>
                  <a:srgbClr val="1B2A41"/>
                </a:solidFill>
                <a:latin typeface="Cambria" pitchFamily="34" charset="0"/>
                <a:ea typeface="Cambria" pitchFamily="34" charset="-122"/>
                <a:cs typeface="Cambria" pitchFamily="34" charset="-120"/>
              </a:rPr>
              <a:t>Advans Savings &amp; Loans</a:t>
            </a:r>
            <a:endParaRPr lang="en-US" sz="1300" dirty="0"/>
          </a:p>
        </p:txBody>
      </p:sp>
      <p:sp>
        <p:nvSpPr>
          <p:cNvPr id="32" name="Text 30"/>
          <p:cNvSpPr txBox="1"/>
          <p:nvPr/>
        </p:nvSpPr>
        <p:spPr>
          <a:xfrm>
            <a:off x="4630826" y="3590544"/>
            <a:ext cx="2984906" cy="499872"/>
          </a:xfrm>
          <a:prstGeom prst="rect">
            <a:avLst/>
          </a:prstGeom>
          <a:noFill/>
          <a:ln/>
        </p:spPr>
        <p:txBody>
          <a:bodyPr wrap="square" lIns="0" tIns="0" rIns="0" bIns="0" rtlCol="0" anchor="t"/>
          <a:lstStyle/>
          <a:p>
            <a:pPr marL="165100" indent="-165100">
              <a:spcAft>
                <a:spcPts val="300"/>
              </a:spcAft>
              <a:buSzPct val="100000"/>
              <a:buChar char="•"/>
            </a:pPr>
            <a:r>
              <a:rPr lang="en-US" sz="900" dirty="0">
                <a:solidFill>
                  <a:srgbClr val="52514E"/>
                </a:solidFill>
                <a:latin typeface="Calibri" pitchFamily="34" charset="0"/>
                <a:ea typeface="Calibri" pitchFamily="34" charset="-122"/>
                <a:cs typeface="Calibri" pitchFamily="34" charset="-120"/>
              </a:rPr>
              <a:t>Final account</a:t>
            </a:r>
            <a:endParaRPr lang="en-US" sz="900" dirty="0"/>
          </a:p>
          <a:p>
            <a:pPr marL="165100" indent="-165100">
              <a:spcAft>
                <a:spcPts val="300"/>
              </a:spcAft>
              <a:buSzPct val="100000"/>
              <a:buChar char="•"/>
            </a:pPr>
            <a:r>
              <a:rPr lang="en-US" sz="900" dirty="0">
                <a:solidFill>
                  <a:srgbClr val="52514E"/>
                </a:solidFill>
                <a:latin typeface="Calibri" pitchFamily="34" charset="0"/>
                <a:ea typeface="Calibri" pitchFamily="34" charset="-122"/>
                <a:cs typeface="Calibri" pitchFamily="34" charset="-120"/>
              </a:rPr>
              <a:t>Budgetary report</a:t>
            </a:r>
            <a:endParaRPr lang="en-US" sz="900" dirty="0"/>
          </a:p>
        </p:txBody>
      </p:sp>
      <p:sp>
        <p:nvSpPr>
          <p:cNvPr id="33" name="Text 31"/>
          <p:cNvSpPr txBox="1"/>
          <p:nvPr/>
        </p:nvSpPr>
        <p:spPr>
          <a:xfrm>
            <a:off x="4557674" y="4090416"/>
            <a:ext cx="3076346" cy="237744"/>
          </a:xfrm>
          <a:prstGeom prst="rect">
            <a:avLst/>
          </a:prstGeom>
          <a:noFill/>
          <a:ln/>
        </p:spPr>
        <p:txBody>
          <a:bodyPr wrap="square" lIns="0" tIns="0" rIns="0" bIns="0" rtlCol="0" anchor="ctr"/>
          <a:lstStyle/>
          <a:p>
            <a:pPr indent="0" marL="0">
              <a:buNone/>
            </a:pPr>
            <a:r>
              <a:rPr lang="en-US" sz="900" b="1" dirty="0">
                <a:solidFill>
                  <a:srgbClr val="898781"/>
                </a:solidFill>
                <a:latin typeface="Calibri" pitchFamily="34" charset="0"/>
                <a:ea typeface="Calibri" pitchFamily="34" charset="-122"/>
                <a:cs typeface="Calibri" pitchFamily="34" charset="-120"/>
              </a:rPr>
              <a:t>Tracy</a:t>
            </a:r>
            <a:endParaRPr lang="en-US" sz="900" dirty="0"/>
          </a:p>
        </p:txBody>
      </p:sp>
      <p:sp>
        <p:nvSpPr>
          <p:cNvPr id="34" name="Shape 32"/>
          <p:cNvSpPr/>
          <p:nvPr/>
        </p:nvSpPr>
        <p:spPr>
          <a:xfrm>
            <a:off x="8109509" y="3005328"/>
            <a:ext cx="3515258" cy="1414272"/>
          </a:xfrm>
          <a:prstGeom prst="roundRect">
            <a:avLst>
              <a:gd name="adj" fmla="val 6466"/>
            </a:avLst>
          </a:prstGeom>
          <a:solidFill>
            <a:srgbClr val="FFFFFF"/>
          </a:solidFill>
          <a:ln w="12700">
            <a:solidFill>
              <a:srgbClr val="E1E0D9"/>
            </a:solidFill>
            <a:prstDash val="solid"/>
          </a:ln>
          <a:effectLst>
            <a:outerShdw sx="100000" sy="100000" kx="0" ky="0" algn="bl" rotWithShape="0" blurRad="152400" dist="25400" dir="5400000">
              <a:srgbClr val="1B2A41">
                <a:alpha val="10000"/>
              </a:srgbClr>
            </a:outerShdw>
          </a:effectLst>
        </p:spPr>
      </p:sp>
      <p:sp>
        <p:nvSpPr>
          <p:cNvPr id="35" name="Shape 33"/>
          <p:cNvSpPr/>
          <p:nvPr/>
        </p:nvSpPr>
        <p:spPr>
          <a:xfrm>
            <a:off x="11057839" y="3151632"/>
            <a:ext cx="402336" cy="402336"/>
          </a:xfrm>
          <a:prstGeom prst="ellipse">
            <a:avLst/>
          </a:prstGeom>
          <a:solidFill>
            <a:srgbClr val="0CA30C"/>
          </a:solidFill>
          <a:ln/>
        </p:spPr>
      </p:sp>
      <p:sp>
        <p:nvSpPr>
          <p:cNvPr id="36" name="Text 34"/>
          <p:cNvSpPr txBox="1"/>
          <p:nvPr/>
        </p:nvSpPr>
        <p:spPr>
          <a:xfrm>
            <a:off x="11057839" y="315163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37" name="Text 35"/>
          <p:cNvSpPr txBox="1"/>
          <p:nvPr/>
        </p:nvSpPr>
        <p:spPr>
          <a:xfrm>
            <a:off x="8328965" y="3151632"/>
            <a:ext cx="2765450" cy="402336"/>
          </a:xfrm>
          <a:prstGeom prst="rect">
            <a:avLst/>
          </a:prstGeom>
          <a:noFill/>
          <a:ln/>
        </p:spPr>
        <p:txBody>
          <a:bodyPr wrap="square" lIns="0" tIns="0" rIns="0" bIns="0" rtlCol="0" anchor="ctr"/>
          <a:lstStyle/>
          <a:p>
            <a:pPr indent="0" marL="0">
              <a:buNone/>
            </a:pPr>
            <a:r>
              <a:rPr lang="en-US" sz="1300" b="1" dirty="0">
                <a:solidFill>
                  <a:srgbClr val="1B2A41"/>
                </a:solidFill>
                <a:latin typeface="Cambria" pitchFamily="34" charset="0"/>
                <a:ea typeface="Cambria" pitchFamily="34" charset="-122"/>
                <a:cs typeface="Cambria" pitchFamily="34" charset="-120"/>
              </a:rPr>
              <a:t>Thoroughbred Place</a:t>
            </a:r>
            <a:endParaRPr lang="en-US" sz="1300" dirty="0"/>
          </a:p>
        </p:txBody>
      </p:sp>
      <p:sp>
        <p:nvSpPr>
          <p:cNvPr id="38" name="Text 36"/>
          <p:cNvSpPr txBox="1"/>
          <p:nvPr/>
        </p:nvSpPr>
        <p:spPr>
          <a:xfrm>
            <a:off x="8402117" y="3590544"/>
            <a:ext cx="2984906" cy="499872"/>
          </a:xfrm>
          <a:prstGeom prst="rect">
            <a:avLst/>
          </a:prstGeom>
          <a:noFill/>
          <a:ln/>
        </p:spPr>
        <p:txBody>
          <a:bodyPr wrap="square" lIns="0" tIns="0" rIns="0" bIns="0" rtlCol="0" anchor="t"/>
          <a:lstStyle/>
          <a:p>
            <a:pPr marL="165100" indent="-165100">
              <a:spcAft>
                <a:spcPts val="300"/>
              </a:spcAft>
              <a:buSzPct val="100000"/>
              <a:buChar char="•"/>
            </a:pPr>
            <a:r>
              <a:rPr lang="en-US" sz="900" dirty="0">
                <a:solidFill>
                  <a:srgbClr val="52514E"/>
                </a:solidFill>
                <a:latin typeface="Calibri" pitchFamily="34" charset="0"/>
                <a:ea typeface="Calibri" pitchFamily="34" charset="-122"/>
                <a:cs typeface="Calibri" pitchFamily="34" charset="-120"/>
              </a:rPr>
              <a:t>Financial report (internal)</a:t>
            </a:r>
            <a:endParaRPr lang="en-US" sz="900" dirty="0"/>
          </a:p>
        </p:txBody>
      </p:sp>
      <p:sp>
        <p:nvSpPr>
          <p:cNvPr id="39" name="Text 37"/>
          <p:cNvSpPr txBox="1"/>
          <p:nvPr/>
        </p:nvSpPr>
        <p:spPr>
          <a:xfrm>
            <a:off x="8328965" y="4090416"/>
            <a:ext cx="3076346" cy="237744"/>
          </a:xfrm>
          <a:prstGeom prst="rect">
            <a:avLst/>
          </a:prstGeom>
          <a:noFill/>
          <a:ln/>
        </p:spPr>
        <p:txBody>
          <a:bodyPr wrap="square" lIns="0" tIns="0" rIns="0" bIns="0" rtlCol="0" anchor="ctr"/>
          <a:lstStyle/>
          <a:p>
            <a:pPr indent="0" marL="0">
              <a:buNone/>
            </a:pPr>
            <a:r>
              <a:rPr lang="en-US" sz="900" b="1" dirty="0">
                <a:solidFill>
                  <a:srgbClr val="898781"/>
                </a:solidFill>
                <a:latin typeface="Calibri" pitchFamily="34" charset="0"/>
                <a:ea typeface="Calibri" pitchFamily="34" charset="-122"/>
                <a:cs typeface="Calibri" pitchFamily="34" charset="-120"/>
              </a:rPr>
              <a:t>Sedem</a:t>
            </a:r>
            <a:endParaRPr lang="en-US" sz="900" dirty="0"/>
          </a:p>
        </p:txBody>
      </p:sp>
      <p:sp>
        <p:nvSpPr>
          <p:cNvPr id="40" name="Shape 38"/>
          <p:cNvSpPr/>
          <p:nvPr/>
        </p:nvSpPr>
        <p:spPr>
          <a:xfrm>
            <a:off x="566928" y="4602480"/>
            <a:ext cx="3515258" cy="1414272"/>
          </a:xfrm>
          <a:prstGeom prst="roundRect">
            <a:avLst>
              <a:gd name="adj" fmla="val 6466"/>
            </a:avLst>
          </a:prstGeom>
          <a:solidFill>
            <a:srgbClr val="FFFFFF"/>
          </a:solidFill>
          <a:ln w="12700">
            <a:solidFill>
              <a:srgbClr val="E1E0D9"/>
            </a:solidFill>
            <a:prstDash val="solid"/>
          </a:ln>
          <a:effectLst>
            <a:outerShdw sx="100000" sy="100000" kx="0" ky="0" algn="bl" rotWithShape="0" blurRad="152400" dist="25400" dir="5400000">
              <a:srgbClr val="1B2A41">
                <a:alpha val="10000"/>
              </a:srgbClr>
            </a:outerShdw>
          </a:effectLst>
        </p:spPr>
      </p:sp>
      <p:sp>
        <p:nvSpPr>
          <p:cNvPr id="41" name="Shape 39"/>
          <p:cNvSpPr/>
          <p:nvPr/>
        </p:nvSpPr>
        <p:spPr>
          <a:xfrm>
            <a:off x="3515258" y="4748784"/>
            <a:ext cx="402336" cy="402336"/>
          </a:xfrm>
          <a:prstGeom prst="ellipse">
            <a:avLst/>
          </a:prstGeom>
          <a:solidFill>
            <a:srgbClr val="0CA30C"/>
          </a:solidFill>
          <a:ln/>
        </p:spPr>
      </p:sp>
      <p:sp>
        <p:nvSpPr>
          <p:cNvPr id="42" name="Text 40"/>
          <p:cNvSpPr txBox="1"/>
          <p:nvPr/>
        </p:nvSpPr>
        <p:spPr>
          <a:xfrm>
            <a:off x="3515258" y="474878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43" name="Text 41"/>
          <p:cNvSpPr txBox="1"/>
          <p:nvPr/>
        </p:nvSpPr>
        <p:spPr>
          <a:xfrm>
            <a:off x="786384" y="4748784"/>
            <a:ext cx="2765450" cy="402336"/>
          </a:xfrm>
          <a:prstGeom prst="rect">
            <a:avLst/>
          </a:prstGeom>
          <a:noFill/>
          <a:ln/>
        </p:spPr>
        <p:txBody>
          <a:bodyPr wrap="square" lIns="0" tIns="0" rIns="0" bIns="0" rtlCol="0" anchor="ctr"/>
          <a:lstStyle/>
          <a:p>
            <a:pPr indent="0" marL="0">
              <a:buNone/>
            </a:pPr>
            <a:r>
              <a:rPr lang="en-US" sz="1300" b="1" dirty="0">
                <a:solidFill>
                  <a:srgbClr val="1B2A41"/>
                </a:solidFill>
                <a:latin typeface="Cambria" pitchFamily="34" charset="0"/>
                <a:ea typeface="Cambria" pitchFamily="34" charset="-122"/>
                <a:cs typeface="Cambria" pitchFamily="34" charset="-120"/>
              </a:rPr>
              <a:t>Barry Callebaut</a:t>
            </a:r>
            <a:endParaRPr lang="en-US" sz="1300" dirty="0"/>
          </a:p>
        </p:txBody>
      </p:sp>
      <p:sp>
        <p:nvSpPr>
          <p:cNvPr id="44" name="Text 42"/>
          <p:cNvSpPr txBox="1"/>
          <p:nvPr/>
        </p:nvSpPr>
        <p:spPr>
          <a:xfrm>
            <a:off x="859536" y="5187696"/>
            <a:ext cx="2984906" cy="499872"/>
          </a:xfrm>
          <a:prstGeom prst="rect">
            <a:avLst/>
          </a:prstGeom>
          <a:noFill/>
          <a:ln/>
        </p:spPr>
        <p:txBody>
          <a:bodyPr wrap="square" lIns="0" tIns="0" rIns="0" bIns="0" rtlCol="0" anchor="t"/>
          <a:lstStyle/>
          <a:p>
            <a:pPr marL="165100" indent="-165100">
              <a:spcAft>
                <a:spcPts val="300"/>
              </a:spcAft>
              <a:buSzPct val="100000"/>
              <a:buChar char="•"/>
            </a:pPr>
            <a:r>
              <a:rPr lang="en-US" sz="900" dirty="0">
                <a:solidFill>
                  <a:srgbClr val="52514E"/>
                </a:solidFill>
                <a:latin typeface="Calibri" pitchFamily="34" charset="0"/>
                <a:ea typeface="Calibri" pitchFamily="34" charset="-122"/>
                <a:cs typeface="Calibri" pitchFamily="34" charset="-120"/>
              </a:rPr>
              <a:t>Budgetary report</a:t>
            </a:r>
            <a:endParaRPr lang="en-US" sz="900" dirty="0"/>
          </a:p>
        </p:txBody>
      </p:sp>
      <p:sp>
        <p:nvSpPr>
          <p:cNvPr id="45" name="Text 43"/>
          <p:cNvSpPr txBox="1"/>
          <p:nvPr/>
        </p:nvSpPr>
        <p:spPr>
          <a:xfrm>
            <a:off x="786384" y="5687568"/>
            <a:ext cx="3076346" cy="237744"/>
          </a:xfrm>
          <a:prstGeom prst="rect">
            <a:avLst/>
          </a:prstGeom>
          <a:noFill/>
          <a:ln/>
        </p:spPr>
        <p:txBody>
          <a:bodyPr wrap="square" lIns="0" tIns="0" rIns="0" bIns="0" rtlCol="0" anchor="ctr"/>
          <a:lstStyle/>
          <a:p>
            <a:pPr indent="0" marL="0">
              <a:buNone/>
            </a:pPr>
            <a:r>
              <a:rPr lang="en-US" sz="900" b="1" dirty="0">
                <a:solidFill>
                  <a:srgbClr val="898781"/>
                </a:solidFill>
                <a:latin typeface="Calibri" pitchFamily="34" charset="0"/>
                <a:ea typeface="Calibri" pitchFamily="34" charset="-122"/>
                <a:cs typeface="Calibri" pitchFamily="34" charset="-120"/>
              </a:rPr>
              <a:t>Gilbert</a:t>
            </a:r>
            <a:endParaRPr lang="en-US" sz="900" dirty="0"/>
          </a:p>
        </p:txBody>
      </p:sp>
      <p:sp>
        <p:nvSpPr>
          <p:cNvPr id="46" name="Shape 44"/>
          <p:cNvSpPr/>
          <p:nvPr/>
        </p:nvSpPr>
        <p:spPr>
          <a:xfrm>
            <a:off x="4338218" y="4602480"/>
            <a:ext cx="3515258" cy="1414272"/>
          </a:xfrm>
          <a:prstGeom prst="roundRect">
            <a:avLst>
              <a:gd name="adj" fmla="val 6466"/>
            </a:avLst>
          </a:prstGeom>
          <a:solidFill>
            <a:srgbClr val="FFFFFF"/>
          </a:solidFill>
          <a:ln w="12700">
            <a:solidFill>
              <a:srgbClr val="E1E0D9"/>
            </a:solidFill>
            <a:prstDash val="solid"/>
          </a:ln>
          <a:effectLst>
            <a:outerShdw sx="100000" sy="100000" kx="0" ky="0" algn="bl" rotWithShape="0" blurRad="152400" dist="25400" dir="5400000">
              <a:srgbClr val="1B2A41">
                <a:alpha val="10000"/>
              </a:srgbClr>
            </a:outerShdw>
          </a:effectLst>
        </p:spPr>
      </p:sp>
      <p:sp>
        <p:nvSpPr>
          <p:cNvPr id="47" name="Shape 45"/>
          <p:cNvSpPr/>
          <p:nvPr/>
        </p:nvSpPr>
        <p:spPr>
          <a:xfrm>
            <a:off x="7286549" y="4748784"/>
            <a:ext cx="402336" cy="402336"/>
          </a:xfrm>
          <a:prstGeom prst="ellipse">
            <a:avLst/>
          </a:prstGeom>
          <a:solidFill>
            <a:srgbClr val="0CA30C"/>
          </a:solidFill>
          <a:ln/>
        </p:spPr>
      </p:sp>
      <p:sp>
        <p:nvSpPr>
          <p:cNvPr id="48" name="Text 46"/>
          <p:cNvSpPr txBox="1"/>
          <p:nvPr/>
        </p:nvSpPr>
        <p:spPr>
          <a:xfrm>
            <a:off x="7286549" y="474878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49" name="Text 47"/>
          <p:cNvSpPr txBox="1"/>
          <p:nvPr/>
        </p:nvSpPr>
        <p:spPr>
          <a:xfrm>
            <a:off x="4557674" y="4748784"/>
            <a:ext cx="2765450" cy="402336"/>
          </a:xfrm>
          <a:prstGeom prst="rect">
            <a:avLst/>
          </a:prstGeom>
          <a:noFill/>
          <a:ln/>
        </p:spPr>
        <p:txBody>
          <a:bodyPr wrap="square" lIns="0" tIns="0" rIns="0" bIns="0" rtlCol="0" anchor="ctr"/>
          <a:lstStyle/>
          <a:p>
            <a:pPr indent="0" marL="0">
              <a:buNone/>
            </a:pPr>
            <a:r>
              <a:rPr lang="en-US" sz="1300" b="1" dirty="0">
                <a:solidFill>
                  <a:srgbClr val="1B2A41"/>
                </a:solidFill>
                <a:latin typeface="Cambria" pitchFamily="34" charset="0"/>
                <a:ea typeface="Cambria" pitchFamily="34" charset="-122"/>
                <a:cs typeface="Cambria" pitchFamily="34" charset="-120"/>
              </a:rPr>
              <a:t>Brimmo Gardens Tender</a:t>
            </a:r>
            <a:endParaRPr lang="en-US" sz="1300" dirty="0"/>
          </a:p>
        </p:txBody>
      </p:sp>
      <p:sp>
        <p:nvSpPr>
          <p:cNvPr id="50" name="Text 48"/>
          <p:cNvSpPr txBox="1"/>
          <p:nvPr/>
        </p:nvSpPr>
        <p:spPr>
          <a:xfrm>
            <a:off x="4630826" y="5187696"/>
            <a:ext cx="2984906" cy="499872"/>
          </a:xfrm>
          <a:prstGeom prst="rect">
            <a:avLst/>
          </a:prstGeom>
          <a:noFill/>
          <a:ln/>
        </p:spPr>
        <p:txBody>
          <a:bodyPr wrap="square" lIns="0" tIns="0" rIns="0" bIns="0" rtlCol="0" anchor="t"/>
          <a:lstStyle/>
          <a:p>
            <a:pPr marL="165100" indent="-165100">
              <a:spcAft>
                <a:spcPts val="300"/>
              </a:spcAft>
              <a:buSzPct val="100000"/>
              <a:buChar char="•"/>
            </a:pPr>
            <a:r>
              <a:rPr lang="en-US" sz="900" dirty="0">
                <a:solidFill>
                  <a:srgbClr val="52514E"/>
                </a:solidFill>
                <a:latin typeface="Calibri" pitchFamily="34" charset="0"/>
                <a:ea typeface="Calibri" pitchFamily="34" charset="-122"/>
                <a:cs typeface="Calibri" pitchFamily="34" charset="-120"/>
              </a:rPr>
              <a:t>RFP submission</a:t>
            </a:r>
            <a:endParaRPr lang="en-US" sz="900" dirty="0"/>
          </a:p>
        </p:txBody>
      </p:sp>
      <p:sp>
        <p:nvSpPr>
          <p:cNvPr id="51" name="Text 49"/>
          <p:cNvSpPr txBox="1"/>
          <p:nvPr/>
        </p:nvSpPr>
        <p:spPr>
          <a:xfrm>
            <a:off x="4557674" y="5687568"/>
            <a:ext cx="3076346" cy="237744"/>
          </a:xfrm>
          <a:prstGeom prst="rect">
            <a:avLst/>
          </a:prstGeom>
          <a:noFill/>
          <a:ln/>
        </p:spPr>
        <p:txBody>
          <a:bodyPr wrap="square" lIns="0" tIns="0" rIns="0" bIns="0" rtlCol="0" anchor="ctr"/>
          <a:lstStyle/>
          <a:p>
            <a:pPr indent="0" marL="0">
              <a:buNone/>
            </a:pPr>
            <a:r>
              <a:rPr lang="en-US" sz="900" b="1" dirty="0">
                <a:solidFill>
                  <a:srgbClr val="898781"/>
                </a:solidFill>
                <a:latin typeface="Calibri" pitchFamily="34" charset="0"/>
                <a:ea typeface="Calibri" pitchFamily="34" charset="-122"/>
                <a:cs typeface="Calibri" pitchFamily="34" charset="-120"/>
              </a:rPr>
              <a:t>Eunice</a:t>
            </a:r>
            <a:endParaRPr lang="en-US" sz="900" dirty="0"/>
          </a:p>
        </p:txBody>
      </p:sp>
      <p:sp>
        <p:nvSpPr>
          <p:cNvPr id="52" name="Shape 50"/>
          <p:cNvSpPr/>
          <p:nvPr/>
        </p:nvSpPr>
        <p:spPr>
          <a:xfrm>
            <a:off x="8109509" y="4602480"/>
            <a:ext cx="3515258" cy="1414272"/>
          </a:xfrm>
          <a:prstGeom prst="roundRect">
            <a:avLst>
              <a:gd name="adj" fmla="val 6466"/>
            </a:avLst>
          </a:prstGeom>
          <a:solidFill>
            <a:srgbClr val="FFFFFF"/>
          </a:solidFill>
          <a:ln w="12700">
            <a:solidFill>
              <a:srgbClr val="E1E0D9"/>
            </a:solidFill>
            <a:prstDash val="solid"/>
          </a:ln>
          <a:effectLst>
            <a:outerShdw sx="100000" sy="100000" kx="0" ky="0" algn="bl" rotWithShape="0" blurRad="152400" dist="25400" dir="5400000">
              <a:srgbClr val="1B2A41">
                <a:alpha val="10000"/>
              </a:srgbClr>
            </a:outerShdw>
          </a:effectLst>
        </p:spPr>
      </p:sp>
      <p:sp>
        <p:nvSpPr>
          <p:cNvPr id="53" name="Shape 51"/>
          <p:cNvSpPr/>
          <p:nvPr/>
        </p:nvSpPr>
        <p:spPr>
          <a:xfrm>
            <a:off x="11057839" y="4748784"/>
            <a:ext cx="402336" cy="402336"/>
          </a:xfrm>
          <a:prstGeom prst="ellipse">
            <a:avLst/>
          </a:prstGeom>
          <a:solidFill>
            <a:srgbClr val="0CA30C"/>
          </a:solidFill>
          <a:ln/>
        </p:spPr>
      </p:sp>
      <p:sp>
        <p:nvSpPr>
          <p:cNvPr id="54" name="Text 52"/>
          <p:cNvSpPr txBox="1"/>
          <p:nvPr/>
        </p:nvSpPr>
        <p:spPr>
          <a:xfrm>
            <a:off x="11057839" y="474878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55" name="Text 53"/>
          <p:cNvSpPr txBox="1"/>
          <p:nvPr/>
        </p:nvSpPr>
        <p:spPr>
          <a:xfrm>
            <a:off x="8328965" y="4748784"/>
            <a:ext cx="2765450" cy="402336"/>
          </a:xfrm>
          <a:prstGeom prst="rect">
            <a:avLst/>
          </a:prstGeom>
          <a:noFill/>
          <a:ln/>
        </p:spPr>
        <p:txBody>
          <a:bodyPr wrap="square" lIns="0" tIns="0" rIns="0" bIns="0" rtlCol="0" anchor="ctr"/>
          <a:lstStyle/>
          <a:p>
            <a:pPr indent="0" marL="0">
              <a:buNone/>
            </a:pPr>
            <a:r>
              <a:rPr lang="en-US" sz="1300" b="1" dirty="0">
                <a:solidFill>
                  <a:srgbClr val="1B2A41"/>
                </a:solidFill>
                <a:latin typeface="Cambria" pitchFamily="34" charset="0"/>
                <a:ea typeface="Cambria" pitchFamily="34" charset="-122"/>
                <a:cs typeface="Cambria" pitchFamily="34" charset="-120"/>
              </a:rPr>
              <a:t>Enterprise COO's Office</a:t>
            </a:r>
            <a:endParaRPr lang="en-US" sz="1300" dirty="0"/>
          </a:p>
        </p:txBody>
      </p:sp>
      <p:sp>
        <p:nvSpPr>
          <p:cNvPr id="56" name="Text 54"/>
          <p:cNvSpPr txBox="1"/>
          <p:nvPr/>
        </p:nvSpPr>
        <p:spPr>
          <a:xfrm>
            <a:off x="8402117" y="5187696"/>
            <a:ext cx="2984906" cy="499872"/>
          </a:xfrm>
          <a:prstGeom prst="rect">
            <a:avLst/>
          </a:prstGeom>
          <a:noFill/>
          <a:ln/>
        </p:spPr>
        <p:txBody>
          <a:bodyPr wrap="square" lIns="0" tIns="0" rIns="0" bIns="0" rtlCol="0" anchor="t"/>
          <a:lstStyle/>
          <a:p>
            <a:pPr marL="165100" indent="-165100">
              <a:spcAft>
                <a:spcPts val="300"/>
              </a:spcAft>
              <a:buSzPct val="100000"/>
              <a:buChar char="•"/>
            </a:pPr>
            <a:r>
              <a:rPr lang="en-US" sz="900" dirty="0">
                <a:solidFill>
                  <a:srgbClr val="52514E"/>
                </a:solidFill>
                <a:latin typeface="Calibri" pitchFamily="34" charset="0"/>
                <a:ea typeface="Calibri" pitchFamily="34" charset="-122"/>
                <a:cs typeface="Calibri" pitchFamily="34" charset="-120"/>
              </a:rPr>
              <a:t>Cashflow forecast</a:t>
            </a:r>
            <a:endParaRPr lang="en-US" sz="900" dirty="0"/>
          </a:p>
        </p:txBody>
      </p:sp>
      <p:sp>
        <p:nvSpPr>
          <p:cNvPr id="57" name="Text 55"/>
          <p:cNvSpPr txBox="1"/>
          <p:nvPr/>
        </p:nvSpPr>
        <p:spPr>
          <a:xfrm>
            <a:off x="8328965" y="5687568"/>
            <a:ext cx="3076346" cy="237744"/>
          </a:xfrm>
          <a:prstGeom prst="rect">
            <a:avLst/>
          </a:prstGeom>
          <a:noFill/>
          <a:ln/>
        </p:spPr>
        <p:txBody>
          <a:bodyPr wrap="square" lIns="0" tIns="0" rIns="0" bIns="0" rtlCol="0" anchor="ctr"/>
          <a:lstStyle/>
          <a:p>
            <a:pPr indent="0" marL="0">
              <a:buNone/>
            </a:pPr>
            <a:r>
              <a:rPr lang="en-US" sz="900" b="1" dirty="0">
                <a:solidFill>
                  <a:srgbClr val="898781"/>
                </a:solidFill>
                <a:latin typeface="Calibri" pitchFamily="34" charset="0"/>
                <a:ea typeface="Calibri" pitchFamily="34" charset="-122"/>
                <a:cs typeface="Calibri" pitchFamily="34" charset="-120"/>
              </a:rPr>
              <a:t>Eunice</a:t>
            </a:r>
            <a:endParaRPr lang="en-US" sz="900" dirty="0"/>
          </a:p>
        </p:txBody>
      </p:sp>
      <p:sp>
        <p:nvSpPr>
          <p:cNvPr id="58" name="Text 56"/>
          <p:cNvSpPr txBox="1"/>
          <p:nvPr/>
        </p:nvSpPr>
        <p:spPr>
          <a:xfrm>
            <a:off x="566928" y="6355080"/>
            <a:ext cx="8961120" cy="274320"/>
          </a:xfrm>
          <a:prstGeom prst="rect">
            <a:avLst/>
          </a:prstGeom>
          <a:noFill/>
          <a:ln/>
        </p:spPr>
        <p:txBody>
          <a:bodyPr wrap="square" lIns="0" tIns="0" rIns="0" bIns="0" rtlCol="0" anchor="ctr"/>
          <a:lstStyle/>
          <a:p>
            <a:pPr indent="0" marL="0">
              <a:buNone/>
            </a:pPr>
            <a:r>
              <a:rPr lang="en-US" sz="900" dirty="0">
                <a:solidFill>
                  <a:srgbClr val="898781"/>
                </a:solidFill>
                <a:latin typeface="Calibri" pitchFamily="34" charset="0"/>
                <a:ea typeface="Calibri" pitchFamily="34" charset="-122"/>
                <a:cs typeface="Calibri" pitchFamily="34" charset="-120"/>
              </a:rPr>
              <a:t>Commercial Department   ·   Outstanding Projects &amp; Deliverables   ·   18 September 2026</a:t>
            </a:r>
            <a:endParaRPr lang="en-US" sz="900" dirty="0"/>
          </a:p>
        </p:txBody>
      </p:sp>
      <p:sp>
        <p:nvSpPr>
          <p:cNvPr id="59" name="Text 57"/>
          <p:cNvSpPr txBox="1"/>
          <p:nvPr/>
        </p:nvSpPr>
        <p:spPr>
          <a:xfrm>
            <a:off x="10984687" y="6355080"/>
            <a:ext cx="640080" cy="274320"/>
          </a:xfrm>
          <a:prstGeom prst="rect">
            <a:avLst/>
          </a:prstGeom>
          <a:noFill/>
          <a:ln/>
        </p:spPr>
        <p:txBody>
          <a:bodyPr wrap="square" lIns="0" tIns="0" rIns="0" bIns="0"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66928" y="420624"/>
            <a:ext cx="11057839" cy="219456"/>
          </a:xfrm>
          <a:prstGeom prst="rect">
            <a:avLst/>
          </a:prstGeom>
          <a:noFill/>
          <a:ln/>
        </p:spPr>
        <p:txBody>
          <a:bodyPr wrap="square" lIns="0" tIns="0" rIns="0" bIns="0" rtlCol="0" anchor="ctr"/>
          <a:lstStyle/>
          <a:p>
            <a:pPr indent="0" marL="0">
              <a:buNone/>
            </a:pPr>
            <a:r>
              <a:rPr lang="en-US" sz="1050" b="1" spc="160" kern="0" dirty="0">
                <a:solidFill>
                  <a:srgbClr val="2A78D6"/>
                </a:solidFill>
                <a:latin typeface="Calibri" pitchFamily="34" charset="0"/>
                <a:ea typeface="Calibri" pitchFamily="34" charset="-122"/>
                <a:cs typeface="Calibri" pitchFamily="34" charset="-120"/>
              </a:rPr>
              <a:t>THE WATCH LIST</a:t>
            </a:r>
            <a:endParaRPr lang="en-US" sz="1050" dirty="0"/>
          </a:p>
        </p:txBody>
      </p:sp>
      <p:sp>
        <p:nvSpPr>
          <p:cNvPr id="3" name="Text 1"/>
          <p:cNvSpPr txBox="1"/>
          <p:nvPr/>
        </p:nvSpPr>
        <p:spPr>
          <a:xfrm>
            <a:off x="566928" y="676656"/>
            <a:ext cx="11057839" cy="566928"/>
          </a:xfrm>
          <a:prstGeom prst="rect">
            <a:avLst/>
          </a:prstGeom>
          <a:noFill/>
          <a:ln/>
        </p:spPr>
        <p:txBody>
          <a:bodyPr wrap="square" lIns="0" tIns="0" rIns="0" bIns="0" rtlCol="0" anchor="ctr"/>
          <a:lstStyle/>
          <a:p>
            <a:pPr indent="0" marL="0">
              <a:buNone/>
            </a:pPr>
            <a:r>
              <a:rPr lang="en-US" sz="3100" b="1" dirty="0">
                <a:solidFill>
                  <a:srgbClr val="1B2A41"/>
                </a:solidFill>
                <a:latin typeface="Cambria" pitchFamily="34" charset="0"/>
                <a:ea typeface="Cambria" pitchFamily="34" charset="-122"/>
                <a:cs typeface="Cambria" pitchFamily="34" charset="-120"/>
              </a:rPr>
              <a:t>5 Outstanding Deliverables</a:t>
            </a:r>
            <a:endParaRPr lang="en-US" sz="3100" dirty="0"/>
          </a:p>
        </p:txBody>
      </p:sp>
      <p:sp>
        <p:nvSpPr>
          <p:cNvPr id="4" name="Text 2"/>
          <p:cNvSpPr txBox="1"/>
          <p:nvPr/>
        </p:nvSpPr>
        <p:spPr>
          <a:xfrm>
            <a:off x="566928" y="1261872"/>
            <a:ext cx="11057839" cy="292608"/>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Ordered by exposure. The dark marker on each bar shows where the deliverable was planned to be today.</a:t>
            </a:r>
            <a:endParaRPr lang="en-US" sz="1250" dirty="0"/>
          </a:p>
        </p:txBody>
      </p:sp>
      <p:sp>
        <p:nvSpPr>
          <p:cNvPr id="5" name="Shape 3"/>
          <p:cNvSpPr/>
          <p:nvPr/>
        </p:nvSpPr>
        <p:spPr>
          <a:xfrm>
            <a:off x="566928" y="1700784"/>
            <a:ext cx="11057839" cy="768096"/>
          </a:xfrm>
          <a:prstGeom prst="roundRect">
            <a:avLst>
              <a:gd name="adj" fmla="val 11905"/>
            </a:avLst>
          </a:prstGeom>
          <a:solidFill>
            <a:srgbClr val="FFFFFF"/>
          </a:solidFill>
          <a:ln w="12700">
            <a:solidFill>
              <a:srgbClr val="E1E0D9"/>
            </a:solidFill>
            <a:prstDash val="solid"/>
          </a:ln>
          <a:effectLst>
            <a:outerShdw sx="100000" sy="100000" kx="0" ky="0" algn="bl" rotWithShape="0" blurRad="152400" dist="25400" dir="5400000">
              <a:srgbClr val="1B2A41">
                <a:alpha val="10000"/>
              </a:srgbClr>
            </a:outerShdw>
          </a:effectLst>
        </p:spPr>
      </p:sp>
      <p:sp>
        <p:nvSpPr>
          <p:cNvPr id="6" name="Shape 4"/>
          <p:cNvSpPr/>
          <p:nvPr/>
        </p:nvSpPr>
        <p:spPr>
          <a:xfrm>
            <a:off x="731520" y="1975104"/>
            <a:ext cx="219456" cy="219456"/>
          </a:xfrm>
          <a:prstGeom prst="ellipse">
            <a:avLst/>
          </a:prstGeom>
          <a:solidFill>
            <a:srgbClr val="D03B3B"/>
          </a:solidFill>
          <a:ln/>
        </p:spPr>
      </p:sp>
      <p:sp>
        <p:nvSpPr>
          <p:cNvPr id="7" name="Text 5"/>
          <p:cNvSpPr txBox="1"/>
          <p:nvPr/>
        </p:nvSpPr>
        <p:spPr>
          <a:xfrm>
            <a:off x="1097280" y="1819656"/>
            <a:ext cx="2560320" cy="237744"/>
          </a:xfrm>
          <a:prstGeom prst="rect">
            <a:avLst/>
          </a:prstGeom>
          <a:noFill/>
          <a:ln/>
        </p:spPr>
        <p:txBody>
          <a:bodyPr wrap="square" lIns="0" tIns="0" rIns="0" bIns="0" rtlCol="0" anchor="ctr"/>
          <a:lstStyle/>
          <a:p>
            <a:pPr indent="0" marL="0">
              <a:buNone/>
            </a:pPr>
            <a:r>
              <a:rPr lang="en-US" sz="1150" b="1" dirty="0">
                <a:solidFill>
                  <a:srgbClr val="1B2A41"/>
                </a:solidFill>
                <a:latin typeface="Calibri" pitchFamily="34" charset="0"/>
                <a:ea typeface="Calibri" pitchFamily="34" charset="-122"/>
                <a:cs typeface="Calibri" pitchFamily="34" charset="-120"/>
              </a:rPr>
              <a:t>Kinbu School Canteen Tender</a:t>
            </a:r>
            <a:endParaRPr lang="en-US" sz="1150" dirty="0"/>
          </a:p>
        </p:txBody>
      </p:sp>
      <p:sp>
        <p:nvSpPr>
          <p:cNvPr id="8" name="Text 6"/>
          <p:cNvSpPr txBox="1"/>
          <p:nvPr/>
        </p:nvSpPr>
        <p:spPr>
          <a:xfrm>
            <a:off x="1097280" y="2066544"/>
            <a:ext cx="2560320" cy="237744"/>
          </a:xfrm>
          <a:prstGeom prst="rect">
            <a:avLst/>
          </a:prstGeom>
          <a:noFill/>
          <a:ln/>
        </p:spPr>
        <p:txBody>
          <a:bodyPr wrap="square" lIns="0" tIns="0" rIns="0" bIns="0" rtlCol="0" anchor="ctr"/>
          <a:lstStyle/>
          <a:p>
            <a:pPr indent="0" marL="0">
              <a:buNone/>
            </a:pPr>
            <a:r>
              <a:rPr lang="en-US" sz="1000" dirty="0">
                <a:solidFill>
                  <a:srgbClr val="52514E"/>
                </a:solidFill>
                <a:latin typeface="Calibri" pitchFamily="34" charset="0"/>
                <a:ea typeface="Calibri" pitchFamily="34" charset="-122"/>
                <a:cs typeface="Calibri" pitchFamily="34" charset="-120"/>
              </a:rPr>
              <a:t>Priced BoQ</a:t>
            </a:r>
            <a:endParaRPr lang="en-US" sz="1000" dirty="0"/>
          </a:p>
        </p:txBody>
      </p:sp>
      <p:sp>
        <p:nvSpPr>
          <p:cNvPr id="9" name="Text 7"/>
          <p:cNvSpPr txBox="1"/>
          <p:nvPr/>
        </p:nvSpPr>
        <p:spPr>
          <a:xfrm>
            <a:off x="3877056" y="1810512"/>
            <a:ext cx="1097280" cy="219456"/>
          </a:xfrm>
          <a:prstGeom prst="rect">
            <a:avLst/>
          </a:prstGeom>
          <a:noFill/>
          <a:ln/>
        </p:spPr>
        <p:txBody>
          <a:bodyPr wrap="square" lIns="0" tIns="0" rIns="0" bIns="0" rtlCol="0" anchor="ctr"/>
          <a:lstStyle/>
          <a:p>
            <a:pPr indent="0" marL="0">
              <a:buNone/>
            </a:pPr>
            <a:r>
              <a:rPr lang="en-US" sz="950" b="1" dirty="0">
                <a:solidFill>
                  <a:srgbClr val="1B2A41"/>
                </a:solidFill>
                <a:latin typeface="Calibri" pitchFamily="34" charset="0"/>
                <a:ea typeface="Calibri" pitchFamily="34" charset="-122"/>
                <a:cs typeface="Calibri" pitchFamily="34" charset="-120"/>
              </a:rPr>
              <a:t>Actual 10%</a:t>
            </a:r>
            <a:endParaRPr lang="en-US" sz="950" dirty="0"/>
          </a:p>
        </p:txBody>
      </p:sp>
      <p:sp>
        <p:nvSpPr>
          <p:cNvPr id="10" name="Text 8"/>
          <p:cNvSpPr txBox="1"/>
          <p:nvPr/>
        </p:nvSpPr>
        <p:spPr>
          <a:xfrm>
            <a:off x="4974336" y="1810512"/>
            <a:ext cx="1280160" cy="219456"/>
          </a:xfrm>
          <a:prstGeom prst="rect">
            <a:avLst/>
          </a:prstGeom>
          <a:noFill/>
          <a:ln/>
        </p:spPr>
        <p:txBody>
          <a:bodyPr wrap="square" lIns="0" tIns="0" rIns="0" bIns="0" rtlCol="0" anchor="ctr"/>
          <a:lstStyle/>
          <a:p>
            <a:pPr algn="r" indent="0" marL="0">
              <a:buNone/>
            </a:pPr>
            <a:r>
              <a:rPr lang="en-US" sz="950" dirty="0">
                <a:solidFill>
                  <a:srgbClr val="898781"/>
                </a:solidFill>
                <a:latin typeface="Calibri" pitchFamily="34" charset="0"/>
                <a:ea typeface="Calibri" pitchFamily="34" charset="-122"/>
                <a:cs typeface="Calibri" pitchFamily="34" charset="-120"/>
              </a:rPr>
              <a:t>Planned 100%</a:t>
            </a:r>
            <a:endParaRPr lang="en-US" sz="950" dirty="0"/>
          </a:p>
        </p:txBody>
      </p:sp>
      <p:sp>
        <p:nvSpPr>
          <p:cNvPr id="11" name="Shape 9"/>
          <p:cNvSpPr/>
          <p:nvPr/>
        </p:nvSpPr>
        <p:spPr>
          <a:xfrm>
            <a:off x="3877056" y="2112264"/>
            <a:ext cx="2377440" cy="155448"/>
          </a:xfrm>
          <a:prstGeom prst="roundRect">
            <a:avLst>
              <a:gd name="adj" fmla="val 50000"/>
            </a:avLst>
          </a:prstGeom>
          <a:solidFill>
            <a:srgbClr val="E3E9F0"/>
          </a:solidFill>
          <a:ln/>
        </p:spPr>
      </p:sp>
      <p:sp>
        <p:nvSpPr>
          <p:cNvPr id="12" name="Shape 10"/>
          <p:cNvSpPr/>
          <p:nvPr/>
        </p:nvSpPr>
        <p:spPr>
          <a:xfrm>
            <a:off x="3877056" y="2112264"/>
            <a:ext cx="237744" cy="155448"/>
          </a:xfrm>
          <a:prstGeom prst="roundRect">
            <a:avLst>
              <a:gd name="adj" fmla="val 50000"/>
            </a:avLst>
          </a:prstGeom>
          <a:solidFill>
            <a:srgbClr val="D03B3B"/>
          </a:solidFill>
          <a:ln/>
        </p:spPr>
      </p:sp>
      <p:sp>
        <p:nvSpPr>
          <p:cNvPr id="13" name="Shape 11"/>
          <p:cNvSpPr/>
          <p:nvPr/>
        </p:nvSpPr>
        <p:spPr>
          <a:xfrm>
            <a:off x="6222492" y="2043684"/>
            <a:ext cx="32004" cy="292608"/>
          </a:xfrm>
          <a:prstGeom prst="rect">
            <a:avLst/>
          </a:prstGeom>
          <a:solidFill>
            <a:srgbClr val="1B2A41"/>
          </a:solidFill>
          <a:ln/>
        </p:spPr>
      </p:sp>
      <p:sp>
        <p:nvSpPr>
          <p:cNvPr id="14" name="Text 12"/>
          <p:cNvSpPr txBox="1"/>
          <p:nvPr/>
        </p:nvSpPr>
        <p:spPr>
          <a:xfrm>
            <a:off x="6739128" y="1837944"/>
            <a:ext cx="1325880" cy="201168"/>
          </a:xfrm>
          <a:prstGeom prst="rect">
            <a:avLst/>
          </a:prstGeom>
          <a:noFill/>
          <a:ln/>
        </p:spPr>
        <p:txBody>
          <a:bodyPr wrap="square" lIns="0" tIns="0" rIns="0" bIns="0" rtlCol="0" anchor="ctr"/>
          <a:lstStyle/>
          <a:p>
            <a:pPr indent="0" marL="0">
              <a:buNone/>
            </a:pPr>
            <a:r>
              <a:rPr lang="en-US" sz="800" b="1" spc="110" kern="0" dirty="0">
                <a:solidFill>
                  <a:srgbClr val="898781"/>
                </a:solidFill>
                <a:latin typeface="Calibri" pitchFamily="34" charset="0"/>
                <a:ea typeface="Calibri" pitchFamily="34" charset="-122"/>
                <a:cs typeface="Calibri" pitchFamily="34" charset="-120"/>
              </a:rPr>
              <a:t>DUE</a:t>
            </a:r>
            <a:endParaRPr lang="en-US" sz="800" dirty="0"/>
          </a:p>
        </p:txBody>
      </p:sp>
      <p:sp>
        <p:nvSpPr>
          <p:cNvPr id="15" name="Text 13"/>
          <p:cNvSpPr txBox="1"/>
          <p:nvPr/>
        </p:nvSpPr>
        <p:spPr>
          <a:xfrm>
            <a:off x="6739128" y="2048256"/>
            <a:ext cx="1325880" cy="256032"/>
          </a:xfrm>
          <a:prstGeom prst="rect">
            <a:avLst/>
          </a:prstGeom>
          <a:noFill/>
          <a:ln/>
        </p:spPr>
        <p:txBody>
          <a:bodyPr wrap="square" lIns="0" tIns="0" rIns="0" bIns="0" rtlCol="0" anchor="ctr"/>
          <a:lstStyle/>
          <a:p>
            <a:pPr indent="0" marL="0">
              <a:buNone/>
            </a:pPr>
            <a:r>
              <a:rPr lang="en-US" sz="1100" b="1" dirty="0">
                <a:solidFill>
                  <a:srgbClr val="1B2A41"/>
                </a:solidFill>
                <a:latin typeface="Calibri" pitchFamily="34" charset="0"/>
                <a:ea typeface="Calibri" pitchFamily="34" charset="-122"/>
                <a:cs typeface="Calibri" pitchFamily="34" charset="-120"/>
              </a:rPr>
              <a:t>24 Sep 2026</a:t>
            </a:r>
            <a:endParaRPr lang="en-US" sz="1100" dirty="0"/>
          </a:p>
        </p:txBody>
      </p:sp>
      <p:sp>
        <p:nvSpPr>
          <p:cNvPr id="16" name="Text 14"/>
          <p:cNvSpPr txBox="1"/>
          <p:nvPr/>
        </p:nvSpPr>
        <p:spPr>
          <a:xfrm>
            <a:off x="8266176" y="1837944"/>
            <a:ext cx="1691640" cy="201168"/>
          </a:xfrm>
          <a:prstGeom prst="rect">
            <a:avLst/>
          </a:prstGeom>
          <a:noFill/>
          <a:ln/>
        </p:spPr>
        <p:txBody>
          <a:bodyPr wrap="square" lIns="0" tIns="0" rIns="0" bIns="0" rtlCol="0" anchor="ctr"/>
          <a:lstStyle/>
          <a:p>
            <a:pPr indent="0" marL="0">
              <a:buNone/>
            </a:pPr>
            <a:r>
              <a:rPr lang="en-US" sz="800" b="1" spc="110" kern="0" dirty="0">
                <a:solidFill>
                  <a:srgbClr val="898781"/>
                </a:solidFill>
                <a:latin typeface="Calibri" pitchFamily="34" charset="0"/>
                <a:ea typeface="Calibri" pitchFamily="34" charset="-122"/>
                <a:cs typeface="Calibri" pitchFamily="34" charset="-120"/>
              </a:rPr>
              <a:t>OWNER</a:t>
            </a:r>
            <a:endParaRPr lang="en-US" sz="800" dirty="0"/>
          </a:p>
        </p:txBody>
      </p:sp>
      <p:sp>
        <p:nvSpPr>
          <p:cNvPr id="17" name="Text 15"/>
          <p:cNvSpPr txBox="1"/>
          <p:nvPr/>
        </p:nvSpPr>
        <p:spPr>
          <a:xfrm>
            <a:off x="8266176" y="2048256"/>
            <a:ext cx="1691640" cy="256032"/>
          </a:xfrm>
          <a:prstGeom prst="rect">
            <a:avLst/>
          </a:prstGeom>
          <a:noFill/>
          <a:ln/>
        </p:spPr>
        <p:txBody>
          <a:bodyPr wrap="square" lIns="0" tIns="0" rIns="0" bIns="0" rtlCol="0" anchor="ctr"/>
          <a:lstStyle/>
          <a:p>
            <a:pPr indent="0" marL="0">
              <a:buNone/>
            </a:pPr>
            <a:r>
              <a:rPr lang="en-US" sz="1000" dirty="0">
                <a:solidFill>
                  <a:srgbClr val="52514E"/>
                </a:solidFill>
                <a:latin typeface="Calibri" pitchFamily="34" charset="0"/>
                <a:ea typeface="Calibri" pitchFamily="34" charset="-122"/>
                <a:cs typeface="Calibri" pitchFamily="34" charset="-120"/>
              </a:rPr>
              <a:t>Team</a:t>
            </a:r>
            <a:endParaRPr lang="en-US" sz="1000" dirty="0"/>
          </a:p>
        </p:txBody>
      </p:sp>
      <p:sp>
        <p:nvSpPr>
          <p:cNvPr id="18" name="Shape 16"/>
          <p:cNvSpPr/>
          <p:nvPr/>
        </p:nvSpPr>
        <p:spPr>
          <a:xfrm>
            <a:off x="10186416" y="1929384"/>
            <a:ext cx="1170432" cy="310896"/>
          </a:xfrm>
          <a:prstGeom prst="roundRect">
            <a:avLst>
              <a:gd name="adj" fmla="val 50000"/>
            </a:avLst>
          </a:prstGeom>
          <a:solidFill>
            <a:srgbClr val="D03B3B"/>
          </a:solidFill>
          <a:ln/>
        </p:spPr>
      </p:sp>
      <p:sp>
        <p:nvSpPr>
          <p:cNvPr id="19" name="Text 17"/>
          <p:cNvSpPr txBox="1"/>
          <p:nvPr/>
        </p:nvSpPr>
        <p:spPr>
          <a:xfrm>
            <a:off x="10186416" y="1929384"/>
            <a:ext cx="1170432" cy="310896"/>
          </a:xfrm>
          <a:prstGeom prst="rect">
            <a:avLst/>
          </a:prstGeom>
          <a:noFill/>
          <a:ln/>
        </p:spPr>
        <p:txBody>
          <a:bodyPr wrap="square" lIns="0" tIns="0" rIns="0" bIns="0" rtlCol="0" anchor="ctr"/>
          <a:lstStyle/>
          <a:p>
            <a:pPr algn="ctr" indent="0" marL="0">
              <a:buNone/>
            </a:pPr>
            <a:r>
              <a:rPr lang="en-US" sz="900" b="1" spc="40" kern="0" dirty="0">
                <a:solidFill>
                  <a:srgbClr val="FFFFFF"/>
                </a:solidFill>
                <a:latin typeface="Calibri" pitchFamily="34" charset="0"/>
                <a:ea typeface="Calibri" pitchFamily="34" charset="-122"/>
                <a:cs typeface="Calibri" pitchFamily="34" charset="-120"/>
              </a:rPr>
              <a:t>CRITICAL</a:t>
            </a:r>
            <a:endParaRPr lang="en-US" sz="900" dirty="0"/>
          </a:p>
        </p:txBody>
      </p:sp>
      <p:sp>
        <p:nvSpPr>
          <p:cNvPr id="20" name="Shape 18"/>
          <p:cNvSpPr/>
          <p:nvPr/>
        </p:nvSpPr>
        <p:spPr>
          <a:xfrm>
            <a:off x="566928" y="2587752"/>
            <a:ext cx="11057839" cy="768096"/>
          </a:xfrm>
          <a:prstGeom prst="roundRect">
            <a:avLst>
              <a:gd name="adj" fmla="val 11905"/>
            </a:avLst>
          </a:prstGeom>
          <a:solidFill>
            <a:srgbClr val="FFFFFF"/>
          </a:solidFill>
          <a:ln w="12700">
            <a:solidFill>
              <a:srgbClr val="E1E0D9"/>
            </a:solidFill>
            <a:prstDash val="solid"/>
          </a:ln>
          <a:effectLst>
            <a:outerShdw sx="100000" sy="100000" kx="0" ky="0" algn="bl" rotWithShape="0" blurRad="152400" dist="25400" dir="5400000">
              <a:srgbClr val="1B2A41">
                <a:alpha val="10000"/>
              </a:srgbClr>
            </a:outerShdw>
          </a:effectLst>
        </p:spPr>
      </p:sp>
      <p:sp>
        <p:nvSpPr>
          <p:cNvPr id="21" name="Shape 19"/>
          <p:cNvSpPr/>
          <p:nvPr/>
        </p:nvSpPr>
        <p:spPr>
          <a:xfrm>
            <a:off x="731520" y="2862072"/>
            <a:ext cx="219456" cy="219456"/>
          </a:xfrm>
          <a:prstGeom prst="ellipse">
            <a:avLst/>
          </a:prstGeom>
          <a:solidFill>
            <a:srgbClr val="EC835A"/>
          </a:solidFill>
          <a:ln/>
        </p:spPr>
      </p:sp>
      <p:sp>
        <p:nvSpPr>
          <p:cNvPr id="22" name="Text 20"/>
          <p:cNvSpPr txBox="1"/>
          <p:nvPr/>
        </p:nvSpPr>
        <p:spPr>
          <a:xfrm>
            <a:off x="1097280" y="2706624"/>
            <a:ext cx="2560320" cy="237744"/>
          </a:xfrm>
          <a:prstGeom prst="rect">
            <a:avLst/>
          </a:prstGeom>
          <a:noFill/>
          <a:ln/>
        </p:spPr>
        <p:txBody>
          <a:bodyPr wrap="square" lIns="0" tIns="0" rIns="0" bIns="0" rtlCol="0" anchor="ctr"/>
          <a:lstStyle/>
          <a:p>
            <a:pPr indent="0" marL="0">
              <a:buNone/>
            </a:pPr>
            <a:r>
              <a:rPr lang="en-US" sz="1150" b="1" dirty="0">
                <a:solidFill>
                  <a:srgbClr val="1B2A41"/>
                </a:solidFill>
                <a:latin typeface="Calibri" pitchFamily="34" charset="0"/>
                <a:ea typeface="Calibri" pitchFamily="34" charset="-122"/>
                <a:cs typeface="Calibri" pitchFamily="34" charset="-120"/>
              </a:rPr>
              <a:t>Stanbic Bank</a:t>
            </a:r>
            <a:endParaRPr lang="en-US" sz="1150" dirty="0"/>
          </a:p>
        </p:txBody>
      </p:sp>
      <p:sp>
        <p:nvSpPr>
          <p:cNvPr id="23" name="Text 21"/>
          <p:cNvSpPr txBox="1"/>
          <p:nvPr/>
        </p:nvSpPr>
        <p:spPr>
          <a:xfrm>
            <a:off x="1097280" y="2953512"/>
            <a:ext cx="2560320" cy="237744"/>
          </a:xfrm>
          <a:prstGeom prst="rect">
            <a:avLst/>
          </a:prstGeom>
          <a:noFill/>
          <a:ln/>
        </p:spPr>
        <p:txBody>
          <a:bodyPr wrap="square" lIns="0" tIns="0" rIns="0" bIns="0" rtlCol="0" anchor="ctr"/>
          <a:lstStyle/>
          <a:p>
            <a:pPr indent="0" marL="0">
              <a:buNone/>
            </a:pPr>
            <a:r>
              <a:rPr lang="en-US" sz="1000" dirty="0">
                <a:solidFill>
                  <a:srgbClr val="52514E"/>
                </a:solidFill>
                <a:latin typeface="Calibri" pitchFamily="34" charset="0"/>
                <a:ea typeface="Calibri" pitchFamily="34" charset="-122"/>
                <a:cs typeface="Calibri" pitchFamily="34" charset="-120"/>
              </a:rPr>
              <a:t>Preliminary Estimate</a:t>
            </a:r>
            <a:endParaRPr lang="en-US" sz="1000" dirty="0"/>
          </a:p>
        </p:txBody>
      </p:sp>
      <p:sp>
        <p:nvSpPr>
          <p:cNvPr id="24" name="Text 22"/>
          <p:cNvSpPr txBox="1"/>
          <p:nvPr/>
        </p:nvSpPr>
        <p:spPr>
          <a:xfrm>
            <a:off x="3877056" y="2697480"/>
            <a:ext cx="1097280" cy="219456"/>
          </a:xfrm>
          <a:prstGeom prst="rect">
            <a:avLst/>
          </a:prstGeom>
          <a:noFill/>
          <a:ln/>
        </p:spPr>
        <p:txBody>
          <a:bodyPr wrap="square" lIns="0" tIns="0" rIns="0" bIns="0" rtlCol="0" anchor="ctr"/>
          <a:lstStyle/>
          <a:p>
            <a:pPr indent="0" marL="0">
              <a:buNone/>
            </a:pPr>
            <a:r>
              <a:rPr lang="en-US" sz="950" b="1" dirty="0">
                <a:solidFill>
                  <a:srgbClr val="1B2A41"/>
                </a:solidFill>
                <a:latin typeface="Calibri" pitchFamily="34" charset="0"/>
                <a:ea typeface="Calibri" pitchFamily="34" charset="-122"/>
                <a:cs typeface="Calibri" pitchFamily="34" charset="-120"/>
              </a:rPr>
              <a:t>Actual 50%</a:t>
            </a:r>
            <a:endParaRPr lang="en-US" sz="950" dirty="0"/>
          </a:p>
        </p:txBody>
      </p:sp>
      <p:sp>
        <p:nvSpPr>
          <p:cNvPr id="25" name="Text 23"/>
          <p:cNvSpPr txBox="1"/>
          <p:nvPr/>
        </p:nvSpPr>
        <p:spPr>
          <a:xfrm>
            <a:off x="4974336" y="2697480"/>
            <a:ext cx="1280160" cy="219456"/>
          </a:xfrm>
          <a:prstGeom prst="rect">
            <a:avLst/>
          </a:prstGeom>
          <a:noFill/>
          <a:ln/>
        </p:spPr>
        <p:txBody>
          <a:bodyPr wrap="square" lIns="0" tIns="0" rIns="0" bIns="0" rtlCol="0" anchor="ctr"/>
          <a:lstStyle/>
          <a:p>
            <a:pPr algn="r" indent="0" marL="0">
              <a:buNone/>
            </a:pPr>
            <a:r>
              <a:rPr lang="en-US" sz="950" dirty="0">
                <a:solidFill>
                  <a:srgbClr val="898781"/>
                </a:solidFill>
                <a:latin typeface="Calibri" pitchFamily="34" charset="0"/>
                <a:ea typeface="Calibri" pitchFamily="34" charset="-122"/>
                <a:cs typeface="Calibri" pitchFamily="34" charset="-120"/>
              </a:rPr>
              <a:t>Planned 100%</a:t>
            </a:r>
            <a:endParaRPr lang="en-US" sz="950" dirty="0"/>
          </a:p>
        </p:txBody>
      </p:sp>
      <p:sp>
        <p:nvSpPr>
          <p:cNvPr id="26" name="Shape 24"/>
          <p:cNvSpPr/>
          <p:nvPr/>
        </p:nvSpPr>
        <p:spPr>
          <a:xfrm>
            <a:off x="3877056" y="2999232"/>
            <a:ext cx="2377440" cy="155448"/>
          </a:xfrm>
          <a:prstGeom prst="roundRect">
            <a:avLst>
              <a:gd name="adj" fmla="val 50000"/>
            </a:avLst>
          </a:prstGeom>
          <a:solidFill>
            <a:srgbClr val="E3E9F0"/>
          </a:solidFill>
          <a:ln/>
        </p:spPr>
      </p:sp>
      <p:sp>
        <p:nvSpPr>
          <p:cNvPr id="27" name="Shape 25"/>
          <p:cNvSpPr/>
          <p:nvPr/>
        </p:nvSpPr>
        <p:spPr>
          <a:xfrm>
            <a:off x="3877056" y="2999232"/>
            <a:ext cx="1188720" cy="155448"/>
          </a:xfrm>
          <a:prstGeom prst="roundRect">
            <a:avLst>
              <a:gd name="adj" fmla="val 50000"/>
            </a:avLst>
          </a:prstGeom>
          <a:solidFill>
            <a:srgbClr val="EC835A"/>
          </a:solidFill>
          <a:ln/>
        </p:spPr>
      </p:sp>
      <p:sp>
        <p:nvSpPr>
          <p:cNvPr id="28" name="Shape 26"/>
          <p:cNvSpPr/>
          <p:nvPr/>
        </p:nvSpPr>
        <p:spPr>
          <a:xfrm>
            <a:off x="6222492" y="2930652"/>
            <a:ext cx="32004" cy="292608"/>
          </a:xfrm>
          <a:prstGeom prst="rect">
            <a:avLst/>
          </a:prstGeom>
          <a:solidFill>
            <a:srgbClr val="1B2A41"/>
          </a:solidFill>
          <a:ln/>
        </p:spPr>
      </p:sp>
      <p:sp>
        <p:nvSpPr>
          <p:cNvPr id="29" name="Text 27"/>
          <p:cNvSpPr txBox="1"/>
          <p:nvPr/>
        </p:nvSpPr>
        <p:spPr>
          <a:xfrm>
            <a:off x="6739128" y="2724912"/>
            <a:ext cx="1325880" cy="201168"/>
          </a:xfrm>
          <a:prstGeom prst="rect">
            <a:avLst/>
          </a:prstGeom>
          <a:noFill/>
          <a:ln/>
        </p:spPr>
        <p:txBody>
          <a:bodyPr wrap="square" lIns="0" tIns="0" rIns="0" bIns="0" rtlCol="0" anchor="ctr"/>
          <a:lstStyle/>
          <a:p>
            <a:pPr indent="0" marL="0">
              <a:buNone/>
            </a:pPr>
            <a:r>
              <a:rPr lang="en-US" sz="800" b="1" spc="110" kern="0" dirty="0">
                <a:solidFill>
                  <a:srgbClr val="898781"/>
                </a:solidFill>
                <a:latin typeface="Calibri" pitchFamily="34" charset="0"/>
                <a:ea typeface="Calibri" pitchFamily="34" charset="-122"/>
                <a:cs typeface="Calibri" pitchFamily="34" charset="-120"/>
              </a:rPr>
              <a:t>DUE</a:t>
            </a:r>
            <a:endParaRPr lang="en-US" sz="800" dirty="0"/>
          </a:p>
        </p:txBody>
      </p:sp>
      <p:sp>
        <p:nvSpPr>
          <p:cNvPr id="30" name="Text 28"/>
          <p:cNvSpPr txBox="1"/>
          <p:nvPr/>
        </p:nvSpPr>
        <p:spPr>
          <a:xfrm>
            <a:off x="6739128" y="2935224"/>
            <a:ext cx="1325880" cy="256032"/>
          </a:xfrm>
          <a:prstGeom prst="rect">
            <a:avLst/>
          </a:prstGeom>
          <a:noFill/>
          <a:ln/>
        </p:spPr>
        <p:txBody>
          <a:bodyPr wrap="square" lIns="0" tIns="0" rIns="0" bIns="0" rtlCol="0" anchor="ctr"/>
          <a:lstStyle/>
          <a:p>
            <a:pPr indent="0" marL="0">
              <a:buNone/>
            </a:pPr>
            <a:r>
              <a:rPr lang="en-US" sz="1100" b="1" dirty="0">
                <a:solidFill>
                  <a:srgbClr val="1B2A41"/>
                </a:solidFill>
                <a:latin typeface="Calibri" pitchFamily="34" charset="0"/>
                <a:ea typeface="Calibri" pitchFamily="34" charset="-122"/>
                <a:cs typeface="Calibri" pitchFamily="34" charset="-120"/>
              </a:rPr>
              <a:t>24 Sep 2026</a:t>
            </a:r>
            <a:endParaRPr lang="en-US" sz="1100" dirty="0"/>
          </a:p>
        </p:txBody>
      </p:sp>
      <p:sp>
        <p:nvSpPr>
          <p:cNvPr id="31" name="Text 29"/>
          <p:cNvSpPr txBox="1"/>
          <p:nvPr/>
        </p:nvSpPr>
        <p:spPr>
          <a:xfrm>
            <a:off x="8266176" y="2724912"/>
            <a:ext cx="1691640" cy="201168"/>
          </a:xfrm>
          <a:prstGeom prst="rect">
            <a:avLst/>
          </a:prstGeom>
          <a:noFill/>
          <a:ln/>
        </p:spPr>
        <p:txBody>
          <a:bodyPr wrap="square" lIns="0" tIns="0" rIns="0" bIns="0" rtlCol="0" anchor="ctr"/>
          <a:lstStyle/>
          <a:p>
            <a:pPr indent="0" marL="0">
              <a:buNone/>
            </a:pPr>
            <a:r>
              <a:rPr lang="en-US" sz="800" b="1" spc="110" kern="0" dirty="0">
                <a:solidFill>
                  <a:srgbClr val="898781"/>
                </a:solidFill>
                <a:latin typeface="Calibri" pitchFamily="34" charset="0"/>
                <a:ea typeface="Calibri" pitchFamily="34" charset="-122"/>
                <a:cs typeface="Calibri" pitchFamily="34" charset="-120"/>
              </a:rPr>
              <a:t>OWNER</a:t>
            </a:r>
            <a:endParaRPr lang="en-US" sz="800" dirty="0"/>
          </a:p>
        </p:txBody>
      </p:sp>
      <p:sp>
        <p:nvSpPr>
          <p:cNvPr id="32" name="Text 30"/>
          <p:cNvSpPr txBox="1"/>
          <p:nvPr/>
        </p:nvSpPr>
        <p:spPr>
          <a:xfrm>
            <a:off x="8266176" y="2935224"/>
            <a:ext cx="1691640" cy="256032"/>
          </a:xfrm>
          <a:prstGeom prst="rect">
            <a:avLst/>
          </a:prstGeom>
          <a:noFill/>
          <a:ln/>
        </p:spPr>
        <p:txBody>
          <a:bodyPr wrap="square" lIns="0" tIns="0" rIns="0" bIns="0" rtlCol="0" anchor="ctr"/>
          <a:lstStyle/>
          <a:p>
            <a:pPr indent="0" marL="0">
              <a:buNone/>
            </a:pPr>
            <a:r>
              <a:rPr lang="en-US" sz="1000" dirty="0">
                <a:solidFill>
                  <a:srgbClr val="52514E"/>
                </a:solidFill>
                <a:latin typeface="Calibri" pitchFamily="34" charset="0"/>
                <a:ea typeface="Calibri" pitchFamily="34" charset="-122"/>
                <a:cs typeface="Calibri" pitchFamily="34" charset="-120"/>
              </a:rPr>
              <a:t>Team</a:t>
            </a:r>
            <a:endParaRPr lang="en-US" sz="1000" dirty="0"/>
          </a:p>
        </p:txBody>
      </p:sp>
      <p:sp>
        <p:nvSpPr>
          <p:cNvPr id="33" name="Shape 31"/>
          <p:cNvSpPr/>
          <p:nvPr/>
        </p:nvSpPr>
        <p:spPr>
          <a:xfrm>
            <a:off x="10186416" y="2816352"/>
            <a:ext cx="1170432" cy="310896"/>
          </a:xfrm>
          <a:prstGeom prst="roundRect">
            <a:avLst>
              <a:gd name="adj" fmla="val 50000"/>
            </a:avLst>
          </a:prstGeom>
          <a:solidFill>
            <a:srgbClr val="EC835A"/>
          </a:solidFill>
          <a:ln/>
        </p:spPr>
      </p:sp>
      <p:sp>
        <p:nvSpPr>
          <p:cNvPr id="34" name="Text 32"/>
          <p:cNvSpPr txBox="1"/>
          <p:nvPr/>
        </p:nvSpPr>
        <p:spPr>
          <a:xfrm>
            <a:off x="10186416" y="2816352"/>
            <a:ext cx="1170432" cy="310896"/>
          </a:xfrm>
          <a:prstGeom prst="rect">
            <a:avLst/>
          </a:prstGeom>
          <a:noFill/>
          <a:ln/>
        </p:spPr>
        <p:txBody>
          <a:bodyPr wrap="square" lIns="0" tIns="0" rIns="0" bIns="0" rtlCol="0" anchor="ctr"/>
          <a:lstStyle/>
          <a:p>
            <a:pPr algn="ctr" indent="0" marL="0">
              <a:buNone/>
            </a:pPr>
            <a:r>
              <a:rPr lang="en-US" sz="900" b="1" spc="40" kern="0" dirty="0">
                <a:solidFill>
                  <a:srgbClr val="1B2A41"/>
                </a:solidFill>
                <a:latin typeface="Calibri" pitchFamily="34" charset="0"/>
                <a:ea typeface="Calibri" pitchFamily="34" charset="-122"/>
                <a:cs typeface="Calibri" pitchFamily="34" charset="-120"/>
              </a:rPr>
              <a:t>AT RISK</a:t>
            </a:r>
            <a:endParaRPr lang="en-US" sz="900" dirty="0"/>
          </a:p>
        </p:txBody>
      </p:sp>
      <p:sp>
        <p:nvSpPr>
          <p:cNvPr id="35" name="Shape 33"/>
          <p:cNvSpPr/>
          <p:nvPr/>
        </p:nvSpPr>
        <p:spPr>
          <a:xfrm>
            <a:off x="566928" y="3474720"/>
            <a:ext cx="11057839" cy="768096"/>
          </a:xfrm>
          <a:prstGeom prst="roundRect">
            <a:avLst>
              <a:gd name="adj" fmla="val 11905"/>
            </a:avLst>
          </a:prstGeom>
          <a:solidFill>
            <a:srgbClr val="FFFFFF"/>
          </a:solidFill>
          <a:ln w="12700">
            <a:solidFill>
              <a:srgbClr val="E1E0D9"/>
            </a:solidFill>
            <a:prstDash val="solid"/>
          </a:ln>
          <a:effectLst>
            <a:outerShdw sx="100000" sy="100000" kx="0" ky="0" algn="bl" rotWithShape="0" blurRad="152400" dist="25400" dir="5400000">
              <a:srgbClr val="1B2A41">
                <a:alpha val="10000"/>
              </a:srgbClr>
            </a:outerShdw>
          </a:effectLst>
        </p:spPr>
      </p:sp>
      <p:sp>
        <p:nvSpPr>
          <p:cNvPr id="36" name="Shape 34"/>
          <p:cNvSpPr/>
          <p:nvPr/>
        </p:nvSpPr>
        <p:spPr>
          <a:xfrm>
            <a:off x="731520" y="3749040"/>
            <a:ext cx="219456" cy="219456"/>
          </a:xfrm>
          <a:prstGeom prst="ellipse">
            <a:avLst/>
          </a:prstGeom>
          <a:solidFill>
            <a:srgbClr val="D03B3B"/>
          </a:solidFill>
          <a:ln/>
        </p:spPr>
      </p:sp>
      <p:sp>
        <p:nvSpPr>
          <p:cNvPr id="37" name="Text 35"/>
          <p:cNvSpPr txBox="1"/>
          <p:nvPr/>
        </p:nvSpPr>
        <p:spPr>
          <a:xfrm>
            <a:off x="1097280" y="3593592"/>
            <a:ext cx="2560320" cy="237744"/>
          </a:xfrm>
          <a:prstGeom prst="rect">
            <a:avLst/>
          </a:prstGeom>
          <a:noFill/>
          <a:ln/>
        </p:spPr>
        <p:txBody>
          <a:bodyPr wrap="square" lIns="0" tIns="0" rIns="0" bIns="0" rtlCol="0" anchor="ctr"/>
          <a:lstStyle/>
          <a:p>
            <a:pPr indent="0" marL="0">
              <a:buNone/>
            </a:pPr>
            <a:r>
              <a:rPr lang="en-US" sz="1150" b="1" dirty="0">
                <a:solidFill>
                  <a:srgbClr val="1B2A41"/>
                </a:solidFill>
                <a:latin typeface="Calibri" pitchFamily="34" charset="0"/>
                <a:ea typeface="Calibri" pitchFamily="34" charset="-122"/>
                <a:cs typeface="Calibri" pitchFamily="34" charset="-120"/>
              </a:rPr>
              <a:t>Ecole International School</a:t>
            </a:r>
            <a:endParaRPr lang="en-US" sz="1150" dirty="0"/>
          </a:p>
        </p:txBody>
      </p:sp>
      <p:sp>
        <p:nvSpPr>
          <p:cNvPr id="38" name="Text 36"/>
          <p:cNvSpPr txBox="1"/>
          <p:nvPr/>
        </p:nvSpPr>
        <p:spPr>
          <a:xfrm>
            <a:off x="1097280" y="3840480"/>
            <a:ext cx="2560320" cy="237744"/>
          </a:xfrm>
          <a:prstGeom prst="rect">
            <a:avLst/>
          </a:prstGeom>
          <a:noFill/>
          <a:ln/>
        </p:spPr>
        <p:txBody>
          <a:bodyPr wrap="square" lIns="0" tIns="0" rIns="0" bIns="0" rtlCol="0" anchor="ctr"/>
          <a:lstStyle/>
          <a:p>
            <a:pPr indent="0" marL="0">
              <a:buNone/>
            </a:pPr>
            <a:r>
              <a:rPr lang="en-US" sz="1000" dirty="0">
                <a:solidFill>
                  <a:srgbClr val="52514E"/>
                </a:solidFill>
                <a:latin typeface="Calibri" pitchFamily="34" charset="0"/>
                <a:ea typeface="Calibri" pitchFamily="34" charset="-122"/>
                <a:cs typeface="Calibri" pitchFamily="34" charset="-120"/>
              </a:rPr>
              <a:t>BoQ and Budget</a:t>
            </a:r>
            <a:endParaRPr lang="en-US" sz="1000" dirty="0"/>
          </a:p>
        </p:txBody>
      </p:sp>
      <p:sp>
        <p:nvSpPr>
          <p:cNvPr id="39" name="Text 37"/>
          <p:cNvSpPr txBox="1"/>
          <p:nvPr/>
        </p:nvSpPr>
        <p:spPr>
          <a:xfrm>
            <a:off x="3877056" y="3584448"/>
            <a:ext cx="1097280" cy="219456"/>
          </a:xfrm>
          <a:prstGeom prst="rect">
            <a:avLst/>
          </a:prstGeom>
          <a:noFill/>
          <a:ln/>
        </p:spPr>
        <p:txBody>
          <a:bodyPr wrap="square" lIns="0" tIns="0" rIns="0" bIns="0" rtlCol="0" anchor="ctr"/>
          <a:lstStyle/>
          <a:p>
            <a:pPr indent="0" marL="0">
              <a:buNone/>
            </a:pPr>
            <a:r>
              <a:rPr lang="en-US" sz="950" b="1" dirty="0">
                <a:solidFill>
                  <a:srgbClr val="1B2A41"/>
                </a:solidFill>
                <a:latin typeface="Calibri" pitchFamily="34" charset="0"/>
                <a:ea typeface="Calibri" pitchFamily="34" charset="-122"/>
                <a:cs typeface="Calibri" pitchFamily="34" charset="-120"/>
              </a:rPr>
              <a:t>Actual 50%</a:t>
            </a:r>
            <a:endParaRPr lang="en-US" sz="950" dirty="0"/>
          </a:p>
        </p:txBody>
      </p:sp>
      <p:sp>
        <p:nvSpPr>
          <p:cNvPr id="40" name="Text 38"/>
          <p:cNvSpPr txBox="1"/>
          <p:nvPr/>
        </p:nvSpPr>
        <p:spPr>
          <a:xfrm>
            <a:off x="4974336" y="3584448"/>
            <a:ext cx="1280160" cy="219456"/>
          </a:xfrm>
          <a:prstGeom prst="rect">
            <a:avLst/>
          </a:prstGeom>
          <a:noFill/>
          <a:ln/>
        </p:spPr>
        <p:txBody>
          <a:bodyPr wrap="square" lIns="0" tIns="0" rIns="0" bIns="0" rtlCol="0" anchor="ctr"/>
          <a:lstStyle/>
          <a:p>
            <a:pPr algn="r" indent="0" marL="0">
              <a:buNone/>
            </a:pPr>
            <a:r>
              <a:rPr lang="en-US" sz="950" dirty="0">
                <a:solidFill>
                  <a:srgbClr val="898781"/>
                </a:solidFill>
                <a:latin typeface="Calibri" pitchFamily="34" charset="0"/>
                <a:ea typeface="Calibri" pitchFamily="34" charset="-122"/>
                <a:cs typeface="Calibri" pitchFamily="34" charset="-120"/>
              </a:rPr>
              <a:t>Planned 100%</a:t>
            </a:r>
            <a:endParaRPr lang="en-US" sz="950" dirty="0"/>
          </a:p>
        </p:txBody>
      </p:sp>
      <p:sp>
        <p:nvSpPr>
          <p:cNvPr id="41" name="Shape 39"/>
          <p:cNvSpPr/>
          <p:nvPr/>
        </p:nvSpPr>
        <p:spPr>
          <a:xfrm>
            <a:off x="3877056" y="3886200"/>
            <a:ext cx="2377440" cy="155448"/>
          </a:xfrm>
          <a:prstGeom prst="roundRect">
            <a:avLst>
              <a:gd name="adj" fmla="val 50000"/>
            </a:avLst>
          </a:prstGeom>
          <a:solidFill>
            <a:srgbClr val="E3E9F0"/>
          </a:solidFill>
          <a:ln/>
        </p:spPr>
      </p:sp>
      <p:sp>
        <p:nvSpPr>
          <p:cNvPr id="42" name="Shape 40"/>
          <p:cNvSpPr/>
          <p:nvPr/>
        </p:nvSpPr>
        <p:spPr>
          <a:xfrm>
            <a:off x="3877056" y="3886200"/>
            <a:ext cx="1188720" cy="155448"/>
          </a:xfrm>
          <a:prstGeom prst="roundRect">
            <a:avLst>
              <a:gd name="adj" fmla="val 50000"/>
            </a:avLst>
          </a:prstGeom>
          <a:solidFill>
            <a:srgbClr val="D03B3B"/>
          </a:solidFill>
          <a:ln/>
        </p:spPr>
      </p:sp>
      <p:sp>
        <p:nvSpPr>
          <p:cNvPr id="43" name="Shape 41"/>
          <p:cNvSpPr/>
          <p:nvPr/>
        </p:nvSpPr>
        <p:spPr>
          <a:xfrm>
            <a:off x="6222492" y="3817620"/>
            <a:ext cx="32004" cy="292608"/>
          </a:xfrm>
          <a:prstGeom prst="rect">
            <a:avLst/>
          </a:prstGeom>
          <a:solidFill>
            <a:srgbClr val="1B2A41"/>
          </a:solidFill>
          <a:ln/>
        </p:spPr>
      </p:sp>
      <p:sp>
        <p:nvSpPr>
          <p:cNvPr id="44" name="Text 42"/>
          <p:cNvSpPr txBox="1"/>
          <p:nvPr/>
        </p:nvSpPr>
        <p:spPr>
          <a:xfrm>
            <a:off x="6739128" y="3611880"/>
            <a:ext cx="1325880" cy="201168"/>
          </a:xfrm>
          <a:prstGeom prst="rect">
            <a:avLst/>
          </a:prstGeom>
          <a:noFill/>
          <a:ln/>
        </p:spPr>
        <p:txBody>
          <a:bodyPr wrap="square" lIns="0" tIns="0" rIns="0" bIns="0" rtlCol="0" anchor="ctr"/>
          <a:lstStyle/>
          <a:p>
            <a:pPr indent="0" marL="0">
              <a:buNone/>
            </a:pPr>
            <a:r>
              <a:rPr lang="en-US" sz="800" b="1" spc="110" kern="0" dirty="0">
                <a:solidFill>
                  <a:srgbClr val="898781"/>
                </a:solidFill>
                <a:latin typeface="Calibri" pitchFamily="34" charset="0"/>
                <a:ea typeface="Calibri" pitchFamily="34" charset="-122"/>
                <a:cs typeface="Calibri" pitchFamily="34" charset="-120"/>
              </a:rPr>
              <a:t>DUE</a:t>
            </a:r>
            <a:endParaRPr lang="en-US" sz="800" dirty="0"/>
          </a:p>
        </p:txBody>
      </p:sp>
      <p:sp>
        <p:nvSpPr>
          <p:cNvPr id="45" name="Text 43"/>
          <p:cNvSpPr txBox="1"/>
          <p:nvPr/>
        </p:nvSpPr>
        <p:spPr>
          <a:xfrm>
            <a:off x="6739128" y="3822192"/>
            <a:ext cx="1325880" cy="256032"/>
          </a:xfrm>
          <a:prstGeom prst="rect">
            <a:avLst/>
          </a:prstGeom>
          <a:noFill/>
          <a:ln/>
        </p:spPr>
        <p:txBody>
          <a:bodyPr wrap="square" lIns="0" tIns="0" rIns="0" bIns="0" rtlCol="0" anchor="ctr"/>
          <a:lstStyle/>
          <a:p>
            <a:pPr indent="0" marL="0">
              <a:buNone/>
            </a:pPr>
            <a:r>
              <a:rPr lang="en-US" sz="1100" b="1" dirty="0">
                <a:solidFill>
                  <a:srgbClr val="1B2A41"/>
                </a:solidFill>
                <a:latin typeface="Calibri" pitchFamily="34" charset="0"/>
                <a:ea typeface="Calibri" pitchFamily="34" charset="-122"/>
                <a:cs typeface="Calibri" pitchFamily="34" charset="-120"/>
              </a:rPr>
              <a:t>18 Sep 2026</a:t>
            </a:r>
            <a:endParaRPr lang="en-US" sz="1100" dirty="0"/>
          </a:p>
        </p:txBody>
      </p:sp>
      <p:sp>
        <p:nvSpPr>
          <p:cNvPr id="46" name="Text 44"/>
          <p:cNvSpPr txBox="1"/>
          <p:nvPr/>
        </p:nvSpPr>
        <p:spPr>
          <a:xfrm>
            <a:off x="8266176" y="3611880"/>
            <a:ext cx="1691640" cy="201168"/>
          </a:xfrm>
          <a:prstGeom prst="rect">
            <a:avLst/>
          </a:prstGeom>
          <a:noFill/>
          <a:ln/>
        </p:spPr>
        <p:txBody>
          <a:bodyPr wrap="square" lIns="0" tIns="0" rIns="0" bIns="0" rtlCol="0" anchor="ctr"/>
          <a:lstStyle/>
          <a:p>
            <a:pPr indent="0" marL="0">
              <a:buNone/>
            </a:pPr>
            <a:r>
              <a:rPr lang="en-US" sz="800" b="1" spc="110" kern="0" dirty="0">
                <a:solidFill>
                  <a:srgbClr val="898781"/>
                </a:solidFill>
                <a:latin typeface="Calibri" pitchFamily="34" charset="0"/>
                <a:ea typeface="Calibri" pitchFamily="34" charset="-122"/>
                <a:cs typeface="Calibri" pitchFamily="34" charset="-120"/>
              </a:rPr>
              <a:t>OWNER</a:t>
            </a:r>
            <a:endParaRPr lang="en-US" sz="800" dirty="0"/>
          </a:p>
        </p:txBody>
      </p:sp>
      <p:sp>
        <p:nvSpPr>
          <p:cNvPr id="47" name="Text 45"/>
          <p:cNvSpPr txBox="1"/>
          <p:nvPr/>
        </p:nvSpPr>
        <p:spPr>
          <a:xfrm>
            <a:off x="8266176" y="3822192"/>
            <a:ext cx="1691640" cy="256032"/>
          </a:xfrm>
          <a:prstGeom prst="rect">
            <a:avLst/>
          </a:prstGeom>
          <a:noFill/>
          <a:ln/>
        </p:spPr>
        <p:txBody>
          <a:bodyPr wrap="square" lIns="0" tIns="0" rIns="0" bIns="0" rtlCol="0" anchor="ctr"/>
          <a:lstStyle/>
          <a:p>
            <a:pPr indent="0" marL="0">
              <a:buNone/>
            </a:pPr>
            <a:r>
              <a:rPr lang="en-US" sz="1000" dirty="0">
                <a:solidFill>
                  <a:srgbClr val="52514E"/>
                </a:solidFill>
                <a:latin typeface="Calibri" pitchFamily="34" charset="0"/>
                <a:ea typeface="Calibri" pitchFamily="34" charset="-122"/>
                <a:cs typeface="Calibri" pitchFamily="34" charset="-120"/>
              </a:rPr>
              <a:t>Tracy, Obed, Eunice</a:t>
            </a:r>
            <a:endParaRPr lang="en-US" sz="1000" dirty="0"/>
          </a:p>
        </p:txBody>
      </p:sp>
      <p:sp>
        <p:nvSpPr>
          <p:cNvPr id="48" name="Shape 46"/>
          <p:cNvSpPr/>
          <p:nvPr/>
        </p:nvSpPr>
        <p:spPr>
          <a:xfrm>
            <a:off x="10186416" y="3703320"/>
            <a:ext cx="1170432" cy="310896"/>
          </a:xfrm>
          <a:prstGeom prst="roundRect">
            <a:avLst>
              <a:gd name="adj" fmla="val 50000"/>
            </a:avLst>
          </a:prstGeom>
          <a:solidFill>
            <a:srgbClr val="D03B3B"/>
          </a:solidFill>
          <a:ln/>
        </p:spPr>
      </p:sp>
      <p:sp>
        <p:nvSpPr>
          <p:cNvPr id="49" name="Text 47"/>
          <p:cNvSpPr txBox="1"/>
          <p:nvPr/>
        </p:nvSpPr>
        <p:spPr>
          <a:xfrm>
            <a:off x="10186416" y="3703320"/>
            <a:ext cx="1170432" cy="310896"/>
          </a:xfrm>
          <a:prstGeom prst="rect">
            <a:avLst/>
          </a:prstGeom>
          <a:noFill/>
          <a:ln/>
        </p:spPr>
        <p:txBody>
          <a:bodyPr wrap="square" lIns="0" tIns="0" rIns="0" bIns="0" rtlCol="0" anchor="ctr"/>
          <a:lstStyle/>
          <a:p>
            <a:pPr algn="ctr" indent="0" marL="0">
              <a:buNone/>
            </a:pPr>
            <a:r>
              <a:rPr lang="en-US" sz="900" b="1" spc="40" kern="0" dirty="0">
                <a:solidFill>
                  <a:srgbClr val="FFFFFF"/>
                </a:solidFill>
                <a:latin typeface="Calibri" pitchFamily="34" charset="0"/>
                <a:ea typeface="Calibri" pitchFamily="34" charset="-122"/>
                <a:cs typeface="Calibri" pitchFamily="34" charset="-120"/>
              </a:rPr>
              <a:t>DUE TODAY</a:t>
            </a:r>
            <a:endParaRPr lang="en-US" sz="900" dirty="0"/>
          </a:p>
        </p:txBody>
      </p:sp>
      <p:sp>
        <p:nvSpPr>
          <p:cNvPr id="50" name="Shape 48"/>
          <p:cNvSpPr/>
          <p:nvPr/>
        </p:nvSpPr>
        <p:spPr>
          <a:xfrm>
            <a:off x="566928" y="4361688"/>
            <a:ext cx="11057839" cy="768096"/>
          </a:xfrm>
          <a:prstGeom prst="roundRect">
            <a:avLst>
              <a:gd name="adj" fmla="val 11905"/>
            </a:avLst>
          </a:prstGeom>
          <a:solidFill>
            <a:srgbClr val="FFFFFF"/>
          </a:solidFill>
          <a:ln w="12700">
            <a:solidFill>
              <a:srgbClr val="E1E0D9"/>
            </a:solidFill>
            <a:prstDash val="solid"/>
          </a:ln>
          <a:effectLst>
            <a:outerShdw sx="100000" sy="100000" kx="0" ky="0" algn="bl" rotWithShape="0" blurRad="152400" dist="25400" dir="5400000">
              <a:srgbClr val="1B2A41">
                <a:alpha val="10000"/>
              </a:srgbClr>
            </a:outerShdw>
          </a:effectLst>
        </p:spPr>
      </p:sp>
      <p:sp>
        <p:nvSpPr>
          <p:cNvPr id="51" name="Shape 49"/>
          <p:cNvSpPr/>
          <p:nvPr/>
        </p:nvSpPr>
        <p:spPr>
          <a:xfrm>
            <a:off x="731520" y="4636008"/>
            <a:ext cx="219456" cy="219456"/>
          </a:xfrm>
          <a:prstGeom prst="ellipse">
            <a:avLst/>
          </a:prstGeom>
          <a:solidFill>
            <a:srgbClr val="FAB219"/>
          </a:solidFill>
          <a:ln/>
        </p:spPr>
      </p:sp>
      <p:sp>
        <p:nvSpPr>
          <p:cNvPr id="52" name="Text 50"/>
          <p:cNvSpPr txBox="1"/>
          <p:nvPr/>
        </p:nvSpPr>
        <p:spPr>
          <a:xfrm>
            <a:off x="1097280" y="4480560"/>
            <a:ext cx="2560320" cy="237744"/>
          </a:xfrm>
          <a:prstGeom prst="rect">
            <a:avLst/>
          </a:prstGeom>
          <a:noFill/>
          <a:ln/>
        </p:spPr>
        <p:txBody>
          <a:bodyPr wrap="square" lIns="0" tIns="0" rIns="0" bIns="0" rtlCol="0" anchor="ctr"/>
          <a:lstStyle/>
          <a:p>
            <a:pPr indent="0" marL="0">
              <a:buNone/>
            </a:pPr>
            <a:r>
              <a:rPr lang="en-US" sz="1150" b="1" dirty="0">
                <a:solidFill>
                  <a:srgbClr val="1B2A41"/>
                </a:solidFill>
                <a:latin typeface="Calibri" pitchFamily="34" charset="0"/>
                <a:ea typeface="Calibri" pitchFamily="34" charset="-122"/>
                <a:cs typeface="Calibri" pitchFamily="34" charset="-120"/>
              </a:rPr>
              <a:t>Priority Insurance</a:t>
            </a:r>
            <a:endParaRPr lang="en-US" sz="1150" dirty="0"/>
          </a:p>
        </p:txBody>
      </p:sp>
      <p:sp>
        <p:nvSpPr>
          <p:cNvPr id="53" name="Text 51"/>
          <p:cNvSpPr txBox="1"/>
          <p:nvPr/>
        </p:nvSpPr>
        <p:spPr>
          <a:xfrm>
            <a:off x="1097280" y="4727448"/>
            <a:ext cx="2560320" cy="237744"/>
          </a:xfrm>
          <a:prstGeom prst="rect">
            <a:avLst/>
          </a:prstGeom>
          <a:noFill/>
          <a:ln/>
        </p:spPr>
        <p:txBody>
          <a:bodyPr wrap="square" lIns="0" tIns="0" rIns="0" bIns="0" rtlCol="0" anchor="ctr"/>
          <a:lstStyle/>
          <a:p>
            <a:pPr indent="0" marL="0">
              <a:buNone/>
            </a:pPr>
            <a:r>
              <a:rPr lang="en-US" sz="1000" dirty="0">
                <a:solidFill>
                  <a:srgbClr val="52514E"/>
                </a:solidFill>
                <a:latin typeface="Calibri" pitchFamily="34" charset="0"/>
                <a:ea typeface="Calibri" pitchFamily="34" charset="-122"/>
                <a:cs typeface="Calibri" pitchFamily="34" charset="-120"/>
              </a:rPr>
              <a:t>Complete BoQ</a:t>
            </a:r>
            <a:endParaRPr lang="en-US" sz="1000" dirty="0"/>
          </a:p>
        </p:txBody>
      </p:sp>
      <p:sp>
        <p:nvSpPr>
          <p:cNvPr id="54" name="Text 52"/>
          <p:cNvSpPr txBox="1"/>
          <p:nvPr/>
        </p:nvSpPr>
        <p:spPr>
          <a:xfrm>
            <a:off x="3877056" y="4471416"/>
            <a:ext cx="1097280" cy="219456"/>
          </a:xfrm>
          <a:prstGeom prst="rect">
            <a:avLst/>
          </a:prstGeom>
          <a:noFill/>
          <a:ln/>
        </p:spPr>
        <p:txBody>
          <a:bodyPr wrap="square" lIns="0" tIns="0" rIns="0" bIns="0" rtlCol="0" anchor="ctr"/>
          <a:lstStyle/>
          <a:p>
            <a:pPr indent="0" marL="0">
              <a:buNone/>
            </a:pPr>
            <a:r>
              <a:rPr lang="en-US" sz="950" b="1" dirty="0">
                <a:solidFill>
                  <a:srgbClr val="1B2A41"/>
                </a:solidFill>
                <a:latin typeface="Calibri" pitchFamily="34" charset="0"/>
                <a:ea typeface="Calibri" pitchFamily="34" charset="-122"/>
                <a:cs typeface="Calibri" pitchFamily="34" charset="-120"/>
              </a:rPr>
              <a:t>Actual 40%</a:t>
            </a:r>
            <a:endParaRPr lang="en-US" sz="950" dirty="0"/>
          </a:p>
        </p:txBody>
      </p:sp>
      <p:sp>
        <p:nvSpPr>
          <p:cNvPr id="55" name="Text 53"/>
          <p:cNvSpPr txBox="1"/>
          <p:nvPr/>
        </p:nvSpPr>
        <p:spPr>
          <a:xfrm>
            <a:off x="4974336" y="4471416"/>
            <a:ext cx="1280160" cy="219456"/>
          </a:xfrm>
          <a:prstGeom prst="rect">
            <a:avLst/>
          </a:prstGeom>
          <a:noFill/>
          <a:ln/>
        </p:spPr>
        <p:txBody>
          <a:bodyPr wrap="square" lIns="0" tIns="0" rIns="0" bIns="0" rtlCol="0" anchor="ctr"/>
          <a:lstStyle/>
          <a:p>
            <a:pPr algn="r" indent="0" marL="0">
              <a:buNone/>
            </a:pPr>
            <a:r>
              <a:rPr lang="en-US" sz="950" dirty="0">
                <a:solidFill>
                  <a:srgbClr val="898781"/>
                </a:solidFill>
                <a:latin typeface="Calibri" pitchFamily="34" charset="0"/>
                <a:ea typeface="Calibri" pitchFamily="34" charset="-122"/>
                <a:cs typeface="Calibri" pitchFamily="34" charset="-120"/>
              </a:rPr>
              <a:t>Planned 50%</a:t>
            </a:r>
            <a:endParaRPr lang="en-US" sz="950" dirty="0"/>
          </a:p>
        </p:txBody>
      </p:sp>
      <p:sp>
        <p:nvSpPr>
          <p:cNvPr id="56" name="Shape 54"/>
          <p:cNvSpPr/>
          <p:nvPr/>
        </p:nvSpPr>
        <p:spPr>
          <a:xfrm>
            <a:off x="3877056" y="4773168"/>
            <a:ext cx="2377440" cy="155448"/>
          </a:xfrm>
          <a:prstGeom prst="roundRect">
            <a:avLst>
              <a:gd name="adj" fmla="val 50000"/>
            </a:avLst>
          </a:prstGeom>
          <a:solidFill>
            <a:srgbClr val="E3E9F0"/>
          </a:solidFill>
          <a:ln/>
        </p:spPr>
      </p:sp>
      <p:sp>
        <p:nvSpPr>
          <p:cNvPr id="57" name="Shape 55"/>
          <p:cNvSpPr/>
          <p:nvPr/>
        </p:nvSpPr>
        <p:spPr>
          <a:xfrm>
            <a:off x="3877056" y="4773168"/>
            <a:ext cx="950976" cy="155448"/>
          </a:xfrm>
          <a:prstGeom prst="roundRect">
            <a:avLst>
              <a:gd name="adj" fmla="val 50000"/>
            </a:avLst>
          </a:prstGeom>
          <a:solidFill>
            <a:srgbClr val="FAB219"/>
          </a:solidFill>
          <a:ln/>
        </p:spPr>
      </p:sp>
      <p:sp>
        <p:nvSpPr>
          <p:cNvPr id="58" name="Shape 56"/>
          <p:cNvSpPr/>
          <p:nvPr/>
        </p:nvSpPr>
        <p:spPr>
          <a:xfrm>
            <a:off x="5065776" y="4704588"/>
            <a:ext cx="32004" cy="292608"/>
          </a:xfrm>
          <a:prstGeom prst="rect">
            <a:avLst/>
          </a:prstGeom>
          <a:solidFill>
            <a:srgbClr val="1B2A41"/>
          </a:solidFill>
          <a:ln/>
        </p:spPr>
      </p:sp>
      <p:sp>
        <p:nvSpPr>
          <p:cNvPr id="59" name="Text 57"/>
          <p:cNvSpPr txBox="1"/>
          <p:nvPr/>
        </p:nvSpPr>
        <p:spPr>
          <a:xfrm>
            <a:off x="6739128" y="4498848"/>
            <a:ext cx="1325880" cy="201168"/>
          </a:xfrm>
          <a:prstGeom prst="rect">
            <a:avLst/>
          </a:prstGeom>
          <a:noFill/>
          <a:ln/>
        </p:spPr>
        <p:txBody>
          <a:bodyPr wrap="square" lIns="0" tIns="0" rIns="0" bIns="0" rtlCol="0" anchor="ctr"/>
          <a:lstStyle/>
          <a:p>
            <a:pPr indent="0" marL="0">
              <a:buNone/>
            </a:pPr>
            <a:r>
              <a:rPr lang="en-US" sz="800" b="1" spc="110" kern="0" dirty="0">
                <a:solidFill>
                  <a:srgbClr val="898781"/>
                </a:solidFill>
                <a:latin typeface="Calibri" pitchFamily="34" charset="0"/>
                <a:ea typeface="Calibri" pitchFamily="34" charset="-122"/>
                <a:cs typeface="Calibri" pitchFamily="34" charset="-120"/>
              </a:rPr>
              <a:t>DUE</a:t>
            </a:r>
            <a:endParaRPr lang="en-US" sz="800" dirty="0"/>
          </a:p>
        </p:txBody>
      </p:sp>
      <p:sp>
        <p:nvSpPr>
          <p:cNvPr id="60" name="Text 58"/>
          <p:cNvSpPr txBox="1"/>
          <p:nvPr/>
        </p:nvSpPr>
        <p:spPr>
          <a:xfrm>
            <a:off x="6739128" y="4709160"/>
            <a:ext cx="1325880" cy="256032"/>
          </a:xfrm>
          <a:prstGeom prst="rect">
            <a:avLst/>
          </a:prstGeom>
          <a:noFill/>
          <a:ln/>
        </p:spPr>
        <p:txBody>
          <a:bodyPr wrap="square" lIns="0" tIns="0" rIns="0" bIns="0" rtlCol="0" anchor="ctr"/>
          <a:lstStyle/>
          <a:p>
            <a:pPr indent="0" marL="0">
              <a:buNone/>
            </a:pPr>
            <a:r>
              <a:rPr lang="en-US" sz="1100" b="1" dirty="0">
                <a:solidFill>
                  <a:srgbClr val="1B2A41"/>
                </a:solidFill>
                <a:latin typeface="Calibri" pitchFamily="34" charset="0"/>
                <a:ea typeface="Calibri" pitchFamily="34" charset="-122"/>
                <a:cs typeface="Calibri" pitchFamily="34" charset="-120"/>
              </a:rPr>
              <a:t>30 Sep 2026</a:t>
            </a:r>
            <a:endParaRPr lang="en-US" sz="1100" dirty="0"/>
          </a:p>
        </p:txBody>
      </p:sp>
      <p:sp>
        <p:nvSpPr>
          <p:cNvPr id="61" name="Text 59"/>
          <p:cNvSpPr txBox="1"/>
          <p:nvPr/>
        </p:nvSpPr>
        <p:spPr>
          <a:xfrm>
            <a:off x="8266176" y="4498848"/>
            <a:ext cx="1691640" cy="201168"/>
          </a:xfrm>
          <a:prstGeom prst="rect">
            <a:avLst/>
          </a:prstGeom>
          <a:noFill/>
          <a:ln/>
        </p:spPr>
        <p:txBody>
          <a:bodyPr wrap="square" lIns="0" tIns="0" rIns="0" bIns="0" rtlCol="0" anchor="ctr"/>
          <a:lstStyle/>
          <a:p>
            <a:pPr indent="0" marL="0">
              <a:buNone/>
            </a:pPr>
            <a:r>
              <a:rPr lang="en-US" sz="800" b="1" spc="110" kern="0" dirty="0">
                <a:solidFill>
                  <a:srgbClr val="898781"/>
                </a:solidFill>
                <a:latin typeface="Calibri" pitchFamily="34" charset="0"/>
                <a:ea typeface="Calibri" pitchFamily="34" charset="-122"/>
                <a:cs typeface="Calibri" pitchFamily="34" charset="-120"/>
              </a:rPr>
              <a:t>OWNER</a:t>
            </a:r>
            <a:endParaRPr lang="en-US" sz="800" dirty="0"/>
          </a:p>
        </p:txBody>
      </p:sp>
      <p:sp>
        <p:nvSpPr>
          <p:cNvPr id="62" name="Text 60"/>
          <p:cNvSpPr txBox="1"/>
          <p:nvPr/>
        </p:nvSpPr>
        <p:spPr>
          <a:xfrm>
            <a:off x="8266176" y="4709160"/>
            <a:ext cx="1691640" cy="256032"/>
          </a:xfrm>
          <a:prstGeom prst="rect">
            <a:avLst/>
          </a:prstGeom>
          <a:noFill/>
          <a:ln/>
        </p:spPr>
        <p:txBody>
          <a:bodyPr wrap="square" lIns="0" tIns="0" rIns="0" bIns="0" rtlCol="0" anchor="ctr"/>
          <a:lstStyle/>
          <a:p>
            <a:pPr indent="0" marL="0">
              <a:buNone/>
            </a:pPr>
            <a:r>
              <a:rPr lang="en-US" sz="1000" dirty="0">
                <a:solidFill>
                  <a:srgbClr val="52514E"/>
                </a:solidFill>
                <a:latin typeface="Calibri" pitchFamily="34" charset="0"/>
                <a:ea typeface="Calibri" pitchFamily="34" charset="-122"/>
                <a:cs typeface="Calibri" pitchFamily="34" charset="-120"/>
              </a:rPr>
              <a:t>Obed, Sedem, Gilbert</a:t>
            </a:r>
            <a:endParaRPr lang="en-US" sz="1000" dirty="0"/>
          </a:p>
        </p:txBody>
      </p:sp>
      <p:sp>
        <p:nvSpPr>
          <p:cNvPr id="63" name="Shape 61"/>
          <p:cNvSpPr/>
          <p:nvPr/>
        </p:nvSpPr>
        <p:spPr>
          <a:xfrm>
            <a:off x="10186416" y="4590288"/>
            <a:ext cx="1170432" cy="310896"/>
          </a:xfrm>
          <a:prstGeom prst="roundRect">
            <a:avLst>
              <a:gd name="adj" fmla="val 50000"/>
            </a:avLst>
          </a:prstGeom>
          <a:solidFill>
            <a:srgbClr val="FAB219"/>
          </a:solidFill>
          <a:ln/>
        </p:spPr>
      </p:sp>
      <p:sp>
        <p:nvSpPr>
          <p:cNvPr id="64" name="Text 62"/>
          <p:cNvSpPr txBox="1"/>
          <p:nvPr/>
        </p:nvSpPr>
        <p:spPr>
          <a:xfrm>
            <a:off x="10186416" y="4590288"/>
            <a:ext cx="1170432" cy="310896"/>
          </a:xfrm>
          <a:prstGeom prst="rect">
            <a:avLst/>
          </a:prstGeom>
          <a:noFill/>
          <a:ln/>
        </p:spPr>
        <p:txBody>
          <a:bodyPr wrap="square" lIns="0" tIns="0" rIns="0" bIns="0" rtlCol="0" anchor="ctr"/>
          <a:lstStyle/>
          <a:p>
            <a:pPr algn="ctr" indent="0" marL="0">
              <a:buNone/>
            </a:pPr>
            <a:r>
              <a:rPr lang="en-US" sz="900" b="1" spc="40" kern="0" dirty="0">
                <a:solidFill>
                  <a:srgbClr val="1B2A41"/>
                </a:solidFill>
                <a:latin typeface="Calibri" pitchFamily="34" charset="0"/>
                <a:ea typeface="Calibri" pitchFamily="34" charset="-122"/>
                <a:cs typeface="Calibri" pitchFamily="34" charset="-120"/>
              </a:rPr>
              <a:t>BLOCKED</a:t>
            </a:r>
            <a:endParaRPr lang="en-US" sz="900" dirty="0"/>
          </a:p>
        </p:txBody>
      </p:sp>
      <p:sp>
        <p:nvSpPr>
          <p:cNvPr id="65" name="Shape 63"/>
          <p:cNvSpPr/>
          <p:nvPr/>
        </p:nvSpPr>
        <p:spPr>
          <a:xfrm>
            <a:off x="566928" y="5248656"/>
            <a:ext cx="11057839" cy="768096"/>
          </a:xfrm>
          <a:prstGeom prst="roundRect">
            <a:avLst>
              <a:gd name="adj" fmla="val 11905"/>
            </a:avLst>
          </a:prstGeom>
          <a:solidFill>
            <a:srgbClr val="FFFFFF"/>
          </a:solidFill>
          <a:ln w="12700">
            <a:solidFill>
              <a:srgbClr val="E1E0D9"/>
            </a:solidFill>
            <a:prstDash val="solid"/>
          </a:ln>
          <a:effectLst>
            <a:outerShdw sx="100000" sy="100000" kx="0" ky="0" algn="bl" rotWithShape="0" blurRad="152400" dist="25400" dir="5400000">
              <a:srgbClr val="1B2A41">
                <a:alpha val="10000"/>
              </a:srgbClr>
            </a:outerShdw>
          </a:effectLst>
        </p:spPr>
      </p:sp>
      <p:sp>
        <p:nvSpPr>
          <p:cNvPr id="66" name="Shape 64"/>
          <p:cNvSpPr/>
          <p:nvPr/>
        </p:nvSpPr>
        <p:spPr>
          <a:xfrm>
            <a:off x="731520" y="5522976"/>
            <a:ext cx="219456" cy="219456"/>
          </a:xfrm>
          <a:prstGeom prst="ellipse">
            <a:avLst/>
          </a:prstGeom>
          <a:solidFill>
            <a:srgbClr val="898781"/>
          </a:solidFill>
          <a:ln/>
        </p:spPr>
      </p:sp>
      <p:sp>
        <p:nvSpPr>
          <p:cNvPr id="67" name="Text 65"/>
          <p:cNvSpPr txBox="1"/>
          <p:nvPr/>
        </p:nvSpPr>
        <p:spPr>
          <a:xfrm>
            <a:off x="1097280" y="5367528"/>
            <a:ext cx="2560320" cy="237744"/>
          </a:xfrm>
          <a:prstGeom prst="rect">
            <a:avLst/>
          </a:prstGeom>
          <a:noFill/>
          <a:ln/>
        </p:spPr>
        <p:txBody>
          <a:bodyPr wrap="square" lIns="0" tIns="0" rIns="0" bIns="0" rtlCol="0" anchor="ctr"/>
          <a:lstStyle/>
          <a:p>
            <a:pPr indent="0" marL="0">
              <a:buNone/>
            </a:pPr>
            <a:r>
              <a:rPr lang="en-US" sz="1150" b="1" dirty="0">
                <a:solidFill>
                  <a:srgbClr val="1B2A41"/>
                </a:solidFill>
                <a:latin typeface="Calibri" pitchFamily="34" charset="0"/>
                <a:ea typeface="Calibri" pitchFamily="34" charset="-122"/>
                <a:cs typeface="Calibri" pitchFamily="34" charset="-120"/>
              </a:rPr>
              <a:t>Priority Insurance</a:t>
            </a:r>
            <a:endParaRPr lang="en-US" sz="1150" dirty="0"/>
          </a:p>
        </p:txBody>
      </p:sp>
      <p:sp>
        <p:nvSpPr>
          <p:cNvPr id="68" name="Text 66"/>
          <p:cNvSpPr txBox="1"/>
          <p:nvPr/>
        </p:nvSpPr>
        <p:spPr>
          <a:xfrm>
            <a:off x="1097280" y="5614416"/>
            <a:ext cx="2560320" cy="237744"/>
          </a:xfrm>
          <a:prstGeom prst="rect">
            <a:avLst/>
          </a:prstGeom>
          <a:noFill/>
          <a:ln/>
        </p:spPr>
        <p:txBody>
          <a:bodyPr wrap="square" lIns="0" tIns="0" rIns="0" bIns="0" rtlCol="0" anchor="ctr"/>
          <a:lstStyle/>
          <a:p>
            <a:pPr indent="0" marL="0">
              <a:buNone/>
            </a:pPr>
            <a:r>
              <a:rPr lang="en-US" sz="1000" dirty="0">
                <a:solidFill>
                  <a:srgbClr val="52514E"/>
                </a:solidFill>
                <a:latin typeface="Calibri" pitchFamily="34" charset="0"/>
                <a:ea typeface="Calibri" pitchFamily="34" charset="-122"/>
                <a:cs typeface="Calibri" pitchFamily="34" charset="-120"/>
              </a:rPr>
              <a:t>Complete Budget</a:t>
            </a:r>
            <a:endParaRPr lang="en-US" sz="1000" dirty="0"/>
          </a:p>
        </p:txBody>
      </p:sp>
      <p:sp>
        <p:nvSpPr>
          <p:cNvPr id="69" name="Text 67"/>
          <p:cNvSpPr txBox="1"/>
          <p:nvPr/>
        </p:nvSpPr>
        <p:spPr>
          <a:xfrm>
            <a:off x="3877056" y="5358384"/>
            <a:ext cx="1097280" cy="219456"/>
          </a:xfrm>
          <a:prstGeom prst="rect">
            <a:avLst/>
          </a:prstGeom>
          <a:noFill/>
          <a:ln/>
        </p:spPr>
        <p:txBody>
          <a:bodyPr wrap="square" lIns="0" tIns="0" rIns="0" bIns="0" rtlCol="0" anchor="ctr"/>
          <a:lstStyle/>
          <a:p>
            <a:pPr indent="0" marL="0">
              <a:buNone/>
            </a:pPr>
            <a:r>
              <a:rPr lang="en-US" sz="950" b="1" dirty="0">
                <a:solidFill>
                  <a:srgbClr val="1B2A41"/>
                </a:solidFill>
                <a:latin typeface="Calibri" pitchFamily="34" charset="0"/>
                <a:ea typeface="Calibri" pitchFamily="34" charset="-122"/>
                <a:cs typeface="Calibri" pitchFamily="34" charset="-120"/>
              </a:rPr>
              <a:t>Actual 0%</a:t>
            </a:r>
            <a:endParaRPr lang="en-US" sz="950" dirty="0"/>
          </a:p>
        </p:txBody>
      </p:sp>
      <p:sp>
        <p:nvSpPr>
          <p:cNvPr id="70" name="Text 68"/>
          <p:cNvSpPr txBox="1"/>
          <p:nvPr/>
        </p:nvSpPr>
        <p:spPr>
          <a:xfrm>
            <a:off x="4974336" y="5358384"/>
            <a:ext cx="1280160" cy="219456"/>
          </a:xfrm>
          <a:prstGeom prst="rect">
            <a:avLst/>
          </a:prstGeom>
          <a:noFill/>
          <a:ln/>
        </p:spPr>
        <p:txBody>
          <a:bodyPr wrap="square" lIns="0" tIns="0" rIns="0" bIns="0" rtlCol="0" anchor="ctr"/>
          <a:lstStyle/>
          <a:p>
            <a:pPr algn="r" indent="0" marL="0">
              <a:buNone/>
            </a:pPr>
            <a:r>
              <a:rPr lang="en-US" sz="950" dirty="0">
                <a:solidFill>
                  <a:srgbClr val="898781"/>
                </a:solidFill>
                <a:latin typeface="Calibri" pitchFamily="34" charset="0"/>
                <a:ea typeface="Calibri" pitchFamily="34" charset="-122"/>
                <a:cs typeface="Calibri" pitchFamily="34" charset="-120"/>
              </a:rPr>
              <a:t>Planned 0%</a:t>
            </a:r>
            <a:endParaRPr lang="en-US" sz="950" dirty="0"/>
          </a:p>
        </p:txBody>
      </p:sp>
      <p:sp>
        <p:nvSpPr>
          <p:cNvPr id="71" name="Shape 69"/>
          <p:cNvSpPr/>
          <p:nvPr/>
        </p:nvSpPr>
        <p:spPr>
          <a:xfrm>
            <a:off x="3877056" y="5660136"/>
            <a:ext cx="2377440" cy="155448"/>
          </a:xfrm>
          <a:prstGeom prst="roundRect">
            <a:avLst>
              <a:gd name="adj" fmla="val 50000"/>
            </a:avLst>
          </a:prstGeom>
          <a:solidFill>
            <a:srgbClr val="E3E9F0"/>
          </a:solidFill>
          <a:ln/>
        </p:spPr>
      </p:sp>
      <p:sp>
        <p:nvSpPr>
          <p:cNvPr id="72" name="Text 70"/>
          <p:cNvSpPr txBox="1"/>
          <p:nvPr/>
        </p:nvSpPr>
        <p:spPr>
          <a:xfrm>
            <a:off x="6739128" y="5385816"/>
            <a:ext cx="1325880" cy="201168"/>
          </a:xfrm>
          <a:prstGeom prst="rect">
            <a:avLst/>
          </a:prstGeom>
          <a:noFill/>
          <a:ln/>
        </p:spPr>
        <p:txBody>
          <a:bodyPr wrap="square" lIns="0" tIns="0" rIns="0" bIns="0" rtlCol="0" anchor="ctr"/>
          <a:lstStyle/>
          <a:p>
            <a:pPr indent="0" marL="0">
              <a:buNone/>
            </a:pPr>
            <a:r>
              <a:rPr lang="en-US" sz="800" b="1" spc="110" kern="0" dirty="0">
                <a:solidFill>
                  <a:srgbClr val="898781"/>
                </a:solidFill>
                <a:latin typeface="Calibri" pitchFamily="34" charset="0"/>
                <a:ea typeface="Calibri" pitchFamily="34" charset="-122"/>
                <a:cs typeface="Calibri" pitchFamily="34" charset="-120"/>
              </a:rPr>
              <a:t>DUE</a:t>
            </a:r>
            <a:endParaRPr lang="en-US" sz="800" dirty="0"/>
          </a:p>
        </p:txBody>
      </p:sp>
      <p:sp>
        <p:nvSpPr>
          <p:cNvPr id="73" name="Text 71"/>
          <p:cNvSpPr txBox="1"/>
          <p:nvPr/>
        </p:nvSpPr>
        <p:spPr>
          <a:xfrm>
            <a:off x="6739128" y="5596128"/>
            <a:ext cx="1325880" cy="256032"/>
          </a:xfrm>
          <a:prstGeom prst="rect">
            <a:avLst/>
          </a:prstGeom>
          <a:noFill/>
          <a:ln/>
        </p:spPr>
        <p:txBody>
          <a:bodyPr wrap="square" lIns="0" tIns="0" rIns="0" bIns="0" rtlCol="0" anchor="ctr"/>
          <a:lstStyle/>
          <a:p>
            <a:pPr indent="0" marL="0">
              <a:buNone/>
            </a:pPr>
            <a:r>
              <a:rPr lang="en-US" sz="1100" b="1" dirty="0">
                <a:solidFill>
                  <a:srgbClr val="1B2A41"/>
                </a:solidFill>
                <a:latin typeface="Calibri" pitchFamily="34" charset="0"/>
                <a:ea typeface="Calibri" pitchFamily="34" charset="-122"/>
                <a:cs typeface="Calibri" pitchFamily="34" charset="-120"/>
              </a:rPr>
              <a:t>09 Oct 2026</a:t>
            </a:r>
            <a:endParaRPr lang="en-US" sz="1100" dirty="0"/>
          </a:p>
        </p:txBody>
      </p:sp>
      <p:sp>
        <p:nvSpPr>
          <p:cNvPr id="74" name="Text 72"/>
          <p:cNvSpPr txBox="1"/>
          <p:nvPr/>
        </p:nvSpPr>
        <p:spPr>
          <a:xfrm>
            <a:off x="8266176" y="5385816"/>
            <a:ext cx="1691640" cy="201168"/>
          </a:xfrm>
          <a:prstGeom prst="rect">
            <a:avLst/>
          </a:prstGeom>
          <a:noFill/>
          <a:ln/>
        </p:spPr>
        <p:txBody>
          <a:bodyPr wrap="square" lIns="0" tIns="0" rIns="0" bIns="0" rtlCol="0" anchor="ctr"/>
          <a:lstStyle/>
          <a:p>
            <a:pPr indent="0" marL="0">
              <a:buNone/>
            </a:pPr>
            <a:r>
              <a:rPr lang="en-US" sz="800" b="1" spc="110" kern="0" dirty="0">
                <a:solidFill>
                  <a:srgbClr val="898781"/>
                </a:solidFill>
                <a:latin typeface="Calibri" pitchFamily="34" charset="0"/>
                <a:ea typeface="Calibri" pitchFamily="34" charset="-122"/>
                <a:cs typeface="Calibri" pitchFamily="34" charset="-120"/>
              </a:rPr>
              <a:t>OWNER</a:t>
            </a:r>
            <a:endParaRPr lang="en-US" sz="800" dirty="0"/>
          </a:p>
        </p:txBody>
      </p:sp>
      <p:sp>
        <p:nvSpPr>
          <p:cNvPr id="75" name="Text 73"/>
          <p:cNvSpPr txBox="1"/>
          <p:nvPr/>
        </p:nvSpPr>
        <p:spPr>
          <a:xfrm>
            <a:off x="8266176" y="5596128"/>
            <a:ext cx="1691640" cy="256032"/>
          </a:xfrm>
          <a:prstGeom prst="rect">
            <a:avLst/>
          </a:prstGeom>
          <a:noFill/>
          <a:ln/>
        </p:spPr>
        <p:txBody>
          <a:bodyPr wrap="square" lIns="0" tIns="0" rIns="0" bIns="0" rtlCol="0" anchor="ctr"/>
          <a:lstStyle/>
          <a:p>
            <a:pPr indent="0" marL="0">
              <a:buNone/>
            </a:pPr>
            <a:r>
              <a:rPr lang="en-US" sz="1000" dirty="0">
                <a:solidFill>
                  <a:srgbClr val="52514E"/>
                </a:solidFill>
                <a:latin typeface="Calibri" pitchFamily="34" charset="0"/>
                <a:ea typeface="Calibri" pitchFamily="34" charset="-122"/>
                <a:cs typeface="Calibri" pitchFamily="34" charset="-120"/>
              </a:rPr>
              <a:t>Obed, Sedem, Gilbert</a:t>
            </a:r>
            <a:endParaRPr lang="en-US" sz="1000" dirty="0"/>
          </a:p>
        </p:txBody>
      </p:sp>
      <p:sp>
        <p:nvSpPr>
          <p:cNvPr id="76" name="Shape 74"/>
          <p:cNvSpPr/>
          <p:nvPr/>
        </p:nvSpPr>
        <p:spPr>
          <a:xfrm>
            <a:off x="10186416" y="5477256"/>
            <a:ext cx="1170432" cy="310896"/>
          </a:xfrm>
          <a:prstGeom prst="roundRect">
            <a:avLst>
              <a:gd name="adj" fmla="val 50000"/>
            </a:avLst>
          </a:prstGeom>
          <a:solidFill>
            <a:srgbClr val="898781"/>
          </a:solidFill>
          <a:ln/>
        </p:spPr>
      </p:sp>
      <p:sp>
        <p:nvSpPr>
          <p:cNvPr id="77" name="Text 75"/>
          <p:cNvSpPr txBox="1"/>
          <p:nvPr/>
        </p:nvSpPr>
        <p:spPr>
          <a:xfrm>
            <a:off x="10186416" y="5477256"/>
            <a:ext cx="1170432" cy="310896"/>
          </a:xfrm>
          <a:prstGeom prst="rect">
            <a:avLst/>
          </a:prstGeom>
          <a:noFill/>
          <a:ln/>
        </p:spPr>
        <p:txBody>
          <a:bodyPr wrap="square" lIns="0" tIns="0" rIns="0" bIns="0" rtlCol="0" anchor="ctr"/>
          <a:lstStyle/>
          <a:p>
            <a:pPr algn="ctr" indent="0" marL="0">
              <a:buNone/>
            </a:pPr>
            <a:r>
              <a:rPr lang="en-US" sz="900" b="1" spc="40" kern="0" dirty="0">
                <a:solidFill>
                  <a:srgbClr val="FFFFFF"/>
                </a:solidFill>
                <a:latin typeface="Calibri" pitchFamily="34" charset="0"/>
                <a:ea typeface="Calibri" pitchFamily="34" charset="-122"/>
                <a:cs typeface="Calibri" pitchFamily="34" charset="-120"/>
              </a:rPr>
              <a:t>ON PLAN</a:t>
            </a:r>
            <a:endParaRPr lang="en-US" sz="900" dirty="0"/>
          </a:p>
        </p:txBody>
      </p:sp>
      <p:sp>
        <p:nvSpPr>
          <p:cNvPr id="78" name="Text 76"/>
          <p:cNvSpPr txBox="1"/>
          <p:nvPr/>
        </p:nvSpPr>
        <p:spPr>
          <a:xfrm>
            <a:off x="566928" y="6355080"/>
            <a:ext cx="8961120" cy="274320"/>
          </a:xfrm>
          <a:prstGeom prst="rect">
            <a:avLst/>
          </a:prstGeom>
          <a:noFill/>
          <a:ln/>
        </p:spPr>
        <p:txBody>
          <a:bodyPr wrap="square" lIns="0" tIns="0" rIns="0" bIns="0" rtlCol="0" anchor="ctr"/>
          <a:lstStyle/>
          <a:p>
            <a:pPr indent="0" marL="0">
              <a:buNone/>
            </a:pPr>
            <a:r>
              <a:rPr lang="en-US" sz="900" dirty="0">
                <a:solidFill>
                  <a:srgbClr val="898781"/>
                </a:solidFill>
                <a:latin typeface="Calibri" pitchFamily="34" charset="0"/>
                <a:ea typeface="Calibri" pitchFamily="34" charset="-122"/>
                <a:cs typeface="Calibri" pitchFamily="34" charset="-120"/>
              </a:rPr>
              <a:t>Commercial Department   ·   Outstanding Projects &amp; Deliverables   ·   18 September 2026</a:t>
            </a:r>
            <a:endParaRPr lang="en-US" sz="900" dirty="0"/>
          </a:p>
        </p:txBody>
      </p:sp>
      <p:sp>
        <p:nvSpPr>
          <p:cNvPr id="79" name="Text 77"/>
          <p:cNvSpPr txBox="1"/>
          <p:nvPr/>
        </p:nvSpPr>
        <p:spPr>
          <a:xfrm>
            <a:off x="10984687" y="6355080"/>
            <a:ext cx="640080" cy="274320"/>
          </a:xfrm>
          <a:prstGeom prst="rect">
            <a:avLst/>
          </a:prstGeom>
          <a:noFill/>
          <a:ln/>
        </p:spPr>
        <p:txBody>
          <a:bodyPr wrap="square" lIns="0" tIns="0" rIns="0" bIns="0"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66928" y="420624"/>
            <a:ext cx="11057839" cy="219456"/>
          </a:xfrm>
          <a:prstGeom prst="rect">
            <a:avLst/>
          </a:prstGeom>
          <a:noFill/>
          <a:ln/>
        </p:spPr>
        <p:txBody>
          <a:bodyPr wrap="square" lIns="0" tIns="0" rIns="0" bIns="0" rtlCol="0" anchor="ctr"/>
          <a:lstStyle/>
          <a:p>
            <a:pPr indent="0" marL="0">
              <a:buNone/>
            </a:pPr>
            <a:r>
              <a:rPr lang="en-US" sz="1050" b="1" spc="160" kern="0" dirty="0">
                <a:solidFill>
                  <a:srgbClr val="2A78D6"/>
                </a:solidFill>
                <a:latin typeface="Calibri" pitchFamily="34" charset="0"/>
                <a:ea typeface="Calibri" pitchFamily="34" charset="-122"/>
                <a:cs typeface="Calibri" pitchFamily="34" charset="-120"/>
              </a:rPr>
              <a:t>WHAT FALLS DUE NEXT</a:t>
            </a:r>
            <a:endParaRPr lang="en-US" sz="1050" dirty="0"/>
          </a:p>
        </p:txBody>
      </p:sp>
      <p:sp>
        <p:nvSpPr>
          <p:cNvPr id="3" name="Text 1"/>
          <p:cNvSpPr txBox="1"/>
          <p:nvPr/>
        </p:nvSpPr>
        <p:spPr>
          <a:xfrm>
            <a:off x="566928" y="676656"/>
            <a:ext cx="11057839" cy="566928"/>
          </a:xfrm>
          <a:prstGeom prst="rect">
            <a:avLst/>
          </a:prstGeom>
          <a:noFill/>
          <a:ln/>
        </p:spPr>
        <p:txBody>
          <a:bodyPr wrap="square" lIns="0" tIns="0" rIns="0" bIns="0" rtlCol="0" anchor="ctr"/>
          <a:lstStyle/>
          <a:p>
            <a:pPr indent="0" marL="0">
              <a:buNone/>
            </a:pPr>
            <a:r>
              <a:rPr lang="en-US" sz="3100" b="1" dirty="0">
                <a:solidFill>
                  <a:srgbClr val="1B2A41"/>
                </a:solidFill>
                <a:latin typeface="Cambria" pitchFamily="34" charset="0"/>
                <a:ea typeface="Cambria" pitchFamily="34" charset="-122"/>
                <a:cs typeface="Cambria" pitchFamily="34" charset="-120"/>
              </a:rPr>
              <a:t>The Next Three Weeks</a:t>
            </a:r>
            <a:endParaRPr lang="en-US" sz="3100" dirty="0"/>
          </a:p>
        </p:txBody>
      </p:sp>
      <p:sp>
        <p:nvSpPr>
          <p:cNvPr id="4" name="Text 2"/>
          <p:cNvSpPr txBox="1"/>
          <p:nvPr/>
        </p:nvSpPr>
        <p:spPr>
          <a:xfrm>
            <a:off x="566928" y="1261872"/>
            <a:ext cx="11057839" cy="292608"/>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Every outstanding deliverable lands between today and 9 October.</a:t>
            </a:r>
            <a:endParaRPr lang="en-US" sz="1250" dirty="0"/>
          </a:p>
        </p:txBody>
      </p:sp>
      <p:sp>
        <p:nvSpPr>
          <p:cNvPr id="5" name="Shape 3"/>
          <p:cNvSpPr/>
          <p:nvPr/>
        </p:nvSpPr>
        <p:spPr>
          <a:xfrm>
            <a:off x="1417320" y="3511296"/>
            <a:ext cx="9281160" cy="36576"/>
          </a:xfrm>
          <a:prstGeom prst="rect">
            <a:avLst/>
          </a:prstGeom>
          <a:solidFill>
            <a:srgbClr val="E1E0D9"/>
          </a:solidFill>
          <a:ln/>
        </p:spPr>
      </p:sp>
      <p:sp>
        <p:nvSpPr>
          <p:cNvPr id="6" name="Shape 4"/>
          <p:cNvSpPr/>
          <p:nvPr/>
        </p:nvSpPr>
        <p:spPr>
          <a:xfrm>
            <a:off x="722376" y="2322576"/>
            <a:ext cx="2121408" cy="914400"/>
          </a:xfrm>
          <a:prstGeom prst="roundRect">
            <a:avLst>
              <a:gd name="adj" fmla="val 10000"/>
            </a:avLst>
          </a:prstGeom>
          <a:solidFill>
            <a:srgbClr val="FFFFFF"/>
          </a:solidFill>
          <a:ln w="12700">
            <a:solidFill>
              <a:srgbClr val="E1E0D9"/>
            </a:solidFill>
            <a:prstDash val="solid"/>
          </a:ln>
          <a:effectLst>
            <a:outerShdw sx="100000" sy="100000" kx="0" ky="0" algn="bl" rotWithShape="0" blurRad="152400" dist="25400" dir="5400000">
              <a:srgbClr val="1B2A41">
                <a:alpha val="10000"/>
              </a:srgbClr>
            </a:outerShdw>
          </a:effectLst>
        </p:spPr>
      </p:sp>
      <p:sp>
        <p:nvSpPr>
          <p:cNvPr id="7" name="Text 5"/>
          <p:cNvSpPr txBox="1"/>
          <p:nvPr/>
        </p:nvSpPr>
        <p:spPr>
          <a:xfrm>
            <a:off x="905256" y="2468880"/>
            <a:ext cx="1755648" cy="219456"/>
          </a:xfrm>
          <a:prstGeom prst="rect">
            <a:avLst/>
          </a:prstGeom>
          <a:noFill/>
          <a:ln/>
        </p:spPr>
        <p:txBody>
          <a:bodyPr wrap="square" lIns="0" tIns="0" rIns="0" bIns="0" rtlCol="0" anchor="ctr"/>
          <a:lstStyle/>
          <a:p>
            <a:pPr indent="0" marL="0">
              <a:buNone/>
            </a:pPr>
            <a:r>
              <a:rPr lang="en-US" sz="1050" b="1" dirty="0">
                <a:solidFill>
                  <a:srgbClr val="1B2A41"/>
                </a:solidFill>
                <a:latin typeface="Calibri" pitchFamily="34" charset="0"/>
                <a:ea typeface="Calibri" pitchFamily="34" charset="-122"/>
                <a:cs typeface="Calibri" pitchFamily="34" charset="-120"/>
              </a:rPr>
              <a:t>Ecole Int'l School</a:t>
            </a:r>
            <a:endParaRPr lang="en-US" sz="1050" dirty="0"/>
          </a:p>
        </p:txBody>
      </p:sp>
      <p:sp>
        <p:nvSpPr>
          <p:cNvPr id="8" name="Text 6"/>
          <p:cNvSpPr txBox="1"/>
          <p:nvPr/>
        </p:nvSpPr>
        <p:spPr>
          <a:xfrm>
            <a:off x="905256" y="2679192"/>
            <a:ext cx="1755648" cy="201168"/>
          </a:xfrm>
          <a:prstGeom prst="rect">
            <a:avLst/>
          </a:prstGeom>
          <a:noFill/>
          <a:ln/>
        </p:spPr>
        <p:txBody>
          <a:bodyPr wrap="square" lIns="0" tIns="0" rIns="0" bIns="0" rtlCol="0" anchor="ctr"/>
          <a:lstStyle/>
          <a:p>
            <a:pPr indent="0" marL="0">
              <a:buNone/>
            </a:pPr>
            <a:r>
              <a:rPr lang="en-US" sz="950" dirty="0">
                <a:solidFill>
                  <a:srgbClr val="52514E"/>
                </a:solidFill>
                <a:latin typeface="Calibri" pitchFamily="34" charset="0"/>
                <a:ea typeface="Calibri" pitchFamily="34" charset="-122"/>
                <a:cs typeface="Calibri" pitchFamily="34" charset="-120"/>
              </a:rPr>
              <a:t>BoQ and Budget</a:t>
            </a:r>
            <a:endParaRPr lang="en-US" sz="950" dirty="0"/>
          </a:p>
        </p:txBody>
      </p:sp>
      <p:sp>
        <p:nvSpPr>
          <p:cNvPr id="9" name="Text 7"/>
          <p:cNvSpPr txBox="1"/>
          <p:nvPr/>
        </p:nvSpPr>
        <p:spPr>
          <a:xfrm>
            <a:off x="905256" y="2871216"/>
            <a:ext cx="1755648" cy="182880"/>
          </a:xfrm>
          <a:prstGeom prst="rect">
            <a:avLst/>
          </a:prstGeom>
          <a:noFill/>
          <a:ln/>
        </p:spPr>
        <p:txBody>
          <a:bodyPr wrap="square" lIns="0" tIns="0" rIns="0" bIns="0" rtlCol="0" anchor="ctr"/>
          <a:lstStyle/>
          <a:p>
            <a:pPr indent="0" marL="0">
              <a:buNone/>
            </a:pPr>
            <a:r>
              <a:rPr lang="en-US" sz="850" b="1" dirty="0">
                <a:solidFill>
                  <a:srgbClr val="D03B3B"/>
                </a:solidFill>
                <a:latin typeface="Calibri" pitchFamily="34" charset="0"/>
                <a:ea typeface="Calibri" pitchFamily="34" charset="-122"/>
                <a:cs typeface="Calibri" pitchFamily="34" charset="-120"/>
              </a:rPr>
              <a:t>50% complete</a:t>
            </a:r>
            <a:endParaRPr lang="en-US" sz="850" dirty="0"/>
          </a:p>
        </p:txBody>
      </p:sp>
      <p:sp>
        <p:nvSpPr>
          <p:cNvPr id="10" name="Shape 8"/>
          <p:cNvSpPr/>
          <p:nvPr/>
        </p:nvSpPr>
        <p:spPr>
          <a:xfrm>
            <a:off x="1769364" y="3236976"/>
            <a:ext cx="27432" cy="155448"/>
          </a:xfrm>
          <a:prstGeom prst="rect">
            <a:avLst/>
          </a:prstGeom>
          <a:solidFill>
            <a:srgbClr val="E1E0D9"/>
          </a:solidFill>
          <a:ln/>
        </p:spPr>
      </p:sp>
      <p:sp>
        <p:nvSpPr>
          <p:cNvPr id="11" name="Shape 9"/>
          <p:cNvSpPr/>
          <p:nvPr/>
        </p:nvSpPr>
        <p:spPr>
          <a:xfrm>
            <a:off x="1645920" y="3392424"/>
            <a:ext cx="274320" cy="274320"/>
          </a:xfrm>
          <a:prstGeom prst="ellipse">
            <a:avLst/>
          </a:prstGeom>
          <a:solidFill>
            <a:srgbClr val="D03B3B"/>
          </a:solidFill>
          <a:ln w="31750">
            <a:solidFill>
              <a:srgbClr val="FFFFFF"/>
            </a:solidFill>
            <a:prstDash val="solid"/>
          </a:ln>
        </p:spPr>
      </p:sp>
      <p:sp>
        <p:nvSpPr>
          <p:cNvPr id="12" name="Text 10"/>
          <p:cNvSpPr txBox="1"/>
          <p:nvPr/>
        </p:nvSpPr>
        <p:spPr>
          <a:xfrm>
            <a:off x="685800" y="3767328"/>
            <a:ext cx="2194560" cy="292608"/>
          </a:xfrm>
          <a:prstGeom prst="rect">
            <a:avLst/>
          </a:prstGeom>
          <a:noFill/>
          <a:ln/>
        </p:spPr>
        <p:txBody>
          <a:bodyPr wrap="square" lIns="0" tIns="0" rIns="0" bIns="0" rtlCol="0" anchor="ctr"/>
          <a:lstStyle/>
          <a:p>
            <a:pPr algn="ctr" indent="0" marL="0">
              <a:buNone/>
            </a:pPr>
            <a:r>
              <a:rPr lang="en-US" sz="1500" b="1" dirty="0">
                <a:solidFill>
                  <a:srgbClr val="1B2A41"/>
                </a:solidFill>
                <a:latin typeface="Cambria" pitchFamily="34" charset="0"/>
                <a:ea typeface="Cambria" pitchFamily="34" charset="-122"/>
                <a:cs typeface="Cambria" pitchFamily="34" charset="-120"/>
              </a:rPr>
              <a:t>18 Sep</a:t>
            </a:r>
            <a:endParaRPr lang="en-US" sz="1500" dirty="0"/>
          </a:p>
        </p:txBody>
      </p:sp>
      <p:sp>
        <p:nvSpPr>
          <p:cNvPr id="13" name="Text 11"/>
          <p:cNvSpPr txBox="1"/>
          <p:nvPr/>
        </p:nvSpPr>
        <p:spPr>
          <a:xfrm>
            <a:off x="685800" y="4059936"/>
            <a:ext cx="2194560" cy="237744"/>
          </a:xfrm>
          <a:prstGeom prst="rect">
            <a:avLst/>
          </a:prstGeom>
          <a:noFill/>
          <a:ln/>
        </p:spPr>
        <p:txBody>
          <a:bodyPr wrap="square" lIns="0" tIns="0" rIns="0" bIns="0" rtlCol="0" anchor="ctr"/>
          <a:lstStyle/>
          <a:p>
            <a:pPr algn="ctr" indent="0" marL="0">
              <a:buNone/>
            </a:pPr>
            <a:r>
              <a:rPr lang="en-US" sz="1000" dirty="0">
                <a:solidFill>
                  <a:srgbClr val="898781"/>
                </a:solidFill>
                <a:latin typeface="Calibri" pitchFamily="34" charset="0"/>
                <a:ea typeface="Calibri" pitchFamily="34" charset="-122"/>
                <a:cs typeface="Calibri" pitchFamily="34" charset="-120"/>
              </a:rPr>
              <a:t>Today</a:t>
            </a:r>
            <a:endParaRPr lang="en-US" sz="1000" dirty="0"/>
          </a:p>
        </p:txBody>
      </p:sp>
      <p:sp>
        <p:nvSpPr>
          <p:cNvPr id="14" name="Shape 12"/>
          <p:cNvSpPr/>
          <p:nvPr/>
        </p:nvSpPr>
        <p:spPr>
          <a:xfrm>
            <a:off x="3165130" y="1719072"/>
            <a:ext cx="2121408" cy="1517904"/>
          </a:xfrm>
          <a:prstGeom prst="roundRect">
            <a:avLst>
              <a:gd name="adj" fmla="val 6024"/>
            </a:avLst>
          </a:prstGeom>
          <a:solidFill>
            <a:srgbClr val="FFFFFF"/>
          </a:solidFill>
          <a:ln w="12700">
            <a:solidFill>
              <a:srgbClr val="E1E0D9"/>
            </a:solidFill>
            <a:prstDash val="solid"/>
          </a:ln>
          <a:effectLst>
            <a:outerShdw sx="100000" sy="100000" kx="0" ky="0" algn="bl" rotWithShape="0" blurRad="152400" dist="25400" dir="5400000">
              <a:srgbClr val="1B2A41">
                <a:alpha val="10000"/>
              </a:srgbClr>
            </a:outerShdw>
          </a:effectLst>
        </p:spPr>
      </p:sp>
      <p:sp>
        <p:nvSpPr>
          <p:cNvPr id="15" name="Text 13"/>
          <p:cNvSpPr txBox="1"/>
          <p:nvPr/>
        </p:nvSpPr>
        <p:spPr>
          <a:xfrm>
            <a:off x="3348010" y="1865376"/>
            <a:ext cx="1755648" cy="219456"/>
          </a:xfrm>
          <a:prstGeom prst="rect">
            <a:avLst/>
          </a:prstGeom>
          <a:noFill/>
          <a:ln/>
        </p:spPr>
        <p:txBody>
          <a:bodyPr wrap="square" lIns="0" tIns="0" rIns="0" bIns="0" rtlCol="0" anchor="ctr"/>
          <a:lstStyle/>
          <a:p>
            <a:pPr indent="0" marL="0">
              <a:buNone/>
            </a:pPr>
            <a:r>
              <a:rPr lang="en-US" sz="1050" b="1" dirty="0">
                <a:solidFill>
                  <a:srgbClr val="1B2A41"/>
                </a:solidFill>
                <a:latin typeface="Calibri" pitchFamily="34" charset="0"/>
                <a:ea typeface="Calibri" pitchFamily="34" charset="-122"/>
                <a:cs typeface="Calibri" pitchFamily="34" charset="-120"/>
              </a:rPr>
              <a:t>Kinbu Canteen Tender</a:t>
            </a:r>
            <a:endParaRPr lang="en-US" sz="1050" dirty="0"/>
          </a:p>
        </p:txBody>
      </p:sp>
      <p:sp>
        <p:nvSpPr>
          <p:cNvPr id="16" name="Text 14"/>
          <p:cNvSpPr txBox="1"/>
          <p:nvPr/>
        </p:nvSpPr>
        <p:spPr>
          <a:xfrm>
            <a:off x="3348010" y="2075688"/>
            <a:ext cx="1755648" cy="201168"/>
          </a:xfrm>
          <a:prstGeom prst="rect">
            <a:avLst/>
          </a:prstGeom>
          <a:noFill/>
          <a:ln/>
        </p:spPr>
        <p:txBody>
          <a:bodyPr wrap="square" lIns="0" tIns="0" rIns="0" bIns="0" rtlCol="0" anchor="ctr"/>
          <a:lstStyle/>
          <a:p>
            <a:pPr indent="0" marL="0">
              <a:buNone/>
            </a:pPr>
            <a:r>
              <a:rPr lang="en-US" sz="950" dirty="0">
                <a:solidFill>
                  <a:srgbClr val="52514E"/>
                </a:solidFill>
                <a:latin typeface="Calibri" pitchFamily="34" charset="0"/>
                <a:ea typeface="Calibri" pitchFamily="34" charset="-122"/>
                <a:cs typeface="Calibri" pitchFamily="34" charset="-120"/>
              </a:rPr>
              <a:t>Priced BoQ</a:t>
            </a:r>
            <a:endParaRPr lang="en-US" sz="950" dirty="0"/>
          </a:p>
        </p:txBody>
      </p:sp>
      <p:sp>
        <p:nvSpPr>
          <p:cNvPr id="17" name="Text 15"/>
          <p:cNvSpPr txBox="1"/>
          <p:nvPr/>
        </p:nvSpPr>
        <p:spPr>
          <a:xfrm>
            <a:off x="3348010" y="2267712"/>
            <a:ext cx="1755648" cy="182880"/>
          </a:xfrm>
          <a:prstGeom prst="rect">
            <a:avLst/>
          </a:prstGeom>
          <a:noFill/>
          <a:ln/>
        </p:spPr>
        <p:txBody>
          <a:bodyPr wrap="square" lIns="0" tIns="0" rIns="0" bIns="0" rtlCol="0" anchor="ctr"/>
          <a:lstStyle/>
          <a:p>
            <a:pPr indent="0" marL="0">
              <a:buNone/>
            </a:pPr>
            <a:r>
              <a:rPr lang="en-US" sz="850" b="1" dirty="0">
                <a:solidFill>
                  <a:srgbClr val="D03B3B"/>
                </a:solidFill>
                <a:latin typeface="Calibri" pitchFamily="34" charset="0"/>
                <a:ea typeface="Calibri" pitchFamily="34" charset="-122"/>
                <a:cs typeface="Calibri" pitchFamily="34" charset="-120"/>
              </a:rPr>
              <a:t>10% complete</a:t>
            </a:r>
            <a:endParaRPr lang="en-US" sz="850" dirty="0"/>
          </a:p>
        </p:txBody>
      </p:sp>
      <p:sp>
        <p:nvSpPr>
          <p:cNvPr id="18" name="Text 16"/>
          <p:cNvSpPr txBox="1"/>
          <p:nvPr/>
        </p:nvSpPr>
        <p:spPr>
          <a:xfrm>
            <a:off x="3348010" y="2468880"/>
            <a:ext cx="1755648" cy="219456"/>
          </a:xfrm>
          <a:prstGeom prst="rect">
            <a:avLst/>
          </a:prstGeom>
          <a:noFill/>
          <a:ln/>
        </p:spPr>
        <p:txBody>
          <a:bodyPr wrap="square" lIns="0" tIns="0" rIns="0" bIns="0" rtlCol="0" anchor="ctr"/>
          <a:lstStyle/>
          <a:p>
            <a:pPr indent="0" marL="0">
              <a:buNone/>
            </a:pPr>
            <a:r>
              <a:rPr lang="en-US" sz="1050" b="1" dirty="0">
                <a:solidFill>
                  <a:srgbClr val="1B2A41"/>
                </a:solidFill>
                <a:latin typeface="Calibri" pitchFamily="34" charset="0"/>
                <a:ea typeface="Calibri" pitchFamily="34" charset="-122"/>
                <a:cs typeface="Calibri" pitchFamily="34" charset="-120"/>
              </a:rPr>
              <a:t>Stanbic Bank</a:t>
            </a:r>
            <a:endParaRPr lang="en-US" sz="1050" dirty="0"/>
          </a:p>
        </p:txBody>
      </p:sp>
      <p:sp>
        <p:nvSpPr>
          <p:cNvPr id="19" name="Text 17"/>
          <p:cNvSpPr txBox="1"/>
          <p:nvPr/>
        </p:nvSpPr>
        <p:spPr>
          <a:xfrm>
            <a:off x="3348010" y="2679192"/>
            <a:ext cx="1755648" cy="201168"/>
          </a:xfrm>
          <a:prstGeom prst="rect">
            <a:avLst/>
          </a:prstGeom>
          <a:noFill/>
          <a:ln/>
        </p:spPr>
        <p:txBody>
          <a:bodyPr wrap="square" lIns="0" tIns="0" rIns="0" bIns="0" rtlCol="0" anchor="ctr"/>
          <a:lstStyle/>
          <a:p>
            <a:pPr indent="0" marL="0">
              <a:buNone/>
            </a:pPr>
            <a:r>
              <a:rPr lang="en-US" sz="950" dirty="0">
                <a:solidFill>
                  <a:srgbClr val="52514E"/>
                </a:solidFill>
                <a:latin typeface="Calibri" pitchFamily="34" charset="0"/>
                <a:ea typeface="Calibri" pitchFamily="34" charset="-122"/>
                <a:cs typeface="Calibri" pitchFamily="34" charset="-120"/>
              </a:rPr>
              <a:t>Preliminary Estimate</a:t>
            </a:r>
            <a:endParaRPr lang="en-US" sz="950" dirty="0"/>
          </a:p>
        </p:txBody>
      </p:sp>
      <p:sp>
        <p:nvSpPr>
          <p:cNvPr id="20" name="Text 18"/>
          <p:cNvSpPr txBox="1"/>
          <p:nvPr/>
        </p:nvSpPr>
        <p:spPr>
          <a:xfrm>
            <a:off x="3348010" y="2871216"/>
            <a:ext cx="1755648" cy="182880"/>
          </a:xfrm>
          <a:prstGeom prst="rect">
            <a:avLst/>
          </a:prstGeom>
          <a:noFill/>
          <a:ln/>
        </p:spPr>
        <p:txBody>
          <a:bodyPr wrap="square" lIns="0" tIns="0" rIns="0" bIns="0" rtlCol="0" anchor="ctr"/>
          <a:lstStyle/>
          <a:p>
            <a:pPr indent="0" marL="0">
              <a:buNone/>
            </a:pPr>
            <a:r>
              <a:rPr lang="en-US" sz="850" b="1" dirty="0">
                <a:solidFill>
                  <a:srgbClr val="D03B3B"/>
                </a:solidFill>
                <a:latin typeface="Calibri" pitchFamily="34" charset="0"/>
                <a:ea typeface="Calibri" pitchFamily="34" charset="-122"/>
                <a:cs typeface="Calibri" pitchFamily="34" charset="-120"/>
              </a:rPr>
              <a:t>50% complete</a:t>
            </a:r>
            <a:endParaRPr lang="en-US" sz="850" dirty="0"/>
          </a:p>
        </p:txBody>
      </p:sp>
      <p:sp>
        <p:nvSpPr>
          <p:cNvPr id="21" name="Shape 19"/>
          <p:cNvSpPr/>
          <p:nvPr/>
        </p:nvSpPr>
        <p:spPr>
          <a:xfrm>
            <a:off x="4212118" y="3236976"/>
            <a:ext cx="27432" cy="155448"/>
          </a:xfrm>
          <a:prstGeom prst="rect">
            <a:avLst/>
          </a:prstGeom>
          <a:solidFill>
            <a:srgbClr val="E1E0D9"/>
          </a:solidFill>
          <a:ln/>
        </p:spPr>
      </p:sp>
      <p:sp>
        <p:nvSpPr>
          <p:cNvPr id="22" name="Shape 20"/>
          <p:cNvSpPr/>
          <p:nvPr/>
        </p:nvSpPr>
        <p:spPr>
          <a:xfrm>
            <a:off x="4088674" y="3392424"/>
            <a:ext cx="274320" cy="274320"/>
          </a:xfrm>
          <a:prstGeom prst="ellipse">
            <a:avLst/>
          </a:prstGeom>
          <a:solidFill>
            <a:srgbClr val="D03B3B"/>
          </a:solidFill>
          <a:ln w="31750">
            <a:solidFill>
              <a:srgbClr val="FFFFFF"/>
            </a:solidFill>
            <a:prstDash val="solid"/>
          </a:ln>
        </p:spPr>
      </p:sp>
      <p:sp>
        <p:nvSpPr>
          <p:cNvPr id="23" name="Text 21"/>
          <p:cNvSpPr txBox="1"/>
          <p:nvPr/>
        </p:nvSpPr>
        <p:spPr>
          <a:xfrm>
            <a:off x="3128554" y="3767328"/>
            <a:ext cx="2194560" cy="292608"/>
          </a:xfrm>
          <a:prstGeom prst="rect">
            <a:avLst/>
          </a:prstGeom>
          <a:noFill/>
          <a:ln/>
        </p:spPr>
        <p:txBody>
          <a:bodyPr wrap="square" lIns="0" tIns="0" rIns="0" bIns="0" rtlCol="0" anchor="ctr"/>
          <a:lstStyle/>
          <a:p>
            <a:pPr algn="ctr" indent="0" marL="0">
              <a:buNone/>
            </a:pPr>
            <a:r>
              <a:rPr lang="en-US" sz="1500" b="1" dirty="0">
                <a:solidFill>
                  <a:srgbClr val="1B2A41"/>
                </a:solidFill>
                <a:latin typeface="Cambria" pitchFamily="34" charset="0"/>
                <a:ea typeface="Cambria" pitchFamily="34" charset="-122"/>
                <a:cs typeface="Cambria" pitchFamily="34" charset="-120"/>
              </a:rPr>
              <a:t>24 Sep</a:t>
            </a:r>
            <a:endParaRPr lang="en-US" sz="1500" dirty="0"/>
          </a:p>
        </p:txBody>
      </p:sp>
      <p:sp>
        <p:nvSpPr>
          <p:cNvPr id="24" name="Text 22"/>
          <p:cNvSpPr txBox="1"/>
          <p:nvPr/>
        </p:nvSpPr>
        <p:spPr>
          <a:xfrm>
            <a:off x="3128554" y="4059936"/>
            <a:ext cx="2194560" cy="237744"/>
          </a:xfrm>
          <a:prstGeom prst="rect">
            <a:avLst/>
          </a:prstGeom>
          <a:noFill/>
          <a:ln/>
        </p:spPr>
        <p:txBody>
          <a:bodyPr wrap="square" lIns="0" tIns="0" rIns="0" bIns="0" rtlCol="0" anchor="ctr"/>
          <a:lstStyle/>
          <a:p>
            <a:pPr algn="ctr" indent="0" marL="0">
              <a:buNone/>
            </a:pPr>
            <a:r>
              <a:rPr lang="en-US" sz="1000" dirty="0">
                <a:solidFill>
                  <a:srgbClr val="898781"/>
                </a:solidFill>
                <a:latin typeface="Calibri" pitchFamily="34" charset="0"/>
                <a:ea typeface="Calibri" pitchFamily="34" charset="-122"/>
                <a:cs typeface="Calibri" pitchFamily="34" charset="-120"/>
              </a:rPr>
              <a:t>In 6 days</a:t>
            </a:r>
            <a:endParaRPr lang="en-US" sz="1000" dirty="0"/>
          </a:p>
        </p:txBody>
      </p:sp>
      <p:sp>
        <p:nvSpPr>
          <p:cNvPr id="25" name="Shape 23"/>
          <p:cNvSpPr/>
          <p:nvPr/>
        </p:nvSpPr>
        <p:spPr>
          <a:xfrm>
            <a:off x="5607885" y="2322576"/>
            <a:ext cx="2121408" cy="914400"/>
          </a:xfrm>
          <a:prstGeom prst="roundRect">
            <a:avLst>
              <a:gd name="adj" fmla="val 10000"/>
            </a:avLst>
          </a:prstGeom>
          <a:solidFill>
            <a:srgbClr val="FFFFFF"/>
          </a:solidFill>
          <a:ln w="12700">
            <a:solidFill>
              <a:srgbClr val="E1E0D9"/>
            </a:solidFill>
            <a:prstDash val="solid"/>
          </a:ln>
          <a:effectLst>
            <a:outerShdw sx="100000" sy="100000" kx="0" ky="0" algn="bl" rotWithShape="0" blurRad="152400" dist="25400" dir="5400000">
              <a:srgbClr val="1B2A41">
                <a:alpha val="10000"/>
              </a:srgbClr>
            </a:outerShdw>
          </a:effectLst>
        </p:spPr>
      </p:sp>
      <p:sp>
        <p:nvSpPr>
          <p:cNvPr id="26" name="Text 24"/>
          <p:cNvSpPr txBox="1"/>
          <p:nvPr/>
        </p:nvSpPr>
        <p:spPr>
          <a:xfrm>
            <a:off x="5790765" y="2468880"/>
            <a:ext cx="1755648" cy="219456"/>
          </a:xfrm>
          <a:prstGeom prst="rect">
            <a:avLst/>
          </a:prstGeom>
          <a:noFill/>
          <a:ln/>
        </p:spPr>
        <p:txBody>
          <a:bodyPr wrap="square" lIns="0" tIns="0" rIns="0" bIns="0" rtlCol="0" anchor="ctr"/>
          <a:lstStyle/>
          <a:p>
            <a:pPr indent="0" marL="0">
              <a:buNone/>
            </a:pPr>
            <a:r>
              <a:rPr lang="en-US" sz="1050" b="1" dirty="0">
                <a:solidFill>
                  <a:srgbClr val="1B2A41"/>
                </a:solidFill>
                <a:latin typeface="Calibri" pitchFamily="34" charset="0"/>
                <a:ea typeface="Calibri" pitchFamily="34" charset="-122"/>
                <a:cs typeface="Calibri" pitchFamily="34" charset="-120"/>
              </a:rPr>
              <a:t>Priority Insurance</a:t>
            </a:r>
            <a:endParaRPr lang="en-US" sz="1050" dirty="0"/>
          </a:p>
        </p:txBody>
      </p:sp>
      <p:sp>
        <p:nvSpPr>
          <p:cNvPr id="27" name="Text 25"/>
          <p:cNvSpPr txBox="1"/>
          <p:nvPr/>
        </p:nvSpPr>
        <p:spPr>
          <a:xfrm>
            <a:off x="5790765" y="2679192"/>
            <a:ext cx="1755648" cy="201168"/>
          </a:xfrm>
          <a:prstGeom prst="rect">
            <a:avLst/>
          </a:prstGeom>
          <a:noFill/>
          <a:ln/>
        </p:spPr>
        <p:txBody>
          <a:bodyPr wrap="square" lIns="0" tIns="0" rIns="0" bIns="0" rtlCol="0" anchor="ctr"/>
          <a:lstStyle/>
          <a:p>
            <a:pPr indent="0" marL="0">
              <a:buNone/>
            </a:pPr>
            <a:r>
              <a:rPr lang="en-US" sz="950" dirty="0">
                <a:solidFill>
                  <a:srgbClr val="52514E"/>
                </a:solidFill>
                <a:latin typeface="Calibri" pitchFamily="34" charset="0"/>
                <a:ea typeface="Calibri" pitchFamily="34" charset="-122"/>
                <a:cs typeface="Calibri" pitchFamily="34" charset="-120"/>
              </a:rPr>
              <a:t>Complete BoQ</a:t>
            </a:r>
            <a:endParaRPr lang="en-US" sz="950" dirty="0"/>
          </a:p>
        </p:txBody>
      </p:sp>
      <p:sp>
        <p:nvSpPr>
          <p:cNvPr id="28" name="Text 26"/>
          <p:cNvSpPr txBox="1"/>
          <p:nvPr/>
        </p:nvSpPr>
        <p:spPr>
          <a:xfrm>
            <a:off x="5790765" y="2871216"/>
            <a:ext cx="1755648" cy="182880"/>
          </a:xfrm>
          <a:prstGeom prst="rect">
            <a:avLst/>
          </a:prstGeom>
          <a:noFill/>
          <a:ln/>
        </p:spPr>
        <p:txBody>
          <a:bodyPr wrap="square" lIns="0" tIns="0" rIns="0" bIns="0" rtlCol="0" anchor="ctr"/>
          <a:lstStyle/>
          <a:p>
            <a:pPr indent="0" marL="0">
              <a:buNone/>
            </a:pPr>
            <a:r>
              <a:rPr lang="en-US" sz="850" b="1" dirty="0">
                <a:solidFill>
                  <a:srgbClr val="FAB219"/>
                </a:solidFill>
                <a:latin typeface="Calibri" pitchFamily="34" charset="0"/>
                <a:ea typeface="Calibri" pitchFamily="34" charset="-122"/>
                <a:cs typeface="Calibri" pitchFamily="34" charset="-120"/>
              </a:rPr>
              <a:t>40% complete</a:t>
            </a:r>
            <a:endParaRPr lang="en-US" sz="850" dirty="0"/>
          </a:p>
        </p:txBody>
      </p:sp>
      <p:sp>
        <p:nvSpPr>
          <p:cNvPr id="29" name="Shape 27"/>
          <p:cNvSpPr/>
          <p:nvPr/>
        </p:nvSpPr>
        <p:spPr>
          <a:xfrm>
            <a:off x="6654873" y="3236976"/>
            <a:ext cx="27432" cy="155448"/>
          </a:xfrm>
          <a:prstGeom prst="rect">
            <a:avLst/>
          </a:prstGeom>
          <a:solidFill>
            <a:srgbClr val="E1E0D9"/>
          </a:solidFill>
          <a:ln/>
        </p:spPr>
      </p:sp>
      <p:sp>
        <p:nvSpPr>
          <p:cNvPr id="30" name="Shape 28"/>
          <p:cNvSpPr/>
          <p:nvPr/>
        </p:nvSpPr>
        <p:spPr>
          <a:xfrm>
            <a:off x="6531429" y="3392424"/>
            <a:ext cx="274320" cy="274320"/>
          </a:xfrm>
          <a:prstGeom prst="ellipse">
            <a:avLst/>
          </a:prstGeom>
          <a:solidFill>
            <a:srgbClr val="FAB219"/>
          </a:solidFill>
          <a:ln w="31750">
            <a:solidFill>
              <a:srgbClr val="FFFFFF"/>
            </a:solidFill>
            <a:prstDash val="solid"/>
          </a:ln>
        </p:spPr>
      </p:sp>
      <p:sp>
        <p:nvSpPr>
          <p:cNvPr id="31" name="Text 29"/>
          <p:cNvSpPr txBox="1"/>
          <p:nvPr/>
        </p:nvSpPr>
        <p:spPr>
          <a:xfrm>
            <a:off x="5571309" y="3767328"/>
            <a:ext cx="2194560" cy="292608"/>
          </a:xfrm>
          <a:prstGeom prst="rect">
            <a:avLst/>
          </a:prstGeom>
          <a:noFill/>
          <a:ln/>
        </p:spPr>
        <p:txBody>
          <a:bodyPr wrap="square" lIns="0" tIns="0" rIns="0" bIns="0" rtlCol="0" anchor="ctr"/>
          <a:lstStyle/>
          <a:p>
            <a:pPr algn="ctr" indent="0" marL="0">
              <a:buNone/>
            </a:pPr>
            <a:r>
              <a:rPr lang="en-US" sz="1500" b="1" dirty="0">
                <a:solidFill>
                  <a:srgbClr val="1B2A41"/>
                </a:solidFill>
                <a:latin typeface="Cambria" pitchFamily="34" charset="0"/>
                <a:ea typeface="Cambria" pitchFamily="34" charset="-122"/>
                <a:cs typeface="Cambria" pitchFamily="34" charset="-120"/>
              </a:rPr>
              <a:t>30 Sep</a:t>
            </a:r>
            <a:endParaRPr lang="en-US" sz="1500" dirty="0"/>
          </a:p>
        </p:txBody>
      </p:sp>
      <p:sp>
        <p:nvSpPr>
          <p:cNvPr id="32" name="Text 30"/>
          <p:cNvSpPr txBox="1"/>
          <p:nvPr/>
        </p:nvSpPr>
        <p:spPr>
          <a:xfrm>
            <a:off x="5571309" y="4059936"/>
            <a:ext cx="2194560" cy="237744"/>
          </a:xfrm>
          <a:prstGeom prst="rect">
            <a:avLst/>
          </a:prstGeom>
          <a:noFill/>
          <a:ln/>
        </p:spPr>
        <p:txBody>
          <a:bodyPr wrap="square" lIns="0" tIns="0" rIns="0" bIns="0" rtlCol="0" anchor="ctr"/>
          <a:lstStyle/>
          <a:p>
            <a:pPr algn="ctr" indent="0" marL="0">
              <a:buNone/>
            </a:pPr>
            <a:r>
              <a:rPr lang="en-US" sz="1000" dirty="0">
                <a:solidFill>
                  <a:srgbClr val="898781"/>
                </a:solidFill>
                <a:latin typeface="Calibri" pitchFamily="34" charset="0"/>
                <a:ea typeface="Calibri" pitchFamily="34" charset="-122"/>
                <a:cs typeface="Calibri" pitchFamily="34" charset="-120"/>
              </a:rPr>
              <a:t>In 12 days</a:t>
            </a:r>
            <a:endParaRPr lang="en-US" sz="1000" dirty="0"/>
          </a:p>
        </p:txBody>
      </p:sp>
      <p:sp>
        <p:nvSpPr>
          <p:cNvPr id="33" name="Shape 31"/>
          <p:cNvSpPr/>
          <p:nvPr/>
        </p:nvSpPr>
        <p:spPr>
          <a:xfrm>
            <a:off x="9272016" y="2322576"/>
            <a:ext cx="2121408" cy="914400"/>
          </a:xfrm>
          <a:prstGeom prst="roundRect">
            <a:avLst>
              <a:gd name="adj" fmla="val 10000"/>
            </a:avLst>
          </a:prstGeom>
          <a:solidFill>
            <a:srgbClr val="FFFFFF"/>
          </a:solidFill>
          <a:ln w="12700">
            <a:solidFill>
              <a:srgbClr val="E1E0D9"/>
            </a:solidFill>
            <a:prstDash val="solid"/>
          </a:ln>
          <a:effectLst>
            <a:outerShdw sx="100000" sy="100000" kx="0" ky="0" algn="bl" rotWithShape="0" blurRad="152400" dist="25400" dir="5400000">
              <a:srgbClr val="1B2A41">
                <a:alpha val="10000"/>
              </a:srgbClr>
            </a:outerShdw>
          </a:effectLst>
        </p:spPr>
      </p:sp>
      <p:sp>
        <p:nvSpPr>
          <p:cNvPr id="34" name="Text 32"/>
          <p:cNvSpPr txBox="1"/>
          <p:nvPr/>
        </p:nvSpPr>
        <p:spPr>
          <a:xfrm>
            <a:off x="9454896" y="2468880"/>
            <a:ext cx="1755648" cy="219456"/>
          </a:xfrm>
          <a:prstGeom prst="rect">
            <a:avLst/>
          </a:prstGeom>
          <a:noFill/>
          <a:ln/>
        </p:spPr>
        <p:txBody>
          <a:bodyPr wrap="square" lIns="0" tIns="0" rIns="0" bIns="0" rtlCol="0" anchor="ctr"/>
          <a:lstStyle/>
          <a:p>
            <a:pPr indent="0" marL="0">
              <a:buNone/>
            </a:pPr>
            <a:r>
              <a:rPr lang="en-US" sz="1050" b="1" dirty="0">
                <a:solidFill>
                  <a:srgbClr val="1B2A41"/>
                </a:solidFill>
                <a:latin typeface="Calibri" pitchFamily="34" charset="0"/>
                <a:ea typeface="Calibri" pitchFamily="34" charset="-122"/>
                <a:cs typeface="Calibri" pitchFamily="34" charset="-120"/>
              </a:rPr>
              <a:t>Priority Insurance</a:t>
            </a:r>
            <a:endParaRPr lang="en-US" sz="1050" dirty="0"/>
          </a:p>
        </p:txBody>
      </p:sp>
      <p:sp>
        <p:nvSpPr>
          <p:cNvPr id="35" name="Text 33"/>
          <p:cNvSpPr txBox="1"/>
          <p:nvPr/>
        </p:nvSpPr>
        <p:spPr>
          <a:xfrm>
            <a:off x="9454896" y="2679192"/>
            <a:ext cx="1755648" cy="201168"/>
          </a:xfrm>
          <a:prstGeom prst="rect">
            <a:avLst/>
          </a:prstGeom>
          <a:noFill/>
          <a:ln/>
        </p:spPr>
        <p:txBody>
          <a:bodyPr wrap="square" lIns="0" tIns="0" rIns="0" bIns="0" rtlCol="0" anchor="ctr"/>
          <a:lstStyle/>
          <a:p>
            <a:pPr indent="0" marL="0">
              <a:buNone/>
            </a:pPr>
            <a:r>
              <a:rPr lang="en-US" sz="950" dirty="0">
                <a:solidFill>
                  <a:srgbClr val="52514E"/>
                </a:solidFill>
                <a:latin typeface="Calibri" pitchFamily="34" charset="0"/>
                <a:ea typeface="Calibri" pitchFamily="34" charset="-122"/>
                <a:cs typeface="Calibri" pitchFamily="34" charset="-120"/>
              </a:rPr>
              <a:t>Complete Budget</a:t>
            </a:r>
            <a:endParaRPr lang="en-US" sz="950" dirty="0"/>
          </a:p>
        </p:txBody>
      </p:sp>
      <p:sp>
        <p:nvSpPr>
          <p:cNvPr id="36" name="Text 34"/>
          <p:cNvSpPr txBox="1"/>
          <p:nvPr/>
        </p:nvSpPr>
        <p:spPr>
          <a:xfrm>
            <a:off x="9454896" y="2871216"/>
            <a:ext cx="1755648" cy="182880"/>
          </a:xfrm>
          <a:prstGeom prst="rect">
            <a:avLst/>
          </a:prstGeom>
          <a:noFill/>
          <a:ln/>
        </p:spPr>
        <p:txBody>
          <a:bodyPr wrap="square" lIns="0" tIns="0" rIns="0" bIns="0" rtlCol="0" anchor="ctr"/>
          <a:lstStyle/>
          <a:p>
            <a:pPr indent="0" marL="0">
              <a:buNone/>
            </a:pPr>
            <a:r>
              <a:rPr lang="en-US" sz="850" b="1" dirty="0">
                <a:solidFill>
                  <a:srgbClr val="898781"/>
                </a:solidFill>
                <a:latin typeface="Calibri" pitchFamily="34" charset="0"/>
                <a:ea typeface="Calibri" pitchFamily="34" charset="-122"/>
                <a:cs typeface="Calibri" pitchFamily="34" charset="-120"/>
              </a:rPr>
              <a:t>Not started</a:t>
            </a:r>
            <a:endParaRPr lang="en-US" sz="850" dirty="0"/>
          </a:p>
        </p:txBody>
      </p:sp>
      <p:sp>
        <p:nvSpPr>
          <p:cNvPr id="37" name="Shape 35"/>
          <p:cNvSpPr/>
          <p:nvPr/>
        </p:nvSpPr>
        <p:spPr>
          <a:xfrm>
            <a:off x="10319004" y="3236976"/>
            <a:ext cx="27432" cy="155448"/>
          </a:xfrm>
          <a:prstGeom prst="rect">
            <a:avLst/>
          </a:prstGeom>
          <a:solidFill>
            <a:srgbClr val="E1E0D9"/>
          </a:solidFill>
          <a:ln/>
        </p:spPr>
      </p:sp>
      <p:sp>
        <p:nvSpPr>
          <p:cNvPr id="38" name="Shape 36"/>
          <p:cNvSpPr/>
          <p:nvPr/>
        </p:nvSpPr>
        <p:spPr>
          <a:xfrm>
            <a:off x="10195560" y="3392424"/>
            <a:ext cx="274320" cy="274320"/>
          </a:xfrm>
          <a:prstGeom prst="ellipse">
            <a:avLst/>
          </a:prstGeom>
          <a:solidFill>
            <a:srgbClr val="898781"/>
          </a:solidFill>
          <a:ln w="31750">
            <a:solidFill>
              <a:srgbClr val="FFFFFF"/>
            </a:solidFill>
            <a:prstDash val="solid"/>
          </a:ln>
        </p:spPr>
      </p:sp>
      <p:sp>
        <p:nvSpPr>
          <p:cNvPr id="39" name="Text 37"/>
          <p:cNvSpPr txBox="1"/>
          <p:nvPr/>
        </p:nvSpPr>
        <p:spPr>
          <a:xfrm>
            <a:off x="9235440" y="3767328"/>
            <a:ext cx="2194560" cy="292608"/>
          </a:xfrm>
          <a:prstGeom prst="rect">
            <a:avLst/>
          </a:prstGeom>
          <a:noFill/>
          <a:ln/>
        </p:spPr>
        <p:txBody>
          <a:bodyPr wrap="square" lIns="0" tIns="0" rIns="0" bIns="0" rtlCol="0" anchor="ctr"/>
          <a:lstStyle/>
          <a:p>
            <a:pPr algn="ctr" indent="0" marL="0">
              <a:buNone/>
            </a:pPr>
            <a:r>
              <a:rPr lang="en-US" sz="1500" b="1" dirty="0">
                <a:solidFill>
                  <a:srgbClr val="1B2A41"/>
                </a:solidFill>
                <a:latin typeface="Cambria" pitchFamily="34" charset="0"/>
                <a:ea typeface="Cambria" pitchFamily="34" charset="-122"/>
                <a:cs typeface="Cambria" pitchFamily="34" charset="-120"/>
              </a:rPr>
              <a:t>09 Oct</a:t>
            </a:r>
            <a:endParaRPr lang="en-US" sz="1500" dirty="0"/>
          </a:p>
        </p:txBody>
      </p:sp>
      <p:sp>
        <p:nvSpPr>
          <p:cNvPr id="40" name="Text 38"/>
          <p:cNvSpPr txBox="1"/>
          <p:nvPr/>
        </p:nvSpPr>
        <p:spPr>
          <a:xfrm>
            <a:off x="9235440" y="4059936"/>
            <a:ext cx="2194560" cy="237744"/>
          </a:xfrm>
          <a:prstGeom prst="rect">
            <a:avLst/>
          </a:prstGeom>
          <a:noFill/>
          <a:ln/>
        </p:spPr>
        <p:txBody>
          <a:bodyPr wrap="square" lIns="0" tIns="0" rIns="0" bIns="0" rtlCol="0" anchor="ctr"/>
          <a:lstStyle/>
          <a:p>
            <a:pPr algn="ctr" indent="0" marL="0">
              <a:buNone/>
            </a:pPr>
            <a:r>
              <a:rPr lang="en-US" sz="1000" dirty="0">
                <a:solidFill>
                  <a:srgbClr val="898781"/>
                </a:solidFill>
                <a:latin typeface="Calibri" pitchFamily="34" charset="0"/>
                <a:ea typeface="Calibri" pitchFamily="34" charset="-122"/>
                <a:cs typeface="Calibri" pitchFamily="34" charset="-120"/>
              </a:rPr>
              <a:t>In 21 days</a:t>
            </a:r>
            <a:endParaRPr lang="en-US" sz="1000" dirty="0"/>
          </a:p>
        </p:txBody>
      </p:sp>
      <p:sp>
        <p:nvSpPr>
          <p:cNvPr id="41" name="Shape 39"/>
          <p:cNvSpPr/>
          <p:nvPr/>
        </p:nvSpPr>
        <p:spPr>
          <a:xfrm>
            <a:off x="566928" y="4645152"/>
            <a:ext cx="11057839" cy="1078992"/>
          </a:xfrm>
          <a:prstGeom prst="roundRect">
            <a:avLst>
              <a:gd name="adj" fmla="val 8475"/>
            </a:avLst>
          </a:prstGeom>
          <a:solidFill>
            <a:srgbClr val="F2F5F8"/>
          </a:solidFill>
          <a:ln w="12700">
            <a:solidFill>
              <a:srgbClr val="E1E0D9"/>
            </a:solidFill>
            <a:prstDash val="solid"/>
          </a:ln>
          <a:effectLst>
            <a:outerShdw sx="100000" sy="100000" kx="0" ky="0" algn="bl" rotWithShape="0" blurRad="101600" dist="50800" dir="5400000">
              <a:srgbClr val="FFFFFF">
                <a:alpha val="75000"/>
              </a:srgbClr>
            </a:outerShdw>
          </a:effectLst>
        </p:spPr>
      </p:sp>
      <p:sp>
        <p:nvSpPr>
          <p:cNvPr id="42" name="Text 40"/>
          <p:cNvSpPr txBox="1"/>
          <p:nvPr/>
        </p:nvSpPr>
        <p:spPr>
          <a:xfrm>
            <a:off x="841248" y="4791456"/>
            <a:ext cx="1828800" cy="237744"/>
          </a:xfrm>
          <a:prstGeom prst="rect">
            <a:avLst/>
          </a:prstGeom>
          <a:noFill/>
          <a:ln/>
        </p:spPr>
        <p:txBody>
          <a:bodyPr wrap="square" lIns="0" tIns="0" rIns="0" bIns="0" rtlCol="0" anchor="ctr"/>
          <a:lstStyle/>
          <a:p>
            <a:pPr indent="0" marL="0">
              <a:buNone/>
            </a:pPr>
            <a:r>
              <a:rPr lang="en-US" sz="1100" b="1" dirty="0">
                <a:solidFill>
                  <a:srgbClr val="D03B3B"/>
                </a:solidFill>
                <a:latin typeface="Calibri" pitchFamily="34" charset="0"/>
                <a:ea typeface="Calibri" pitchFamily="34" charset="-122"/>
                <a:cs typeface="Calibri" pitchFamily="34" charset="-120"/>
              </a:rPr>
              <a:t>Pinch point</a:t>
            </a:r>
            <a:endParaRPr lang="en-US" sz="1100" dirty="0"/>
          </a:p>
        </p:txBody>
      </p:sp>
      <p:sp>
        <p:nvSpPr>
          <p:cNvPr id="43" name="Text 41"/>
          <p:cNvSpPr txBox="1"/>
          <p:nvPr/>
        </p:nvSpPr>
        <p:spPr>
          <a:xfrm>
            <a:off x="841248" y="5047488"/>
            <a:ext cx="10509199" cy="548640"/>
          </a:xfrm>
          <a:prstGeom prst="rect">
            <a:avLst/>
          </a:prstGeom>
          <a:noFill/>
          <a:ln/>
        </p:spPr>
        <p:txBody>
          <a:bodyPr wrap="square" lIns="0" tIns="0" rIns="0" bIns="0" rtlCol="0" anchor="t"/>
          <a:lstStyle/>
          <a:p>
            <a:pPr indent="0" marL="0">
              <a:buNone/>
            </a:pPr>
            <a:r>
              <a:rPr lang="en-US" sz="1050" dirty="0">
                <a:solidFill>
                  <a:srgbClr val="52514E"/>
                </a:solidFill>
                <a:latin typeface="Calibri" pitchFamily="34" charset="0"/>
                <a:ea typeface="Calibri" pitchFamily="34" charset="-122"/>
                <a:cs typeface="Calibri" pitchFamily="34" charset="-120"/>
              </a:rPr>
              <a:t>Two tender submissions close on the same day, 24 September, and both sit with the team rather than a named owner. Between them they account for 1.4 of the 2.0 deliverables we are behind. Naming an owner for each is the single highest-value action available this week.</a:t>
            </a:r>
            <a:endParaRPr lang="en-US" sz="1050" dirty="0"/>
          </a:p>
        </p:txBody>
      </p:sp>
      <p:sp>
        <p:nvSpPr>
          <p:cNvPr id="44" name="Text 42"/>
          <p:cNvSpPr txBox="1"/>
          <p:nvPr/>
        </p:nvSpPr>
        <p:spPr>
          <a:xfrm>
            <a:off x="566928" y="6355080"/>
            <a:ext cx="8961120" cy="274320"/>
          </a:xfrm>
          <a:prstGeom prst="rect">
            <a:avLst/>
          </a:prstGeom>
          <a:noFill/>
          <a:ln/>
        </p:spPr>
        <p:txBody>
          <a:bodyPr wrap="square" lIns="0" tIns="0" rIns="0" bIns="0" rtlCol="0" anchor="ctr"/>
          <a:lstStyle/>
          <a:p>
            <a:pPr indent="0" marL="0">
              <a:buNone/>
            </a:pPr>
            <a:r>
              <a:rPr lang="en-US" sz="900" dirty="0">
                <a:solidFill>
                  <a:srgbClr val="898781"/>
                </a:solidFill>
                <a:latin typeface="Calibri" pitchFamily="34" charset="0"/>
                <a:ea typeface="Calibri" pitchFamily="34" charset="-122"/>
                <a:cs typeface="Calibri" pitchFamily="34" charset="-120"/>
              </a:rPr>
              <a:t>Commercial Department   ·   Outstanding Projects &amp; Deliverables   ·   18 September 2026</a:t>
            </a:r>
            <a:endParaRPr lang="en-US" sz="900" dirty="0"/>
          </a:p>
        </p:txBody>
      </p:sp>
      <p:sp>
        <p:nvSpPr>
          <p:cNvPr id="45" name="Text 43"/>
          <p:cNvSpPr txBox="1"/>
          <p:nvPr/>
        </p:nvSpPr>
        <p:spPr>
          <a:xfrm>
            <a:off x="10984687" y="6355080"/>
            <a:ext cx="640080" cy="274320"/>
          </a:xfrm>
          <a:prstGeom prst="rect">
            <a:avLst/>
          </a:prstGeom>
          <a:noFill/>
          <a:ln/>
        </p:spPr>
        <p:txBody>
          <a:bodyPr wrap="square" lIns="0" tIns="0" rIns="0" bIns="0"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66928" y="420624"/>
            <a:ext cx="11057839" cy="219456"/>
          </a:xfrm>
          <a:prstGeom prst="rect">
            <a:avLst/>
          </a:prstGeom>
          <a:noFill/>
          <a:ln/>
        </p:spPr>
        <p:txBody>
          <a:bodyPr wrap="square" lIns="0" tIns="0" rIns="0" bIns="0" rtlCol="0" anchor="ctr"/>
          <a:lstStyle/>
          <a:p>
            <a:pPr indent="0" marL="0">
              <a:buNone/>
            </a:pPr>
            <a:r>
              <a:rPr lang="en-US" sz="1050" b="1" spc="160" kern="0" dirty="0">
                <a:solidFill>
                  <a:srgbClr val="2A78D6"/>
                </a:solidFill>
                <a:latin typeface="Calibri" pitchFamily="34" charset="0"/>
                <a:ea typeface="Calibri" pitchFamily="34" charset="-122"/>
                <a:cs typeface="Calibri" pitchFamily="34" charset="-120"/>
              </a:rPr>
              <a:t>ESCALATION</a:t>
            </a:r>
            <a:endParaRPr lang="en-US" sz="1050" dirty="0"/>
          </a:p>
        </p:txBody>
      </p:sp>
      <p:sp>
        <p:nvSpPr>
          <p:cNvPr id="3" name="Text 1"/>
          <p:cNvSpPr txBox="1"/>
          <p:nvPr/>
        </p:nvSpPr>
        <p:spPr>
          <a:xfrm>
            <a:off x="566928" y="676656"/>
            <a:ext cx="11057839" cy="566928"/>
          </a:xfrm>
          <a:prstGeom prst="rect">
            <a:avLst/>
          </a:prstGeom>
          <a:noFill/>
          <a:ln/>
        </p:spPr>
        <p:txBody>
          <a:bodyPr wrap="square" lIns="0" tIns="0" rIns="0" bIns="0" rtlCol="0" anchor="ctr"/>
          <a:lstStyle/>
          <a:p>
            <a:pPr indent="0" marL="0">
              <a:buNone/>
            </a:pPr>
            <a:r>
              <a:rPr lang="en-US" sz="3100" b="1" dirty="0">
                <a:solidFill>
                  <a:srgbClr val="1B2A41"/>
                </a:solidFill>
                <a:latin typeface="Cambria" pitchFamily="34" charset="0"/>
                <a:ea typeface="Cambria" pitchFamily="34" charset="-122"/>
                <a:cs typeface="Cambria" pitchFamily="34" charset="-120"/>
              </a:rPr>
              <a:t>Blockers and Decisions Required</a:t>
            </a:r>
            <a:endParaRPr lang="en-US" sz="3100" dirty="0"/>
          </a:p>
        </p:txBody>
      </p:sp>
      <p:sp>
        <p:nvSpPr>
          <p:cNvPr id="4" name="Text 2"/>
          <p:cNvSpPr txBox="1"/>
          <p:nvPr/>
        </p:nvSpPr>
        <p:spPr>
          <a:xfrm>
            <a:off x="566928" y="1261872"/>
            <a:ext cx="11057839" cy="292608"/>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Three items cannot be cleared by the commercial department alone.</a:t>
            </a:r>
            <a:endParaRPr lang="en-US" sz="1250" dirty="0"/>
          </a:p>
        </p:txBody>
      </p:sp>
      <p:sp>
        <p:nvSpPr>
          <p:cNvPr id="5" name="Shape 3"/>
          <p:cNvSpPr/>
          <p:nvPr/>
        </p:nvSpPr>
        <p:spPr>
          <a:xfrm>
            <a:off x="566928" y="1700784"/>
            <a:ext cx="3503066" cy="3090672"/>
          </a:xfrm>
          <a:prstGeom prst="roundRect">
            <a:avLst>
              <a:gd name="adj" fmla="val 2959"/>
            </a:avLst>
          </a:prstGeom>
          <a:solidFill>
            <a:srgbClr val="FFFFFF"/>
          </a:solidFill>
          <a:ln w="12700">
            <a:solidFill>
              <a:srgbClr val="E1E0D9"/>
            </a:solidFill>
            <a:prstDash val="solid"/>
          </a:ln>
          <a:effectLst>
            <a:outerShdw sx="100000" sy="100000" kx="0" ky="0" algn="bl" rotWithShape="0" blurRad="152400" dist="25400" dir="5400000">
              <a:srgbClr val="1B2A41">
                <a:alpha val="10000"/>
              </a:srgbClr>
            </a:outerShdw>
          </a:effectLst>
        </p:spPr>
      </p:sp>
      <p:sp>
        <p:nvSpPr>
          <p:cNvPr id="6" name="Shape 4"/>
          <p:cNvSpPr/>
          <p:nvPr/>
        </p:nvSpPr>
        <p:spPr>
          <a:xfrm>
            <a:off x="841248" y="1938528"/>
            <a:ext cx="438912" cy="438912"/>
          </a:xfrm>
          <a:prstGeom prst="ellipse">
            <a:avLst/>
          </a:prstGeom>
          <a:solidFill>
            <a:srgbClr val="D03B3B"/>
          </a:solidFill>
          <a:ln/>
        </p:spPr>
      </p:sp>
      <p:sp>
        <p:nvSpPr>
          <p:cNvPr id="7" name="Text 5"/>
          <p:cNvSpPr txBox="1"/>
          <p:nvPr/>
        </p:nvSpPr>
        <p:spPr>
          <a:xfrm>
            <a:off x="841248" y="1938528"/>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408176" y="1901952"/>
            <a:ext cx="2442362" cy="512064"/>
          </a:xfrm>
          <a:prstGeom prst="rect">
            <a:avLst/>
          </a:prstGeom>
          <a:noFill/>
          <a:ln/>
        </p:spPr>
        <p:txBody>
          <a:bodyPr wrap="square" lIns="0" tIns="0" rIns="0" bIns="0" rtlCol="0" anchor="ctr"/>
          <a:lstStyle/>
          <a:p>
            <a:pPr indent="0" marL="0">
              <a:buNone/>
            </a:pPr>
            <a:r>
              <a:rPr lang="en-US" sz="1350" b="1" dirty="0">
                <a:solidFill>
                  <a:srgbClr val="1B2A41"/>
                </a:solidFill>
                <a:latin typeface="Cambria" pitchFamily="34" charset="0"/>
                <a:ea typeface="Cambria" pitchFamily="34" charset="-122"/>
                <a:cs typeface="Cambria" pitchFamily="34" charset="-120"/>
              </a:rPr>
              <a:t>Tender capacity</a:t>
            </a:r>
            <a:endParaRPr lang="en-US" sz="1350" dirty="0"/>
          </a:p>
        </p:txBody>
      </p:sp>
      <p:sp>
        <p:nvSpPr>
          <p:cNvPr id="9" name="Text 7"/>
          <p:cNvSpPr txBox="1"/>
          <p:nvPr/>
        </p:nvSpPr>
        <p:spPr>
          <a:xfrm>
            <a:off x="841248" y="2468880"/>
            <a:ext cx="2954426" cy="219456"/>
          </a:xfrm>
          <a:prstGeom prst="rect">
            <a:avLst/>
          </a:prstGeom>
          <a:noFill/>
          <a:ln/>
        </p:spPr>
        <p:txBody>
          <a:bodyPr wrap="square" lIns="0" tIns="0" rIns="0" bIns="0" rtlCol="0" anchor="ctr"/>
          <a:lstStyle/>
          <a:p>
            <a:pPr indent="0" marL="0">
              <a:buNone/>
            </a:pPr>
            <a:r>
              <a:rPr lang="en-US" sz="950" b="1" dirty="0">
                <a:solidFill>
                  <a:srgbClr val="898781"/>
                </a:solidFill>
                <a:latin typeface="Calibri" pitchFamily="34" charset="0"/>
                <a:ea typeface="Calibri" pitchFamily="34" charset="-122"/>
                <a:cs typeface="Calibri" pitchFamily="34" charset="-120"/>
              </a:rPr>
              <a:t>Kinbu School Canteen · Stanbic Bank</a:t>
            </a:r>
            <a:endParaRPr lang="en-US" sz="950" dirty="0"/>
          </a:p>
        </p:txBody>
      </p:sp>
      <p:sp>
        <p:nvSpPr>
          <p:cNvPr id="10" name="Text 8"/>
          <p:cNvSpPr txBox="1"/>
          <p:nvPr/>
        </p:nvSpPr>
        <p:spPr>
          <a:xfrm>
            <a:off x="841248" y="2779776"/>
            <a:ext cx="2954426" cy="1005840"/>
          </a:xfrm>
          <a:prstGeom prst="rect">
            <a:avLst/>
          </a:prstGeom>
          <a:noFill/>
          <a:ln/>
        </p:spPr>
        <p:txBody>
          <a:bodyPr wrap="square" lIns="0" tIns="0" rIns="0" bIns="0" rtlCol="0" anchor="t"/>
          <a:lstStyle/>
          <a:p>
            <a:pPr indent="0" marL="0">
              <a:buNone/>
            </a:pPr>
            <a:r>
              <a:rPr lang="en-US" sz="1050" dirty="0">
                <a:solidFill>
                  <a:srgbClr val="52514E"/>
                </a:solidFill>
                <a:latin typeface="Calibri" pitchFamily="34" charset="0"/>
                <a:ea typeface="Calibri" pitchFamily="34" charset="-122"/>
                <a:cs typeface="Calibri" pitchFamily="34" charset="-120"/>
              </a:rPr>
              <a:t>Both submissions close on 24 September. The Kinbu priced BoQ is at 10% and the Stanbic estimate at 50%. Neither has a named owner — both are logged against "Team".</a:t>
            </a:r>
            <a:endParaRPr lang="en-US" sz="1050" dirty="0"/>
          </a:p>
        </p:txBody>
      </p:sp>
      <p:sp>
        <p:nvSpPr>
          <p:cNvPr id="11" name="Shape 9"/>
          <p:cNvSpPr/>
          <p:nvPr/>
        </p:nvSpPr>
        <p:spPr>
          <a:xfrm>
            <a:off x="841248" y="3895344"/>
            <a:ext cx="2954426" cy="731520"/>
          </a:xfrm>
          <a:prstGeom prst="roundRect">
            <a:avLst>
              <a:gd name="adj" fmla="val 10000"/>
            </a:avLst>
          </a:prstGeom>
          <a:solidFill>
            <a:srgbClr val="F2F5F8"/>
          </a:solidFill>
          <a:ln/>
        </p:spPr>
      </p:sp>
      <p:sp>
        <p:nvSpPr>
          <p:cNvPr id="12" name="Text 10"/>
          <p:cNvSpPr txBox="1"/>
          <p:nvPr/>
        </p:nvSpPr>
        <p:spPr>
          <a:xfrm>
            <a:off x="987552" y="3986784"/>
            <a:ext cx="2661818" cy="182880"/>
          </a:xfrm>
          <a:prstGeom prst="rect">
            <a:avLst/>
          </a:prstGeom>
          <a:noFill/>
          <a:ln/>
        </p:spPr>
        <p:txBody>
          <a:bodyPr wrap="square" lIns="0" tIns="0" rIns="0" bIns="0" rtlCol="0" anchor="ctr"/>
          <a:lstStyle/>
          <a:p>
            <a:pPr indent="0" marL="0">
              <a:buNone/>
            </a:pPr>
            <a:r>
              <a:rPr lang="en-US" sz="800" b="1" spc="110" kern="0" dirty="0">
                <a:solidFill>
                  <a:srgbClr val="D03B3B"/>
                </a:solidFill>
                <a:latin typeface="Calibri" pitchFamily="34" charset="0"/>
                <a:ea typeface="Calibri" pitchFamily="34" charset="-122"/>
                <a:cs typeface="Calibri" pitchFamily="34" charset="-120"/>
              </a:rPr>
              <a:t>DECISION REQUIRED</a:t>
            </a:r>
            <a:endParaRPr lang="en-US" sz="800" dirty="0"/>
          </a:p>
        </p:txBody>
      </p:sp>
      <p:sp>
        <p:nvSpPr>
          <p:cNvPr id="13" name="Text 11"/>
          <p:cNvSpPr txBox="1"/>
          <p:nvPr/>
        </p:nvSpPr>
        <p:spPr>
          <a:xfrm>
            <a:off x="987552" y="4169664"/>
            <a:ext cx="2661818" cy="420624"/>
          </a:xfrm>
          <a:prstGeom prst="rect">
            <a:avLst/>
          </a:prstGeom>
          <a:noFill/>
          <a:ln/>
        </p:spPr>
        <p:txBody>
          <a:bodyPr wrap="square" lIns="0" tIns="0" rIns="0" bIns="0" rtlCol="0" anchor="t"/>
          <a:lstStyle/>
          <a:p>
            <a:pPr indent="0" marL="0">
              <a:buNone/>
            </a:pPr>
            <a:r>
              <a:rPr lang="en-US" sz="950" b="1" dirty="0">
                <a:solidFill>
                  <a:srgbClr val="1B2A41"/>
                </a:solidFill>
                <a:latin typeface="Calibri" pitchFamily="34" charset="0"/>
                <a:ea typeface="Calibri" pitchFamily="34" charset="-122"/>
                <a:cs typeface="Calibri" pitchFamily="34" charset="-120"/>
              </a:rPr>
              <a:t>Assign a named lead to each tender today, or authorise a request for an extension on Kinbu.</a:t>
            </a:r>
            <a:endParaRPr lang="en-US" sz="950" dirty="0"/>
          </a:p>
        </p:txBody>
      </p:sp>
      <p:sp>
        <p:nvSpPr>
          <p:cNvPr id="14" name="Shape 12"/>
          <p:cNvSpPr/>
          <p:nvPr/>
        </p:nvSpPr>
        <p:spPr>
          <a:xfrm>
            <a:off x="4344314" y="1700784"/>
            <a:ext cx="3503066" cy="3090672"/>
          </a:xfrm>
          <a:prstGeom prst="roundRect">
            <a:avLst>
              <a:gd name="adj" fmla="val 2959"/>
            </a:avLst>
          </a:prstGeom>
          <a:solidFill>
            <a:srgbClr val="FFFFFF"/>
          </a:solidFill>
          <a:ln w="12700">
            <a:solidFill>
              <a:srgbClr val="E1E0D9"/>
            </a:solidFill>
            <a:prstDash val="solid"/>
          </a:ln>
          <a:effectLst>
            <a:outerShdw sx="100000" sy="100000" kx="0" ky="0" algn="bl" rotWithShape="0" blurRad="152400" dist="25400" dir="5400000">
              <a:srgbClr val="1B2A41">
                <a:alpha val="10000"/>
              </a:srgbClr>
            </a:outerShdw>
          </a:effectLst>
        </p:spPr>
      </p:sp>
      <p:sp>
        <p:nvSpPr>
          <p:cNvPr id="15" name="Shape 13"/>
          <p:cNvSpPr/>
          <p:nvPr/>
        </p:nvSpPr>
        <p:spPr>
          <a:xfrm>
            <a:off x="4618634" y="1938528"/>
            <a:ext cx="438912" cy="438912"/>
          </a:xfrm>
          <a:prstGeom prst="ellipse">
            <a:avLst/>
          </a:prstGeom>
          <a:solidFill>
            <a:srgbClr val="FAB219"/>
          </a:solidFill>
          <a:ln/>
        </p:spPr>
      </p:sp>
      <p:sp>
        <p:nvSpPr>
          <p:cNvPr id="16" name="Text 14"/>
          <p:cNvSpPr txBox="1"/>
          <p:nvPr/>
        </p:nvSpPr>
        <p:spPr>
          <a:xfrm>
            <a:off x="4618634" y="1938528"/>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7" name="Text 15"/>
          <p:cNvSpPr txBox="1"/>
          <p:nvPr/>
        </p:nvSpPr>
        <p:spPr>
          <a:xfrm>
            <a:off x="5185562" y="1901952"/>
            <a:ext cx="2442362" cy="512064"/>
          </a:xfrm>
          <a:prstGeom prst="rect">
            <a:avLst/>
          </a:prstGeom>
          <a:noFill/>
          <a:ln/>
        </p:spPr>
        <p:txBody>
          <a:bodyPr wrap="square" lIns="0" tIns="0" rIns="0" bIns="0" rtlCol="0" anchor="ctr"/>
          <a:lstStyle/>
          <a:p>
            <a:pPr indent="0" marL="0">
              <a:buNone/>
            </a:pPr>
            <a:r>
              <a:rPr lang="en-US" sz="1350" b="1" dirty="0">
                <a:solidFill>
                  <a:srgbClr val="1B2A41"/>
                </a:solidFill>
                <a:latin typeface="Cambria" pitchFamily="34" charset="0"/>
                <a:ea typeface="Cambria" pitchFamily="34" charset="-122"/>
                <a:cs typeface="Cambria" pitchFamily="34" charset="-120"/>
              </a:rPr>
              <a:t>Missing design information</a:t>
            </a:r>
            <a:endParaRPr lang="en-US" sz="1350" dirty="0"/>
          </a:p>
        </p:txBody>
      </p:sp>
      <p:sp>
        <p:nvSpPr>
          <p:cNvPr id="18" name="Text 16"/>
          <p:cNvSpPr txBox="1"/>
          <p:nvPr/>
        </p:nvSpPr>
        <p:spPr>
          <a:xfrm>
            <a:off x="4618634" y="2468880"/>
            <a:ext cx="2954426" cy="219456"/>
          </a:xfrm>
          <a:prstGeom prst="rect">
            <a:avLst/>
          </a:prstGeom>
          <a:noFill/>
          <a:ln/>
        </p:spPr>
        <p:txBody>
          <a:bodyPr wrap="square" lIns="0" tIns="0" rIns="0" bIns="0" rtlCol="0" anchor="ctr"/>
          <a:lstStyle/>
          <a:p>
            <a:pPr indent="0" marL="0">
              <a:buNone/>
            </a:pPr>
            <a:r>
              <a:rPr lang="en-US" sz="950" b="1" dirty="0">
                <a:solidFill>
                  <a:srgbClr val="898781"/>
                </a:solidFill>
                <a:latin typeface="Calibri" pitchFamily="34" charset="0"/>
                <a:ea typeface="Calibri" pitchFamily="34" charset="-122"/>
                <a:cs typeface="Calibri" pitchFamily="34" charset="-120"/>
              </a:rPr>
              <a:t>Priority Insurance</a:t>
            </a:r>
            <a:endParaRPr lang="en-US" sz="950" dirty="0"/>
          </a:p>
        </p:txBody>
      </p:sp>
      <p:sp>
        <p:nvSpPr>
          <p:cNvPr id="19" name="Text 17"/>
          <p:cNvSpPr txBox="1"/>
          <p:nvPr/>
        </p:nvSpPr>
        <p:spPr>
          <a:xfrm>
            <a:off x="4618634" y="2779776"/>
            <a:ext cx="2954426" cy="1005840"/>
          </a:xfrm>
          <a:prstGeom prst="rect">
            <a:avLst/>
          </a:prstGeom>
          <a:noFill/>
          <a:ln/>
        </p:spPr>
        <p:txBody>
          <a:bodyPr wrap="square" lIns="0" tIns="0" rIns="0" bIns="0" rtlCol="0" anchor="t"/>
          <a:lstStyle/>
          <a:p>
            <a:pPr indent="0" marL="0">
              <a:buNone/>
            </a:pPr>
            <a:r>
              <a:rPr lang="en-US" sz="1050" dirty="0">
                <a:solidFill>
                  <a:srgbClr val="52514E"/>
                </a:solidFill>
                <a:latin typeface="Calibri" pitchFamily="34" charset="0"/>
                <a:ea typeface="Calibri" pitchFamily="34" charset="-122"/>
                <a:cs typeface="Calibri" pitchFamily="34" charset="-120"/>
              </a:rPr>
              <a:t>The architectural take-off is 90% done. The floor finishes schedule and the structural drawings have not been received, so the BoQ cannot be closed and the budget behind it cannot start.</a:t>
            </a:r>
            <a:endParaRPr lang="en-US" sz="1050" dirty="0"/>
          </a:p>
        </p:txBody>
      </p:sp>
      <p:sp>
        <p:nvSpPr>
          <p:cNvPr id="20" name="Shape 18"/>
          <p:cNvSpPr/>
          <p:nvPr/>
        </p:nvSpPr>
        <p:spPr>
          <a:xfrm>
            <a:off x="4618634" y="3895344"/>
            <a:ext cx="2954426" cy="731520"/>
          </a:xfrm>
          <a:prstGeom prst="roundRect">
            <a:avLst>
              <a:gd name="adj" fmla="val 10000"/>
            </a:avLst>
          </a:prstGeom>
          <a:solidFill>
            <a:srgbClr val="F2F5F8"/>
          </a:solidFill>
          <a:ln/>
        </p:spPr>
      </p:sp>
      <p:sp>
        <p:nvSpPr>
          <p:cNvPr id="21" name="Text 19"/>
          <p:cNvSpPr txBox="1"/>
          <p:nvPr/>
        </p:nvSpPr>
        <p:spPr>
          <a:xfrm>
            <a:off x="4764938" y="3986784"/>
            <a:ext cx="2661818" cy="182880"/>
          </a:xfrm>
          <a:prstGeom prst="rect">
            <a:avLst/>
          </a:prstGeom>
          <a:noFill/>
          <a:ln/>
        </p:spPr>
        <p:txBody>
          <a:bodyPr wrap="square" lIns="0" tIns="0" rIns="0" bIns="0" rtlCol="0" anchor="ctr"/>
          <a:lstStyle/>
          <a:p>
            <a:pPr indent="0" marL="0">
              <a:buNone/>
            </a:pPr>
            <a:r>
              <a:rPr lang="en-US" sz="800" b="1" spc="110" kern="0" dirty="0">
                <a:solidFill>
                  <a:srgbClr val="FAB219"/>
                </a:solidFill>
                <a:latin typeface="Calibri" pitchFamily="34" charset="0"/>
                <a:ea typeface="Calibri" pitchFamily="34" charset="-122"/>
                <a:cs typeface="Calibri" pitchFamily="34" charset="-120"/>
              </a:rPr>
              <a:t>DECISION REQUIRED</a:t>
            </a:r>
            <a:endParaRPr lang="en-US" sz="800" dirty="0"/>
          </a:p>
        </p:txBody>
      </p:sp>
      <p:sp>
        <p:nvSpPr>
          <p:cNvPr id="22" name="Text 20"/>
          <p:cNvSpPr txBox="1"/>
          <p:nvPr/>
        </p:nvSpPr>
        <p:spPr>
          <a:xfrm>
            <a:off x="4764938" y="4169664"/>
            <a:ext cx="2661818" cy="420624"/>
          </a:xfrm>
          <a:prstGeom prst="rect">
            <a:avLst/>
          </a:prstGeom>
          <a:noFill/>
          <a:ln/>
        </p:spPr>
        <p:txBody>
          <a:bodyPr wrap="square" lIns="0" tIns="0" rIns="0" bIns="0" rtlCol="0" anchor="t"/>
          <a:lstStyle/>
          <a:p>
            <a:pPr indent="0" marL="0">
              <a:buNone/>
            </a:pPr>
            <a:r>
              <a:rPr lang="en-US" sz="950" b="1" dirty="0">
                <a:solidFill>
                  <a:srgbClr val="1B2A41"/>
                </a:solidFill>
                <a:latin typeface="Calibri" pitchFamily="34" charset="0"/>
                <a:ea typeface="Calibri" pitchFamily="34" charset="-122"/>
                <a:cs typeface="Calibri" pitchFamily="34" charset="-120"/>
              </a:rPr>
              <a:t>Escalate to the design team and the client for a firm issue date for both documents.</a:t>
            </a:r>
            <a:endParaRPr lang="en-US" sz="950" dirty="0"/>
          </a:p>
        </p:txBody>
      </p:sp>
      <p:sp>
        <p:nvSpPr>
          <p:cNvPr id="23" name="Shape 21"/>
          <p:cNvSpPr/>
          <p:nvPr/>
        </p:nvSpPr>
        <p:spPr>
          <a:xfrm>
            <a:off x="8121701" y="1700784"/>
            <a:ext cx="3503066" cy="3090672"/>
          </a:xfrm>
          <a:prstGeom prst="roundRect">
            <a:avLst>
              <a:gd name="adj" fmla="val 2959"/>
            </a:avLst>
          </a:prstGeom>
          <a:solidFill>
            <a:srgbClr val="FFFFFF"/>
          </a:solidFill>
          <a:ln w="12700">
            <a:solidFill>
              <a:srgbClr val="E1E0D9"/>
            </a:solidFill>
            <a:prstDash val="solid"/>
          </a:ln>
          <a:effectLst>
            <a:outerShdw sx="100000" sy="100000" kx="0" ky="0" algn="bl" rotWithShape="0" blurRad="152400" dist="25400" dir="5400000">
              <a:srgbClr val="1B2A41">
                <a:alpha val="10000"/>
              </a:srgbClr>
            </a:outerShdw>
          </a:effectLst>
        </p:spPr>
      </p:sp>
      <p:sp>
        <p:nvSpPr>
          <p:cNvPr id="24" name="Shape 22"/>
          <p:cNvSpPr/>
          <p:nvPr/>
        </p:nvSpPr>
        <p:spPr>
          <a:xfrm>
            <a:off x="8396021" y="1938528"/>
            <a:ext cx="438912" cy="438912"/>
          </a:xfrm>
          <a:prstGeom prst="ellipse">
            <a:avLst/>
          </a:prstGeom>
          <a:solidFill>
            <a:srgbClr val="2A78D6"/>
          </a:solidFill>
          <a:ln/>
        </p:spPr>
      </p:sp>
      <p:sp>
        <p:nvSpPr>
          <p:cNvPr id="25" name="Text 23"/>
          <p:cNvSpPr txBox="1"/>
          <p:nvPr/>
        </p:nvSpPr>
        <p:spPr>
          <a:xfrm>
            <a:off x="8396021" y="1938528"/>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6" name="Text 24"/>
          <p:cNvSpPr txBox="1"/>
          <p:nvPr/>
        </p:nvSpPr>
        <p:spPr>
          <a:xfrm>
            <a:off x="8962949" y="1901952"/>
            <a:ext cx="2442362" cy="512064"/>
          </a:xfrm>
          <a:prstGeom prst="rect">
            <a:avLst/>
          </a:prstGeom>
          <a:noFill/>
          <a:ln/>
        </p:spPr>
        <p:txBody>
          <a:bodyPr wrap="square" lIns="0" tIns="0" rIns="0" bIns="0" rtlCol="0" anchor="ctr"/>
          <a:lstStyle/>
          <a:p>
            <a:pPr indent="0" marL="0">
              <a:buNone/>
            </a:pPr>
            <a:r>
              <a:rPr lang="en-US" sz="1350" b="1" dirty="0">
                <a:solidFill>
                  <a:srgbClr val="1B2A41"/>
                </a:solidFill>
                <a:latin typeface="Cambria" pitchFamily="34" charset="0"/>
                <a:ea typeface="Cambria" pitchFamily="34" charset="-122"/>
                <a:cs typeface="Cambria" pitchFamily="34" charset="-120"/>
              </a:rPr>
              <a:t>Review bottleneck</a:t>
            </a:r>
            <a:endParaRPr lang="en-US" sz="1350" dirty="0"/>
          </a:p>
        </p:txBody>
      </p:sp>
      <p:sp>
        <p:nvSpPr>
          <p:cNvPr id="27" name="Text 25"/>
          <p:cNvSpPr txBox="1"/>
          <p:nvPr/>
        </p:nvSpPr>
        <p:spPr>
          <a:xfrm>
            <a:off x="8396021" y="2468880"/>
            <a:ext cx="2954426" cy="219456"/>
          </a:xfrm>
          <a:prstGeom prst="rect">
            <a:avLst/>
          </a:prstGeom>
          <a:noFill/>
          <a:ln/>
        </p:spPr>
        <p:txBody>
          <a:bodyPr wrap="square" lIns="0" tIns="0" rIns="0" bIns="0" rtlCol="0" anchor="ctr"/>
          <a:lstStyle/>
          <a:p>
            <a:pPr indent="0" marL="0">
              <a:buNone/>
            </a:pPr>
            <a:r>
              <a:rPr lang="en-US" sz="950" b="1" dirty="0">
                <a:solidFill>
                  <a:srgbClr val="898781"/>
                </a:solidFill>
                <a:latin typeface="Calibri" pitchFamily="34" charset="0"/>
                <a:ea typeface="Calibri" pitchFamily="34" charset="-122"/>
                <a:cs typeface="Calibri" pitchFamily="34" charset="-120"/>
              </a:rPr>
              <a:t>Anglogold Ashanti</a:t>
            </a:r>
            <a:endParaRPr lang="en-US" sz="950" dirty="0"/>
          </a:p>
        </p:txBody>
      </p:sp>
      <p:sp>
        <p:nvSpPr>
          <p:cNvPr id="28" name="Text 26"/>
          <p:cNvSpPr txBox="1"/>
          <p:nvPr/>
        </p:nvSpPr>
        <p:spPr>
          <a:xfrm>
            <a:off x="8396021" y="2779776"/>
            <a:ext cx="2954426" cy="1005840"/>
          </a:xfrm>
          <a:prstGeom prst="rect">
            <a:avLst/>
          </a:prstGeom>
          <a:noFill/>
          <a:ln/>
        </p:spPr>
        <p:txBody>
          <a:bodyPr wrap="square" lIns="0" tIns="0" rIns="0" bIns="0" rtlCol="0" anchor="t"/>
          <a:lstStyle/>
          <a:p>
            <a:pPr indent="0" marL="0">
              <a:buNone/>
            </a:pPr>
            <a:r>
              <a:rPr lang="en-US" sz="1050" dirty="0">
                <a:solidFill>
                  <a:srgbClr val="52514E"/>
                </a:solidFill>
                <a:latin typeface="Calibri" pitchFamily="34" charset="0"/>
                <a:ea typeface="Calibri" pitchFamily="34" charset="-122"/>
                <a:cs typeface="Calibri" pitchFamily="34" charset="-120"/>
              </a:rPr>
              <a:t>The budget is complete and has been sitting in "awaiting review" since 11 September. It is the only finished deliverable not yet signed off.</a:t>
            </a:r>
            <a:endParaRPr lang="en-US" sz="1050" dirty="0"/>
          </a:p>
        </p:txBody>
      </p:sp>
      <p:sp>
        <p:nvSpPr>
          <p:cNvPr id="29" name="Shape 27"/>
          <p:cNvSpPr/>
          <p:nvPr/>
        </p:nvSpPr>
        <p:spPr>
          <a:xfrm>
            <a:off x="8396021" y="3895344"/>
            <a:ext cx="2954426" cy="731520"/>
          </a:xfrm>
          <a:prstGeom prst="roundRect">
            <a:avLst>
              <a:gd name="adj" fmla="val 10000"/>
            </a:avLst>
          </a:prstGeom>
          <a:solidFill>
            <a:srgbClr val="F2F5F8"/>
          </a:solidFill>
          <a:ln/>
        </p:spPr>
      </p:sp>
      <p:sp>
        <p:nvSpPr>
          <p:cNvPr id="30" name="Text 28"/>
          <p:cNvSpPr txBox="1"/>
          <p:nvPr/>
        </p:nvSpPr>
        <p:spPr>
          <a:xfrm>
            <a:off x="8542325" y="3986784"/>
            <a:ext cx="2661818" cy="182880"/>
          </a:xfrm>
          <a:prstGeom prst="rect">
            <a:avLst/>
          </a:prstGeom>
          <a:noFill/>
          <a:ln/>
        </p:spPr>
        <p:txBody>
          <a:bodyPr wrap="square" lIns="0" tIns="0" rIns="0" bIns="0" rtlCol="0" anchor="ctr"/>
          <a:lstStyle/>
          <a:p>
            <a:pPr indent="0" marL="0">
              <a:buNone/>
            </a:pPr>
            <a:r>
              <a:rPr lang="en-US" sz="800" b="1" spc="110" kern="0" dirty="0">
                <a:solidFill>
                  <a:srgbClr val="2A78D6"/>
                </a:solidFill>
                <a:latin typeface="Calibri" pitchFamily="34" charset="0"/>
                <a:ea typeface="Calibri" pitchFamily="34" charset="-122"/>
                <a:cs typeface="Calibri" pitchFamily="34" charset="-120"/>
              </a:rPr>
              <a:t>DECISION REQUIRED</a:t>
            </a:r>
            <a:endParaRPr lang="en-US" sz="800" dirty="0"/>
          </a:p>
        </p:txBody>
      </p:sp>
      <p:sp>
        <p:nvSpPr>
          <p:cNvPr id="31" name="Text 29"/>
          <p:cNvSpPr txBox="1"/>
          <p:nvPr/>
        </p:nvSpPr>
        <p:spPr>
          <a:xfrm>
            <a:off x="8542325" y="4169664"/>
            <a:ext cx="2661818" cy="420624"/>
          </a:xfrm>
          <a:prstGeom prst="rect">
            <a:avLst/>
          </a:prstGeom>
          <a:noFill/>
          <a:ln/>
        </p:spPr>
        <p:txBody>
          <a:bodyPr wrap="square" lIns="0" tIns="0" rIns="0" bIns="0" rtlCol="0" anchor="t"/>
          <a:lstStyle/>
          <a:p>
            <a:pPr indent="0" marL="0">
              <a:buNone/>
            </a:pPr>
            <a:r>
              <a:rPr lang="en-US" sz="950" b="1" dirty="0">
                <a:solidFill>
                  <a:srgbClr val="1B2A41"/>
                </a:solidFill>
                <a:latin typeface="Calibri" pitchFamily="34" charset="0"/>
                <a:ea typeface="Calibri" pitchFamily="34" charset="-122"/>
                <a:cs typeface="Calibri" pitchFamily="34" charset="-120"/>
              </a:rPr>
              <a:t>Nominate the reviewer and set a clearance date so the deliverable can be closed.</a:t>
            </a:r>
            <a:endParaRPr lang="en-US" sz="950" dirty="0"/>
          </a:p>
        </p:txBody>
      </p:sp>
      <p:sp>
        <p:nvSpPr>
          <p:cNvPr id="32" name="Shape 30"/>
          <p:cNvSpPr/>
          <p:nvPr/>
        </p:nvSpPr>
        <p:spPr>
          <a:xfrm>
            <a:off x="566928" y="5047488"/>
            <a:ext cx="11057839" cy="914400"/>
          </a:xfrm>
          <a:prstGeom prst="roundRect">
            <a:avLst>
              <a:gd name="adj" fmla="val 10000"/>
            </a:avLst>
          </a:prstGeom>
          <a:solidFill>
            <a:srgbClr val="1B2A41"/>
          </a:solidFill>
          <a:ln w="12700">
            <a:solidFill>
              <a:srgbClr val="E1E0D9"/>
            </a:solidFill>
            <a:prstDash val="solid"/>
          </a:ln>
          <a:effectLst>
            <a:outerShdw sx="100000" sy="100000" kx="0" ky="0" algn="bl" rotWithShape="0" blurRad="152400" dist="25400" dir="5400000">
              <a:srgbClr val="1B2A41">
                <a:alpha val="10000"/>
              </a:srgbClr>
            </a:outerShdw>
          </a:effectLst>
        </p:spPr>
      </p:sp>
      <p:sp>
        <p:nvSpPr>
          <p:cNvPr id="33" name="Text 31"/>
          <p:cNvSpPr txBox="1"/>
          <p:nvPr/>
        </p:nvSpPr>
        <p:spPr>
          <a:xfrm>
            <a:off x="859536" y="5175504"/>
            <a:ext cx="4206240" cy="256032"/>
          </a:xfrm>
          <a:prstGeom prst="rect">
            <a:avLst/>
          </a:prstGeom>
          <a:noFill/>
          <a:ln/>
        </p:spPr>
        <p:txBody>
          <a:bodyPr wrap="square" lIns="0" tIns="0" rIns="0" bIns="0" rtlCol="0" anchor="ctr"/>
          <a:lstStyle/>
          <a:p>
            <a:pPr indent="0" marL="0">
              <a:buNone/>
            </a:pPr>
            <a:r>
              <a:rPr lang="en-US" sz="1200" b="1" dirty="0">
                <a:solidFill>
                  <a:srgbClr val="E08A3C"/>
                </a:solidFill>
                <a:latin typeface="Calibri" pitchFamily="34" charset="0"/>
                <a:ea typeface="Calibri" pitchFamily="34" charset="-122"/>
                <a:cs typeface="Calibri" pitchFamily="34" charset="-120"/>
              </a:rPr>
              <a:t>What we need from this meeting</a:t>
            </a:r>
            <a:endParaRPr lang="en-US" sz="1200" dirty="0"/>
          </a:p>
        </p:txBody>
      </p:sp>
      <p:sp>
        <p:nvSpPr>
          <p:cNvPr id="34" name="Text 32"/>
          <p:cNvSpPr txBox="1"/>
          <p:nvPr/>
        </p:nvSpPr>
        <p:spPr>
          <a:xfrm>
            <a:off x="859536" y="5431536"/>
            <a:ext cx="10472623" cy="256032"/>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Two named tender leads, a firm issue date for the Priority Insurance drawings, and a nominated reviewer for the Anglogold budget.</a:t>
            </a:r>
            <a:endParaRPr lang="en-US" sz="1150" dirty="0"/>
          </a:p>
        </p:txBody>
      </p:sp>
      <p:sp>
        <p:nvSpPr>
          <p:cNvPr id="35" name="Text 33"/>
          <p:cNvSpPr txBox="1"/>
          <p:nvPr/>
        </p:nvSpPr>
        <p:spPr>
          <a:xfrm>
            <a:off x="566928" y="6355080"/>
            <a:ext cx="8961120" cy="274320"/>
          </a:xfrm>
          <a:prstGeom prst="rect">
            <a:avLst/>
          </a:prstGeom>
          <a:noFill/>
          <a:ln/>
        </p:spPr>
        <p:txBody>
          <a:bodyPr wrap="square" lIns="0" tIns="0" rIns="0" bIns="0" rtlCol="0" anchor="ctr"/>
          <a:lstStyle/>
          <a:p>
            <a:pPr indent="0" marL="0">
              <a:buNone/>
            </a:pPr>
            <a:r>
              <a:rPr lang="en-US" sz="900" dirty="0">
                <a:solidFill>
                  <a:srgbClr val="898781"/>
                </a:solidFill>
                <a:latin typeface="Calibri" pitchFamily="34" charset="0"/>
                <a:ea typeface="Calibri" pitchFamily="34" charset="-122"/>
                <a:cs typeface="Calibri" pitchFamily="34" charset="-120"/>
              </a:rPr>
              <a:t>Commercial Department   ·   Outstanding Projects &amp; Deliverables   ·   18 September 2026</a:t>
            </a:r>
            <a:endParaRPr lang="en-US" sz="900" dirty="0"/>
          </a:p>
        </p:txBody>
      </p:sp>
      <p:sp>
        <p:nvSpPr>
          <p:cNvPr id="36" name="Text 34"/>
          <p:cNvSpPr txBox="1"/>
          <p:nvPr/>
        </p:nvSpPr>
        <p:spPr>
          <a:xfrm>
            <a:off x="10984687" y="6355080"/>
            <a:ext cx="640080" cy="274320"/>
          </a:xfrm>
          <a:prstGeom prst="rect">
            <a:avLst/>
          </a:prstGeom>
          <a:noFill/>
          <a:ln/>
        </p:spPr>
        <p:txBody>
          <a:bodyPr wrap="square" lIns="0" tIns="0" rIns="0" bIns="0"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66928" y="420624"/>
            <a:ext cx="11057839" cy="219456"/>
          </a:xfrm>
          <a:prstGeom prst="rect">
            <a:avLst/>
          </a:prstGeom>
          <a:noFill/>
          <a:ln/>
        </p:spPr>
        <p:txBody>
          <a:bodyPr wrap="square" lIns="0" tIns="0" rIns="0" bIns="0" rtlCol="0" anchor="ctr"/>
          <a:lstStyle/>
          <a:p>
            <a:pPr indent="0" marL="0">
              <a:buNone/>
            </a:pPr>
            <a:r>
              <a:rPr lang="en-US" sz="1050" b="1" spc="160" kern="0" dirty="0">
                <a:solidFill>
                  <a:srgbClr val="2A78D6"/>
                </a:solidFill>
                <a:latin typeface="Calibri" pitchFamily="34" charset="0"/>
                <a:ea typeface="Calibri" pitchFamily="34" charset="-122"/>
                <a:cs typeface="Calibri" pitchFamily="34" charset="-120"/>
              </a:rPr>
              <a:t>RESOURCING</a:t>
            </a:r>
            <a:endParaRPr lang="en-US" sz="1050" dirty="0"/>
          </a:p>
        </p:txBody>
      </p:sp>
      <p:sp>
        <p:nvSpPr>
          <p:cNvPr id="3" name="Text 1"/>
          <p:cNvSpPr txBox="1"/>
          <p:nvPr/>
        </p:nvSpPr>
        <p:spPr>
          <a:xfrm>
            <a:off x="566928" y="676656"/>
            <a:ext cx="11057839" cy="566928"/>
          </a:xfrm>
          <a:prstGeom prst="rect">
            <a:avLst/>
          </a:prstGeom>
          <a:noFill/>
          <a:ln/>
        </p:spPr>
        <p:txBody>
          <a:bodyPr wrap="square" lIns="0" tIns="0" rIns="0" bIns="0" rtlCol="0" anchor="ctr"/>
          <a:lstStyle/>
          <a:p>
            <a:pPr indent="0" marL="0">
              <a:buNone/>
            </a:pPr>
            <a:r>
              <a:rPr lang="en-US" sz="3100" b="1" dirty="0">
                <a:solidFill>
                  <a:srgbClr val="1B2A41"/>
                </a:solidFill>
                <a:latin typeface="Cambria" pitchFamily="34" charset="0"/>
                <a:ea typeface="Cambria" pitchFamily="34" charset="-122"/>
                <a:cs typeface="Cambria" pitchFamily="34" charset="-120"/>
              </a:rPr>
              <a:t>Workload Across the Team</a:t>
            </a:r>
            <a:endParaRPr lang="en-US" sz="3100" dirty="0"/>
          </a:p>
        </p:txBody>
      </p:sp>
      <p:sp>
        <p:nvSpPr>
          <p:cNvPr id="4" name="Text 2"/>
          <p:cNvSpPr txBox="1"/>
          <p:nvPr/>
        </p:nvSpPr>
        <p:spPr>
          <a:xfrm>
            <a:off x="566928" y="1261872"/>
            <a:ext cx="11057839" cy="292608"/>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Deliverables held by each team member, split between delivered and outstanding.</a:t>
            </a:r>
            <a:endParaRPr lang="en-US" sz="1250" dirty="0"/>
          </a:p>
        </p:txBody>
      </p:sp>
      <p:graphicFrame>
        <p:nvGraphicFramePr>
          <p:cNvPr id="5" name="Chart 0" descr=""/>
          <p:cNvGraphicFramePr/>
          <p:nvPr/>
        </p:nvGraphicFramePr>
        <p:xfrm>
          <a:off x="566928" y="1700784"/>
          <a:ext cx="7269480" cy="39776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8110728" y="1700784"/>
            <a:ext cx="3514039" cy="1170432"/>
          </a:xfrm>
          <a:prstGeom prst="roundRect">
            <a:avLst>
              <a:gd name="adj" fmla="val 7813"/>
            </a:avLst>
          </a:prstGeom>
          <a:solidFill>
            <a:srgbClr val="F2F5F8"/>
          </a:solidFill>
          <a:ln w="12700">
            <a:solidFill>
              <a:srgbClr val="E1E0D9"/>
            </a:solidFill>
            <a:prstDash val="solid"/>
          </a:ln>
          <a:effectLst>
            <a:outerShdw sx="100000" sy="100000" kx="0" ky="0" algn="bl" rotWithShape="0" blurRad="101600" dist="50800" dir="5400000">
              <a:srgbClr val="FFFFFF">
                <a:alpha val="75000"/>
              </a:srgbClr>
            </a:outerShdw>
          </a:effectLst>
        </p:spPr>
      </p:sp>
      <p:sp>
        <p:nvSpPr>
          <p:cNvPr id="7" name="Text 4"/>
          <p:cNvSpPr txBox="1"/>
          <p:nvPr/>
        </p:nvSpPr>
        <p:spPr>
          <a:xfrm>
            <a:off x="8330184" y="1847088"/>
            <a:ext cx="3075127" cy="274320"/>
          </a:xfrm>
          <a:prstGeom prst="rect">
            <a:avLst/>
          </a:prstGeom>
          <a:noFill/>
          <a:ln/>
        </p:spPr>
        <p:txBody>
          <a:bodyPr wrap="square" lIns="0" tIns="0" rIns="0" bIns="0" rtlCol="0" anchor="ctr"/>
          <a:lstStyle/>
          <a:p>
            <a:pPr indent="0" marL="0">
              <a:buNone/>
            </a:pPr>
            <a:r>
              <a:rPr lang="en-US" sz="1150" b="1" dirty="0">
                <a:solidFill>
                  <a:srgbClr val="1B2A41"/>
                </a:solidFill>
                <a:latin typeface="Calibri" pitchFamily="34" charset="0"/>
                <a:ea typeface="Calibri" pitchFamily="34" charset="-122"/>
                <a:cs typeface="Calibri" pitchFamily="34" charset="-120"/>
              </a:rPr>
              <a:t>Eunice carries the largest load</a:t>
            </a:r>
            <a:endParaRPr lang="en-US" sz="1150" dirty="0"/>
          </a:p>
        </p:txBody>
      </p:sp>
      <p:sp>
        <p:nvSpPr>
          <p:cNvPr id="8" name="Text 5"/>
          <p:cNvSpPr txBox="1"/>
          <p:nvPr/>
        </p:nvSpPr>
        <p:spPr>
          <a:xfrm>
            <a:off x="8330184" y="2139696"/>
            <a:ext cx="3075127" cy="603504"/>
          </a:xfrm>
          <a:prstGeom prst="rect">
            <a:avLst/>
          </a:prstGeom>
          <a:noFill/>
          <a:ln/>
        </p:spPr>
        <p:txBody>
          <a:bodyPr wrap="square" lIns="0" tIns="0" rIns="0" bIns="0" rtlCol="0" anchor="t"/>
          <a:lstStyle/>
          <a:p>
            <a:pPr indent="0" marL="0">
              <a:buNone/>
            </a:pPr>
            <a:r>
              <a:rPr lang="en-US" sz="1000" dirty="0">
                <a:solidFill>
                  <a:srgbClr val="52514E"/>
                </a:solidFill>
                <a:latin typeface="Calibri" pitchFamily="34" charset="0"/>
                <a:ea typeface="Calibri" pitchFamily="34" charset="-122"/>
                <a:cs typeface="Calibri" pitchFamily="34" charset="-120"/>
              </a:rPr>
              <a:t>Nine deliverables, eight of them already closed. The highest throughput in the department.</a:t>
            </a:r>
            <a:endParaRPr lang="en-US" sz="1000" dirty="0"/>
          </a:p>
        </p:txBody>
      </p:sp>
      <p:sp>
        <p:nvSpPr>
          <p:cNvPr id="9" name="Shape 6"/>
          <p:cNvSpPr/>
          <p:nvPr/>
        </p:nvSpPr>
        <p:spPr>
          <a:xfrm>
            <a:off x="8110728" y="3035808"/>
            <a:ext cx="3514039" cy="1170432"/>
          </a:xfrm>
          <a:prstGeom prst="roundRect">
            <a:avLst>
              <a:gd name="adj" fmla="val 7813"/>
            </a:avLst>
          </a:prstGeom>
          <a:solidFill>
            <a:srgbClr val="F2F5F8"/>
          </a:solidFill>
          <a:ln w="12700">
            <a:solidFill>
              <a:srgbClr val="E1E0D9"/>
            </a:solidFill>
            <a:prstDash val="solid"/>
          </a:ln>
          <a:effectLst>
            <a:outerShdw sx="100000" sy="100000" kx="0" ky="0" algn="bl" rotWithShape="0" blurRad="101600" dist="50800" dir="5400000">
              <a:srgbClr val="FFFFFF">
                <a:alpha val="75000"/>
              </a:srgbClr>
            </a:outerShdw>
          </a:effectLst>
        </p:spPr>
      </p:sp>
      <p:sp>
        <p:nvSpPr>
          <p:cNvPr id="10" name="Text 7"/>
          <p:cNvSpPr txBox="1"/>
          <p:nvPr/>
        </p:nvSpPr>
        <p:spPr>
          <a:xfrm>
            <a:off x="8330184" y="3182112"/>
            <a:ext cx="3075127" cy="274320"/>
          </a:xfrm>
          <a:prstGeom prst="rect">
            <a:avLst/>
          </a:prstGeom>
          <a:noFill/>
          <a:ln/>
        </p:spPr>
        <p:txBody>
          <a:bodyPr wrap="square" lIns="0" tIns="0" rIns="0" bIns="0" rtlCol="0" anchor="ctr"/>
          <a:lstStyle/>
          <a:p>
            <a:pPr indent="0" marL="0">
              <a:buNone/>
            </a:pPr>
            <a:r>
              <a:rPr lang="en-US" sz="1150" b="1" dirty="0">
                <a:solidFill>
                  <a:srgbClr val="1B2A41"/>
                </a:solidFill>
                <a:latin typeface="Calibri" pitchFamily="34" charset="0"/>
                <a:ea typeface="Calibri" pitchFamily="34" charset="-122"/>
                <a:cs typeface="Calibri" pitchFamily="34" charset="-120"/>
              </a:rPr>
              <a:t>Obed has no closed deliverables</a:t>
            </a:r>
            <a:endParaRPr lang="en-US" sz="1150" dirty="0"/>
          </a:p>
        </p:txBody>
      </p:sp>
      <p:sp>
        <p:nvSpPr>
          <p:cNvPr id="11" name="Text 8"/>
          <p:cNvSpPr txBox="1"/>
          <p:nvPr/>
        </p:nvSpPr>
        <p:spPr>
          <a:xfrm>
            <a:off x="8330184" y="3474720"/>
            <a:ext cx="3075127" cy="603504"/>
          </a:xfrm>
          <a:prstGeom prst="rect">
            <a:avLst/>
          </a:prstGeom>
          <a:noFill/>
          <a:ln/>
        </p:spPr>
        <p:txBody>
          <a:bodyPr wrap="square" lIns="0" tIns="0" rIns="0" bIns="0" rtlCol="0" anchor="t"/>
          <a:lstStyle/>
          <a:p>
            <a:pPr indent="0" marL="0">
              <a:buNone/>
            </a:pPr>
            <a:r>
              <a:rPr lang="en-US" sz="1000" dirty="0">
                <a:solidFill>
                  <a:srgbClr val="52514E"/>
                </a:solidFill>
                <a:latin typeface="Calibri" pitchFamily="34" charset="0"/>
                <a:ea typeface="Calibri" pitchFamily="34" charset="-122"/>
                <a:cs typeface="Calibri" pitchFamily="34" charset="-120"/>
              </a:rPr>
              <a:t>All three of his items are shared and still open — Priority Insurance and Ecole. Worth checking whether he is blocked rather than behind.</a:t>
            </a:r>
            <a:endParaRPr lang="en-US" sz="1000" dirty="0"/>
          </a:p>
        </p:txBody>
      </p:sp>
      <p:sp>
        <p:nvSpPr>
          <p:cNvPr id="12" name="Shape 9"/>
          <p:cNvSpPr/>
          <p:nvPr/>
        </p:nvSpPr>
        <p:spPr>
          <a:xfrm>
            <a:off x="8110728" y="4370832"/>
            <a:ext cx="3514039" cy="1170432"/>
          </a:xfrm>
          <a:prstGeom prst="roundRect">
            <a:avLst>
              <a:gd name="adj" fmla="val 7813"/>
            </a:avLst>
          </a:prstGeom>
          <a:solidFill>
            <a:srgbClr val="F2F5F8"/>
          </a:solidFill>
          <a:ln w="12700">
            <a:solidFill>
              <a:srgbClr val="E1E0D9"/>
            </a:solidFill>
            <a:prstDash val="solid"/>
          </a:ln>
          <a:effectLst>
            <a:outerShdw sx="100000" sy="100000" kx="0" ky="0" algn="bl" rotWithShape="0" blurRad="101600" dist="50800" dir="5400000">
              <a:srgbClr val="FFFFFF">
                <a:alpha val="75000"/>
              </a:srgbClr>
            </a:outerShdw>
          </a:effectLst>
        </p:spPr>
      </p:sp>
      <p:sp>
        <p:nvSpPr>
          <p:cNvPr id="13" name="Text 10"/>
          <p:cNvSpPr txBox="1"/>
          <p:nvPr/>
        </p:nvSpPr>
        <p:spPr>
          <a:xfrm>
            <a:off x="8330184" y="4517136"/>
            <a:ext cx="3075127" cy="274320"/>
          </a:xfrm>
          <a:prstGeom prst="rect">
            <a:avLst/>
          </a:prstGeom>
          <a:noFill/>
          <a:ln/>
        </p:spPr>
        <p:txBody>
          <a:bodyPr wrap="square" lIns="0" tIns="0" rIns="0" bIns="0" rtlCol="0" anchor="ctr"/>
          <a:lstStyle/>
          <a:p>
            <a:pPr indent="0" marL="0">
              <a:buNone/>
            </a:pPr>
            <a:r>
              <a:rPr lang="en-US" sz="1150" b="1" dirty="0">
                <a:solidFill>
                  <a:srgbClr val="1B2A41"/>
                </a:solidFill>
                <a:latin typeface="Calibri" pitchFamily="34" charset="0"/>
                <a:ea typeface="Calibri" pitchFamily="34" charset="-122"/>
                <a:cs typeface="Calibri" pitchFamily="34" charset="-120"/>
              </a:rPr>
              <a:t>Two items have no named owner</a:t>
            </a:r>
            <a:endParaRPr lang="en-US" sz="1150" dirty="0"/>
          </a:p>
        </p:txBody>
      </p:sp>
      <p:sp>
        <p:nvSpPr>
          <p:cNvPr id="14" name="Text 11"/>
          <p:cNvSpPr txBox="1"/>
          <p:nvPr/>
        </p:nvSpPr>
        <p:spPr>
          <a:xfrm>
            <a:off x="8330184" y="4809744"/>
            <a:ext cx="3075127" cy="603504"/>
          </a:xfrm>
          <a:prstGeom prst="rect">
            <a:avLst/>
          </a:prstGeom>
          <a:noFill/>
          <a:ln/>
        </p:spPr>
        <p:txBody>
          <a:bodyPr wrap="square" lIns="0" tIns="0" rIns="0" bIns="0" rtlCol="0" anchor="t"/>
          <a:lstStyle/>
          <a:p>
            <a:pPr indent="0" marL="0">
              <a:buNone/>
            </a:pPr>
            <a:r>
              <a:rPr lang="en-US" sz="1000" dirty="0">
                <a:solidFill>
                  <a:srgbClr val="52514E"/>
                </a:solidFill>
                <a:latin typeface="Calibri" pitchFamily="34" charset="0"/>
                <a:ea typeface="Calibri" pitchFamily="34" charset="-122"/>
                <a:cs typeface="Calibri" pitchFamily="34" charset="-120"/>
              </a:rPr>
              <a:t>Both Kinbu and Stanbic are logged against "Team". These are the two tenders closing on 24 September.</a:t>
            </a:r>
            <a:endParaRPr lang="en-US" sz="1000" dirty="0"/>
          </a:p>
        </p:txBody>
      </p:sp>
      <p:sp>
        <p:nvSpPr>
          <p:cNvPr id="15" name="Text 12"/>
          <p:cNvSpPr txBox="1"/>
          <p:nvPr/>
        </p:nvSpPr>
        <p:spPr>
          <a:xfrm>
            <a:off x="566928" y="5769864"/>
            <a:ext cx="11057839" cy="310896"/>
          </a:xfrm>
          <a:prstGeom prst="rect">
            <a:avLst/>
          </a:prstGeom>
          <a:noFill/>
          <a:ln/>
        </p:spPr>
        <p:txBody>
          <a:bodyPr wrap="square" lIns="0" tIns="0" rIns="0" bIns="0" rtlCol="0" anchor="t"/>
          <a:lstStyle/>
          <a:p>
            <a:pPr indent="0" marL="0">
              <a:buNone/>
            </a:pPr>
            <a:r>
              <a:rPr lang="en-US" sz="950" dirty="0">
                <a:solidFill>
                  <a:srgbClr val="898781"/>
                </a:solidFill>
                <a:latin typeface="Calibri" pitchFamily="34" charset="0"/>
                <a:ea typeface="Calibri" pitchFamily="34" charset="-122"/>
                <a:cs typeface="Calibri" pitchFamily="34" charset="-120"/>
              </a:rPr>
              <a:t>Shared deliverables count once for each named owner, so the totals here (28) exceed the 22 items on the register. "Team" means no individual was named.</a:t>
            </a:r>
            <a:endParaRPr lang="en-US" sz="950" dirty="0"/>
          </a:p>
        </p:txBody>
      </p:sp>
      <p:sp>
        <p:nvSpPr>
          <p:cNvPr id="16" name="Text 13"/>
          <p:cNvSpPr txBox="1"/>
          <p:nvPr/>
        </p:nvSpPr>
        <p:spPr>
          <a:xfrm>
            <a:off x="566928" y="6355080"/>
            <a:ext cx="8961120" cy="274320"/>
          </a:xfrm>
          <a:prstGeom prst="rect">
            <a:avLst/>
          </a:prstGeom>
          <a:noFill/>
          <a:ln/>
        </p:spPr>
        <p:txBody>
          <a:bodyPr wrap="square" lIns="0" tIns="0" rIns="0" bIns="0" rtlCol="0" anchor="ctr"/>
          <a:lstStyle/>
          <a:p>
            <a:pPr indent="0" marL="0">
              <a:buNone/>
            </a:pPr>
            <a:r>
              <a:rPr lang="en-US" sz="900" dirty="0">
                <a:solidFill>
                  <a:srgbClr val="898781"/>
                </a:solidFill>
                <a:latin typeface="Calibri" pitchFamily="34" charset="0"/>
                <a:ea typeface="Calibri" pitchFamily="34" charset="-122"/>
                <a:cs typeface="Calibri" pitchFamily="34" charset="-120"/>
              </a:rPr>
              <a:t>Commercial Department   ·   Outstanding Projects &amp; Deliverables   ·   18 September 2026</a:t>
            </a:r>
            <a:endParaRPr lang="en-US" sz="900" dirty="0"/>
          </a:p>
        </p:txBody>
      </p:sp>
      <p:sp>
        <p:nvSpPr>
          <p:cNvPr id="17" name="Text 14"/>
          <p:cNvSpPr txBox="1"/>
          <p:nvPr/>
        </p:nvSpPr>
        <p:spPr>
          <a:xfrm>
            <a:off x="10984687" y="6355080"/>
            <a:ext cx="640080" cy="274320"/>
          </a:xfrm>
          <a:prstGeom prst="rect">
            <a:avLst/>
          </a:prstGeom>
          <a:noFill/>
          <a:ln/>
        </p:spPr>
        <p:txBody>
          <a:bodyPr wrap="square" lIns="0" tIns="0" rIns="0" bIns="0"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2A41"/>
        </a:solidFill>
      </p:bgPr>
    </p:bg>
    <p:spTree>
      <p:nvGrpSpPr>
        <p:cNvPr id="1" name=""/>
        <p:cNvGrpSpPr/>
        <p:nvPr/>
      </p:nvGrpSpPr>
      <p:grpSpPr>
        <a:xfrm>
          <a:off x="0" y="0"/>
          <a:ext cx="0" cy="0"/>
          <a:chOff x="0" y="0"/>
          <a:chExt cx="0" cy="0"/>
        </a:xfrm>
      </p:grpSpPr>
      <p:sp>
        <p:nvSpPr>
          <p:cNvPr id="2" name="Shape 0"/>
          <p:cNvSpPr/>
          <p:nvPr/>
        </p:nvSpPr>
        <p:spPr>
          <a:xfrm>
            <a:off x="10607040" y="-1874520"/>
            <a:ext cx="3291840" cy="3291840"/>
          </a:xfrm>
          <a:prstGeom prst="ellipse">
            <a:avLst/>
          </a:prstGeom>
          <a:solidFill>
            <a:srgbClr val="FFFFFF">
              <a:alpha val="4000"/>
            </a:srgbClr>
          </a:solidFill>
          <a:ln/>
        </p:spPr>
      </p:sp>
      <p:sp>
        <p:nvSpPr>
          <p:cNvPr id="3" name="Shape 1"/>
          <p:cNvSpPr/>
          <p:nvPr/>
        </p:nvSpPr>
        <p:spPr>
          <a:xfrm>
            <a:off x="-1554480" y="5623560"/>
            <a:ext cx="2743200" cy="2743200"/>
          </a:xfrm>
          <a:prstGeom prst="ellipse">
            <a:avLst/>
          </a:prstGeom>
          <a:solidFill>
            <a:srgbClr val="E08A3C">
              <a:alpha val="8000"/>
            </a:srgbClr>
          </a:solidFill>
          <a:ln/>
        </p:spPr>
      </p:sp>
      <p:sp>
        <p:nvSpPr>
          <p:cNvPr id="4" name="Text 2"/>
          <p:cNvSpPr txBox="1"/>
          <p:nvPr/>
        </p:nvSpPr>
        <p:spPr>
          <a:xfrm>
            <a:off x="566928" y="566928"/>
            <a:ext cx="11057839" cy="237744"/>
          </a:xfrm>
          <a:prstGeom prst="rect">
            <a:avLst/>
          </a:prstGeom>
          <a:noFill/>
          <a:ln/>
        </p:spPr>
        <p:txBody>
          <a:bodyPr wrap="square" lIns="0" tIns="0" rIns="0" bIns="0" rtlCol="0" anchor="ctr"/>
          <a:lstStyle/>
          <a:p>
            <a:pPr indent="0" marL="0">
              <a:buNone/>
            </a:pPr>
            <a:r>
              <a:rPr lang="en-US" sz="1050" b="1" spc="160" kern="0" dirty="0">
                <a:solidFill>
                  <a:srgbClr val="E08A3C"/>
                </a:solidFill>
                <a:latin typeface="Calibri" pitchFamily="34" charset="0"/>
                <a:ea typeface="Calibri" pitchFamily="34" charset="-122"/>
                <a:cs typeface="Calibri" pitchFamily="34" charset="-120"/>
              </a:rPr>
              <a:t>NEXT STEPS</a:t>
            </a:r>
            <a:endParaRPr lang="en-US" sz="1050" dirty="0"/>
          </a:p>
        </p:txBody>
      </p:sp>
      <p:sp>
        <p:nvSpPr>
          <p:cNvPr id="5" name="Text 3"/>
          <p:cNvSpPr txBox="1"/>
          <p:nvPr/>
        </p:nvSpPr>
        <p:spPr>
          <a:xfrm>
            <a:off x="566928" y="822960"/>
            <a:ext cx="11057839" cy="566928"/>
          </a:xfrm>
          <a:prstGeom prst="rect">
            <a:avLst/>
          </a:prstGeom>
          <a:noFill/>
          <a:ln/>
        </p:spPr>
        <p:txBody>
          <a:bodyPr wrap="square" lIns="0" tIns="0" rIns="0" bIns="0" rtlCol="0" anchor="ctr"/>
          <a:lstStyle/>
          <a:p>
            <a:pPr indent="0" marL="0">
              <a:buNone/>
            </a:pPr>
            <a:r>
              <a:rPr lang="en-US" sz="3300" b="1" dirty="0">
                <a:solidFill>
                  <a:srgbClr val="FFFFFF"/>
                </a:solidFill>
                <a:latin typeface="Cambria" pitchFamily="34" charset="0"/>
                <a:ea typeface="Cambria" pitchFamily="34" charset="-122"/>
                <a:cs typeface="Cambria" pitchFamily="34" charset="-120"/>
              </a:rPr>
              <a:t>Closing the Nine-Point Gap</a:t>
            </a:r>
            <a:endParaRPr lang="en-US" sz="3300" dirty="0"/>
          </a:p>
        </p:txBody>
      </p:sp>
      <p:sp>
        <p:nvSpPr>
          <p:cNvPr id="6" name="Shape 4"/>
          <p:cNvSpPr/>
          <p:nvPr/>
        </p:nvSpPr>
        <p:spPr>
          <a:xfrm>
            <a:off x="566928" y="1664208"/>
            <a:ext cx="11057839" cy="859536"/>
          </a:xfrm>
          <a:prstGeom prst="roundRect">
            <a:avLst>
              <a:gd name="adj" fmla="val 10638"/>
            </a:avLst>
          </a:prstGeom>
          <a:solidFill>
            <a:srgbClr val="FFFFFF">
              <a:alpha val="9000"/>
            </a:srgbClr>
          </a:solidFill>
          <a:ln w="9525">
            <a:solidFill>
              <a:srgbClr val="FFFFFF">
                <a:alpha val="24000"/>
              </a:srgbClr>
            </a:solidFill>
            <a:prstDash val="solid"/>
          </a:ln>
        </p:spPr>
      </p:sp>
      <p:sp>
        <p:nvSpPr>
          <p:cNvPr id="7" name="Text 5"/>
          <p:cNvSpPr txBox="1"/>
          <p:nvPr/>
        </p:nvSpPr>
        <p:spPr>
          <a:xfrm>
            <a:off x="804672" y="1865376"/>
            <a:ext cx="457200" cy="457200"/>
          </a:xfrm>
          <a:prstGeom prst="rect">
            <a:avLst/>
          </a:prstGeom>
          <a:noFill/>
          <a:ln/>
        </p:spPr>
        <p:txBody>
          <a:bodyPr wrap="square" lIns="0" tIns="0" rIns="0" bIns="0" rtlCol="0" anchor="ctr"/>
          <a:lstStyle/>
          <a:p>
            <a:pPr algn="ctr" indent="0" marL="0">
              <a:buNone/>
            </a:pPr>
            <a:r>
              <a:rPr lang="en-US" sz="2200" b="1" dirty="0">
                <a:solidFill>
                  <a:srgbClr val="E08A3C"/>
                </a:solidFill>
                <a:latin typeface="Cambria" pitchFamily="34" charset="0"/>
                <a:ea typeface="Cambria" pitchFamily="34" charset="-122"/>
                <a:cs typeface="Cambria" pitchFamily="34" charset="-120"/>
              </a:rPr>
              <a:t>1</a:t>
            </a:r>
            <a:endParaRPr lang="en-US" sz="2200" dirty="0"/>
          </a:p>
        </p:txBody>
      </p:sp>
      <p:sp>
        <p:nvSpPr>
          <p:cNvPr id="8" name="Text 6"/>
          <p:cNvSpPr txBox="1"/>
          <p:nvPr/>
        </p:nvSpPr>
        <p:spPr>
          <a:xfrm>
            <a:off x="1408176" y="1810512"/>
            <a:ext cx="557784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Name a lead for each open tender</a:t>
            </a:r>
            <a:endParaRPr lang="en-US" sz="1350" dirty="0"/>
          </a:p>
        </p:txBody>
      </p:sp>
      <p:sp>
        <p:nvSpPr>
          <p:cNvPr id="9" name="Text 7"/>
          <p:cNvSpPr txBox="1"/>
          <p:nvPr/>
        </p:nvSpPr>
        <p:spPr>
          <a:xfrm>
            <a:off x="1408176" y="2103120"/>
            <a:ext cx="5577840" cy="256032"/>
          </a:xfrm>
          <a:prstGeom prst="rect">
            <a:avLst/>
          </a:prstGeom>
          <a:noFill/>
          <a:ln/>
        </p:spPr>
        <p:txBody>
          <a:bodyPr wrap="square" lIns="0" tIns="0" rIns="0" bIns="0" rtlCol="0" anchor="ctr"/>
          <a:lstStyle/>
          <a:p>
            <a:pPr indent="0" marL="0">
              <a:buNone/>
            </a:pPr>
            <a:r>
              <a:rPr lang="en-US" sz="1000" dirty="0">
                <a:solidFill>
                  <a:srgbClr val="AFC1D6"/>
                </a:solidFill>
                <a:latin typeface="Calibri" pitchFamily="34" charset="0"/>
                <a:ea typeface="Calibri" pitchFamily="34" charset="-122"/>
                <a:cs typeface="Calibri" pitchFamily="34" charset="-120"/>
              </a:rPr>
              <a:t>Kinbu priced BoQ and Stanbic preliminary estimate</a:t>
            </a:r>
            <a:endParaRPr lang="en-US" sz="1000" dirty="0"/>
          </a:p>
        </p:txBody>
      </p:sp>
      <p:sp>
        <p:nvSpPr>
          <p:cNvPr id="10" name="Text 8"/>
          <p:cNvSpPr txBox="1"/>
          <p:nvPr/>
        </p:nvSpPr>
        <p:spPr>
          <a:xfrm>
            <a:off x="7287768" y="1847088"/>
            <a:ext cx="2194560" cy="182880"/>
          </a:xfrm>
          <a:prstGeom prst="rect">
            <a:avLst/>
          </a:prstGeom>
          <a:noFill/>
          <a:ln/>
        </p:spPr>
        <p:txBody>
          <a:bodyPr wrap="square" lIns="0" tIns="0" rIns="0" bIns="0" rtlCol="0" anchor="ctr"/>
          <a:lstStyle/>
          <a:p>
            <a:pPr indent="0" marL="0">
              <a:buNone/>
            </a:pPr>
            <a:r>
              <a:rPr lang="en-US" sz="800" b="1" spc="110" kern="0" dirty="0">
                <a:solidFill>
                  <a:srgbClr val="E08A3C"/>
                </a:solidFill>
                <a:latin typeface="Calibri" pitchFamily="34" charset="0"/>
                <a:ea typeface="Calibri" pitchFamily="34" charset="-122"/>
                <a:cs typeface="Calibri" pitchFamily="34" charset="-120"/>
              </a:rPr>
              <a:t>OWNER</a:t>
            </a:r>
            <a:endParaRPr lang="en-US" sz="800" dirty="0"/>
          </a:p>
        </p:txBody>
      </p:sp>
      <p:sp>
        <p:nvSpPr>
          <p:cNvPr id="11" name="Text 9"/>
          <p:cNvSpPr txBox="1"/>
          <p:nvPr/>
        </p:nvSpPr>
        <p:spPr>
          <a:xfrm>
            <a:off x="7287768" y="2048256"/>
            <a:ext cx="2194560" cy="2743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Commercial Manager</a:t>
            </a:r>
            <a:endParaRPr lang="en-US" sz="1100" dirty="0"/>
          </a:p>
        </p:txBody>
      </p:sp>
      <p:sp>
        <p:nvSpPr>
          <p:cNvPr id="12" name="Text 10"/>
          <p:cNvSpPr txBox="1"/>
          <p:nvPr/>
        </p:nvSpPr>
        <p:spPr>
          <a:xfrm>
            <a:off x="9756648" y="1847088"/>
            <a:ext cx="1645920" cy="182880"/>
          </a:xfrm>
          <a:prstGeom prst="rect">
            <a:avLst/>
          </a:prstGeom>
          <a:noFill/>
          <a:ln/>
        </p:spPr>
        <p:txBody>
          <a:bodyPr wrap="square" lIns="0" tIns="0" rIns="0" bIns="0" rtlCol="0" anchor="ctr"/>
          <a:lstStyle/>
          <a:p>
            <a:pPr indent="0" marL="0">
              <a:buNone/>
            </a:pPr>
            <a:r>
              <a:rPr lang="en-US" sz="800" b="1" spc="110" kern="0" dirty="0">
                <a:solidFill>
                  <a:srgbClr val="E08A3C"/>
                </a:solidFill>
                <a:latin typeface="Calibri" pitchFamily="34" charset="0"/>
                <a:ea typeface="Calibri" pitchFamily="34" charset="-122"/>
                <a:cs typeface="Calibri" pitchFamily="34" charset="-120"/>
              </a:rPr>
              <a:t>BY</a:t>
            </a:r>
            <a:endParaRPr lang="en-US" sz="800" dirty="0"/>
          </a:p>
        </p:txBody>
      </p:sp>
      <p:sp>
        <p:nvSpPr>
          <p:cNvPr id="13" name="Text 11"/>
          <p:cNvSpPr txBox="1"/>
          <p:nvPr/>
        </p:nvSpPr>
        <p:spPr>
          <a:xfrm>
            <a:off x="9756648" y="2048256"/>
            <a:ext cx="164592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Today</a:t>
            </a:r>
            <a:endParaRPr lang="en-US" sz="1200" dirty="0"/>
          </a:p>
        </p:txBody>
      </p:sp>
      <p:sp>
        <p:nvSpPr>
          <p:cNvPr id="14" name="Shape 12"/>
          <p:cNvSpPr/>
          <p:nvPr/>
        </p:nvSpPr>
        <p:spPr>
          <a:xfrm>
            <a:off x="566928" y="2679192"/>
            <a:ext cx="11057839" cy="859536"/>
          </a:xfrm>
          <a:prstGeom prst="roundRect">
            <a:avLst>
              <a:gd name="adj" fmla="val 10638"/>
            </a:avLst>
          </a:prstGeom>
          <a:solidFill>
            <a:srgbClr val="FFFFFF">
              <a:alpha val="9000"/>
            </a:srgbClr>
          </a:solidFill>
          <a:ln w="9525">
            <a:solidFill>
              <a:srgbClr val="FFFFFF">
                <a:alpha val="24000"/>
              </a:srgbClr>
            </a:solidFill>
            <a:prstDash val="solid"/>
          </a:ln>
        </p:spPr>
      </p:sp>
      <p:sp>
        <p:nvSpPr>
          <p:cNvPr id="15" name="Text 13"/>
          <p:cNvSpPr txBox="1"/>
          <p:nvPr/>
        </p:nvSpPr>
        <p:spPr>
          <a:xfrm>
            <a:off x="804672" y="2880360"/>
            <a:ext cx="457200" cy="457200"/>
          </a:xfrm>
          <a:prstGeom prst="rect">
            <a:avLst/>
          </a:prstGeom>
          <a:noFill/>
          <a:ln/>
        </p:spPr>
        <p:txBody>
          <a:bodyPr wrap="square" lIns="0" tIns="0" rIns="0" bIns="0" rtlCol="0" anchor="ctr"/>
          <a:lstStyle/>
          <a:p>
            <a:pPr algn="ctr" indent="0" marL="0">
              <a:buNone/>
            </a:pPr>
            <a:r>
              <a:rPr lang="en-US" sz="2200" b="1" dirty="0">
                <a:solidFill>
                  <a:srgbClr val="E08A3C"/>
                </a:solidFill>
                <a:latin typeface="Cambria" pitchFamily="34" charset="0"/>
                <a:ea typeface="Cambria" pitchFamily="34" charset="-122"/>
                <a:cs typeface="Cambria" pitchFamily="34" charset="-120"/>
              </a:rPr>
              <a:t>2</a:t>
            </a:r>
            <a:endParaRPr lang="en-US" sz="2200" dirty="0"/>
          </a:p>
        </p:txBody>
      </p:sp>
      <p:sp>
        <p:nvSpPr>
          <p:cNvPr id="16" name="Text 14"/>
          <p:cNvSpPr txBox="1"/>
          <p:nvPr/>
        </p:nvSpPr>
        <p:spPr>
          <a:xfrm>
            <a:off x="1408176" y="2825496"/>
            <a:ext cx="557784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Close out the Ecole BoQ and budget</a:t>
            </a:r>
            <a:endParaRPr lang="en-US" sz="1350" dirty="0"/>
          </a:p>
        </p:txBody>
      </p:sp>
      <p:sp>
        <p:nvSpPr>
          <p:cNvPr id="17" name="Text 15"/>
          <p:cNvSpPr txBox="1"/>
          <p:nvPr/>
        </p:nvSpPr>
        <p:spPr>
          <a:xfrm>
            <a:off x="1408176" y="3118104"/>
            <a:ext cx="5577840" cy="256032"/>
          </a:xfrm>
          <a:prstGeom prst="rect">
            <a:avLst/>
          </a:prstGeom>
          <a:noFill/>
          <a:ln/>
        </p:spPr>
        <p:txBody>
          <a:bodyPr wrap="square" lIns="0" tIns="0" rIns="0" bIns="0" rtlCol="0" anchor="ctr"/>
          <a:lstStyle/>
          <a:p>
            <a:pPr indent="0" marL="0">
              <a:buNone/>
            </a:pPr>
            <a:r>
              <a:rPr lang="en-US" sz="1000" dirty="0">
                <a:solidFill>
                  <a:srgbClr val="AFC1D6"/>
                </a:solidFill>
                <a:latin typeface="Calibri" pitchFamily="34" charset="0"/>
                <a:ea typeface="Calibri" pitchFamily="34" charset="-122"/>
                <a:cs typeface="Calibri" pitchFamily="34" charset="-120"/>
              </a:rPr>
              <a:t>Now at 50% and past its due date</a:t>
            </a:r>
            <a:endParaRPr lang="en-US" sz="1000" dirty="0"/>
          </a:p>
        </p:txBody>
      </p:sp>
      <p:sp>
        <p:nvSpPr>
          <p:cNvPr id="18" name="Text 16"/>
          <p:cNvSpPr txBox="1"/>
          <p:nvPr/>
        </p:nvSpPr>
        <p:spPr>
          <a:xfrm>
            <a:off x="7287768" y="2862072"/>
            <a:ext cx="2194560" cy="182880"/>
          </a:xfrm>
          <a:prstGeom prst="rect">
            <a:avLst/>
          </a:prstGeom>
          <a:noFill/>
          <a:ln/>
        </p:spPr>
        <p:txBody>
          <a:bodyPr wrap="square" lIns="0" tIns="0" rIns="0" bIns="0" rtlCol="0" anchor="ctr"/>
          <a:lstStyle/>
          <a:p>
            <a:pPr indent="0" marL="0">
              <a:buNone/>
            </a:pPr>
            <a:r>
              <a:rPr lang="en-US" sz="800" b="1" spc="110" kern="0" dirty="0">
                <a:solidFill>
                  <a:srgbClr val="E08A3C"/>
                </a:solidFill>
                <a:latin typeface="Calibri" pitchFamily="34" charset="0"/>
                <a:ea typeface="Calibri" pitchFamily="34" charset="-122"/>
                <a:cs typeface="Calibri" pitchFamily="34" charset="-120"/>
              </a:rPr>
              <a:t>OWNER</a:t>
            </a:r>
            <a:endParaRPr lang="en-US" sz="800" dirty="0"/>
          </a:p>
        </p:txBody>
      </p:sp>
      <p:sp>
        <p:nvSpPr>
          <p:cNvPr id="19" name="Text 17"/>
          <p:cNvSpPr txBox="1"/>
          <p:nvPr/>
        </p:nvSpPr>
        <p:spPr>
          <a:xfrm>
            <a:off x="7287768" y="3063240"/>
            <a:ext cx="2194560" cy="2743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Tracy, Obed, Eunice</a:t>
            </a:r>
            <a:endParaRPr lang="en-US" sz="1100" dirty="0"/>
          </a:p>
        </p:txBody>
      </p:sp>
      <p:sp>
        <p:nvSpPr>
          <p:cNvPr id="20" name="Text 18"/>
          <p:cNvSpPr txBox="1"/>
          <p:nvPr/>
        </p:nvSpPr>
        <p:spPr>
          <a:xfrm>
            <a:off x="9756648" y="2862072"/>
            <a:ext cx="1645920" cy="182880"/>
          </a:xfrm>
          <a:prstGeom prst="rect">
            <a:avLst/>
          </a:prstGeom>
          <a:noFill/>
          <a:ln/>
        </p:spPr>
        <p:txBody>
          <a:bodyPr wrap="square" lIns="0" tIns="0" rIns="0" bIns="0" rtlCol="0" anchor="ctr"/>
          <a:lstStyle/>
          <a:p>
            <a:pPr indent="0" marL="0">
              <a:buNone/>
            </a:pPr>
            <a:r>
              <a:rPr lang="en-US" sz="800" b="1" spc="110" kern="0" dirty="0">
                <a:solidFill>
                  <a:srgbClr val="E08A3C"/>
                </a:solidFill>
                <a:latin typeface="Calibri" pitchFamily="34" charset="0"/>
                <a:ea typeface="Calibri" pitchFamily="34" charset="-122"/>
                <a:cs typeface="Calibri" pitchFamily="34" charset="-120"/>
              </a:rPr>
              <a:t>BY</a:t>
            </a:r>
            <a:endParaRPr lang="en-US" sz="800" dirty="0"/>
          </a:p>
        </p:txBody>
      </p:sp>
      <p:sp>
        <p:nvSpPr>
          <p:cNvPr id="21" name="Text 19"/>
          <p:cNvSpPr txBox="1"/>
          <p:nvPr/>
        </p:nvSpPr>
        <p:spPr>
          <a:xfrm>
            <a:off x="9756648" y="3063240"/>
            <a:ext cx="164592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22 Sep</a:t>
            </a:r>
            <a:endParaRPr lang="en-US" sz="1200" dirty="0"/>
          </a:p>
        </p:txBody>
      </p:sp>
      <p:sp>
        <p:nvSpPr>
          <p:cNvPr id="22" name="Shape 20"/>
          <p:cNvSpPr/>
          <p:nvPr/>
        </p:nvSpPr>
        <p:spPr>
          <a:xfrm>
            <a:off x="566928" y="3694176"/>
            <a:ext cx="11057839" cy="859536"/>
          </a:xfrm>
          <a:prstGeom prst="roundRect">
            <a:avLst>
              <a:gd name="adj" fmla="val 10638"/>
            </a:avLst>
          </a:prstGeom>
          <a:solidFill>
            <a:srgbClr val="FFFFFF">
              <a:alpha val="9000"/>
            </a:srgbClr>
          </a:solidFill>
          <a:ln w="9525">
            <a:solidFill>
              <a:srgbClr val="FFFFFF">
                <a:alpha val="24000"/>
              </a:srgbClr>
            </a:solidFill>
            <a:prstDash val="solid"/>
          </a:ln>
        </p:spPr>
      </p:sp>
      <p:sp>
        <p:nvSpPr>
          <p:cNvPr id="23" name="Text 21"/>
          <p:cNvSpPr txBox="1"/>
          <p:nvPr/>
        </p:nvSpPr>
        <p:spPr>
          <a:xfrm>
            <a:off x="804672" y="3895344"/>
            <a:ext cx="457200" cy="457200"/>
          </a:xfrm>
          <a:prstGeom prst="rect">
            <a:avLst/>
          </a:prstGeom>
          <a:noFill/>
          <a:ln/>
        </p:spPr>
        <p:txBody>
          <a:bodyPr wrap="square" lIns="0" tIns="0" rIns="0" bIns="0" rtlCol="0" anchor="ctr"/>
          <a:lstStyle/>
          <a:p>
            <a:pPr algn="ctr" indent="0" marL="0">
              <a:buNone/>
            </a:pPr>
            <a:r>
              <a:rPr lang="en-US" sz="2200" b="1" dirty="0">
                <a:solidFill>
                  <a:srgbClr val="E08A3C"/>
                </a:solidFill>
                <a:latin typeface="Cambria" pitchFamily="34" charset="0"/>
                <a:ea typeface="Cambria" pitchFamily="34" charset="-122"/>
                <a:cs typeface="Cambria" pitchFamily="34" charset="-120"/>
              </a:rPr>
              <a:t>3</a:t>
            </a:r>
            <a:endParaRPr lang="en-US" sz="2200" dirty="0"/>
          </a:p>
        </p:txBody>
      </p:sp>
      <p:sp>
        <p:nvSpPr>
          <p:cNvPr id="24" name="Text 22"/>
          <p:cNvSpPr txBox="1"/>
          <p:nvPr/>
        </p:nvSpPr>
        <p:spPr>
          <a:xfrm>
            <a:off x="1408176" y="3840480"/>
            <a:ext cx="557784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Obtain the Priority Insurance drawings</a:t>
            </a:r>
            <a:endParaRPr lang="en-US" sz="1350" dirty="0"/>
          </a:p>
        </p:txBody>
      </p:sp>
      <p:sp>
        <p:nvSpPr>
          <p:cNvPr id="25" name="Text 23"/>
          <p:cNvSpPr txBox="1"/>
          <p:nvPr/>
        </p:nvSpPr>
        <p:spPr>
          <a:xfrm>
            <a:off x="1408176" y="4133088"/>
            <a:ext cx="5577840" cy="256032"/>
          </a:xfrm>
          <a:prstGeom prst="rect">
            <a:avLst/>
          </a:prstGeom>
          <a:noFill/>
          <a:ln/>
        </p:spPr>
        <p:txBody>
          <a:bodyPr wrap="square" lIns="0" tIns="0" rIns="0" bIns="0" rtlCol="0" anchor="ctr"/>
          <a:lstStyle/>
          <a:p>
            <a:pPr indent="0" marL="0">
              <a:buNone/>
            </a:pPr>
            <a:r>
              <a:rPr lang="en-US" sz="1000" dirty="0">
                <a:solidFill>
                  <a:srgbClr val="AFC1D6"/>
                </a:solidFill>
                <a:latin typeface="Calibri" pitchFamily="34" charset="0"/>
                <a:ea typeface="Calibri" pitchFamily="34" charset="-122"/>
                <a:cs typeface="Calibri" pitchFamily="34" charset="-120"/>
              </a:rPr>
              <a:t>Floor finishes schedule and structural drawings</a:t>
            </a:r>
            <a:endParaRPr lang="en-US" sz="1000" dirty="0"/>
          </a:p>
        </p:txBody>
      </p:sp>
      <p:sp>
        <p:nvSpPr>
          <p:cNvPr id="26" name="Text 24"/>
          <p:cNvSpPr txBox="1"/>
          <p:nvPr/>
        </p:nvSpPr>
        <p:spPr>
          <a:xfrm>
            <a:off x="7287768" y="3877056"/>
            <a:ext cx="2194560" cy="182880"/>
          </a:xfrm>
          <a:prstGeom prst="rect">
            <a:avLst/>
          </a:prstGeom>
          <a:noFill/>
          <a:ln/>
        </p:spPr>
        <p:txBody>
          <a:bodyPr wrap="square" lIns="0" tIns="0" rIns="0" bIns="0" rtlCol="0" anchor="ctr"/>
          <a:lstStyle/>
          <a:p>
            <a:pPr indent="0" marL="0">
              <a:buNone/>
            </a:pPr>
            <a:r>
              <a:rPr lang="en-US" sz="800" b="1" spc="110" kern="0" dirty="0">
                <a:solidFill>
                  <a:srgbClr val="E08A3C"/>
                </a:solidFill>
                <a:latin typeface="Calibri" pitchFamily="34" charset="0"/>
                <a:ea typeface="Calibri" pitchFamily="34" charset="-122"/>
                <a:cs typeface="Calibri" pitchFamily="34" charset="-120"/>
              </a:rPr>
              <a:t>OWNER</a:t>
            </a:r>
            <a:endParaRPr lang="en-US" sz="800" dirty="0"/>
          </a:p>
        </p:txBody>
      </p:sp>
      <p:sp>
        <p:nvSpPr>
          <p:cNvPr id="27" name="Text 25"/>
          <p:cNvSpPr txBox="1"/>
          <p:nvPr/>
        </p:nvSpPr>
        <p:spPr>
          <a:xfrm>
            <a:off x="7287768" y="4078224"/>
            <a:ext cx="2194560" cy="2743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Design team / client</a:t>
            </a:r>
            <a:endParaRPr lang="en-US" sz="1100" dirty="0"/>
          </a:p>
        </p:txBody>
      </p:sp>
      <p:sp>
        <p:nvSpPr>
          <p:cNvPr id="28" name="Text 26"/>
          <p:cNvSpPr txBox="1"/>
          <p:nvPr/>
        </p:nvSpPr>
        <p:spPr>
          <a:xfrm>
            <a:off x="9756648" y="3877056"/>
            <a:ext cx="1645920" cy="182880"/>
          </a:xfrm>
          <a:prstGeom prst="rect">
            <a:avLst/>
          </a:prstGeom>
          <a:noFill/>
          <a:ln/>
        </p:spPr>
        <p:txBody>
          <a:bodyPr wrap="square" lIns="0" tIns="0" rIns="0" bIns="0" rtlCol="0" anchor="ctr"/>
          <a:lstStyle/>
          <a:p>
            <a:pPr indent="0" marL="0">
              <a:buNone/>
            </a:pPr>
            <a:r>
              <a:rPr lang="en-US" sz="800" b="1" spc="110" kern="0" dirty="0">
                <a:solidFill>
                  <a:srgbClr val="E08A3C"/>
                </a:solidFill>
                <a:latin typeface="Calibri" pitchFamily="34" charset="0"/>
                <a:ea typeface="Calibri" pitchFamily="34" charset="-122"/>
                <a:cs typeface="Calibri" pitchFamily="34" charset="-120"/>
              </a:rPr>
              <a:t>BY</a:t>
            </a:r>
            <a:endParaRPr lang="en-US" sz="800" dirty="0"/>
          </a:p>
        </p:txBody>
      </p:sp>
      <p:sp>
        <p:nvSpPr>
          <p:cNvPr id="29" name="Text 27"/>
          <p:cNvSpPr txBox="1"/>
          <p:nvPr/>
        </p:nvSpPr>
        <p:spPr>
          <a:xfrm>
            <a:off x="9756648" y="4078224"/>
            <a:ext cx="164592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23 Sep</a:t>
            </a:r>
            <a:endParaRPr lang="en-US" sz="1200" dirty="0"/>
          </a:p>
        </p:txBody>
      </p:sp>
      <p:sp>
        <p:nvSpPr>
          <p:cNvPr id="30" name="Shape 28"/>
          <p:cNvSpPr/>
          <p:nvPr/>
        </p:nvSpPr>
        <p:spPr>
          <a:xfrm>
            <a:off x="566928" y="4709160"/>
            <a:ext cx="11057839" cy="859536"/>
          </a:xfrm>
          <a:prstGeom prst="roundRect">
            <a:avLst>
              <a:gd name="adj" fmla="val 10638"/>
            </a:avLst>
          </a:prstGeom>
          <a:solidFill>
            <a:srgbClr val="FFFFFF">
              <a:alpha val="9000"/>
            </a:srgbClr>
          </a:solidFill>
          <a:ln w="9525">
            <a:solidFill>
              <a:srgbClr val="FFFFFF">
                <a:alpha val="24000"/>
              </a:srgbClr>
            </a:solidFill>
            <a:prstDash val="solid"/>
          </a:ln>
        </p:spPr>
      </p:sp>
      <p:sp>
        <p:nvSpPr>
          <p:cNvPr id="31" name="Text 29"/>
          <p:cNvSpPr txBox="1"/>
          <p:nvPr/>
        </p:nvSpPr>
        <p:spPr>
          <a:xfrm>
            <a:off x="804672" y="4910328"/>
            <a:ext cx="457200" cy="457200"/>
          </a:xfrm>
          <a:prstGeom prst="rect">
            <a:avLst/>
          </a:prstGeom>
          <a:noFill/>
          <a:ln/>
        </p:spPr>
        <p:txBody>
          <a:bodyPr wrap="square" lIns="0" tIns="0" rIns="0" bIns="0" rtlCol="0" anchor="ctr"/>
          <a:lstStyle/>
          <a:p>
            <a:pPr algn="ctr" indent="0" marL="0">
              <a:buNone/>
            </a:pPr>
            <a:r>
              <a:rPr lang="en-US" sz="2200" b="1" dirty="0">
                <a:solidFill>
                  <a:srgbClr val="E08A3C"/>
                </a:solidFill>
                <a:latin typeface="Cambria" pitchFamily="34" charset="0"/>
                <a:ea typeface="Cambria" pitchFamily="34" charset="-122"/>
                <a:cs typeface="Cambria" pitchFamily="34" charset="-120"/>
              </a:rPr>
              <a:t>4</a:t>
            </a:r>
            <a:endParaRPr lang="en-US" sz="2200" dirty="0"/>
          </a:p>
        </p:txBody>
      </p:sp>
      <p:sp>
        <p:nvSpPr>
          <p:cNvPr id="32" name="Text 30"/>
          <p:cNvSpPr txBox="1"/>
          <p:nvPr/>
        </p:nvSpPr>
        <p:spPr>
          <a:xfrm>
            <a:off x="1408176" y="4855464"/>
            <a:ext cx="557784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Clear the Anglogold budget review</a:t>
            </a:r>
            <a:endParaRPr lang="en-US" sz="1350" dirty="0"/>
          </a:p>
        </p:txBody>
      </p:sp>
      <p:sp>
        <p:nvSpPr>
          <p:cNvPr id="33" name="Text 31"/>
          <p:cNvSpPr txBox="1"/>
          <p:nvPr/>
        </p:nvSpPr>
        <p:spPr>
          <a:xfrm>
            <a:off x="1408176" y="5148072"/>
            <a:ext cx="5577840" cy="256032"/>
          </a:xfrm>
          <a:prstGeom prst="rect">
            <a:avLst/>
          </a:prstGeom>
          <a:noFill/>
          <a:ln/>
        </p:spPr>
        <p:txBody>
          <a:bodyPr wrap="square" lIns="0" tIns="0" rIns="0" bIns="0" rtlCol="0" anchor="ctr"/>
          <a:lstStyle/>
          <a:p>
            <a:pPr indent="0" marL="0">
              <a:buNone/>
            </a:pPr>
            <a:r>
              <a:rPr lang="en-US" sz="1000" dirty="0">
                <a:solidFill>
                  <a:srgbClr val="AFC1D6"/>
                </a:solidFill>
                <a:latin typeface="Calibri" pitchFamily="34" charset="0"/>
                <a:ea typeface="Calibri" pitchFamily="34" charset="-122"/>
                <a:cs typeface="Calibri" pitchFamily="34" charset="-120"/>
              </a:rPr>
              <a:t>Complete since 11 September, awaiting a reviewer</a:t>
            </a:r>
            <a:endParaRPr lang="en-US" sz="1000" dirty="0"/>
          </a:p>
        </p:txBody>
      </p:sp>
      <p:sp>
        <p:nvSpPr>
          <p:cNvPr id="34" name="Text 32"/>
          <p:cNvSpPr txBox="1"/>
          <p:nvPr/>
        </p:nvSpPr>
        <p:spPr>
          <a:xfrm>
            <a:off x="7287768" y="4892040"/>
            <a:ext cx="2194560" cy="182880"/>
          </a:xfrm>
          <a:prstGeom prst="rect">
            <a:avLst/>
          </a:prstGeom>
          <a:noFill/>
          <a:ln/>
        </p:spPr>
        <p:txBody>
          <a:bodyPr wrap="square" lIns="0" tIns="0" rIns="0" bIns="0" rtlCol="0" anchor="ctr"/>
          <a:lstStyle/>
          <a:p>
            <a:pPr indent="0" marL="0">
              <a:buNone/>
            </a:pPr>
            <a:r>
              <a:rPr lang="en-US" sz="800" b="1" spc="110" kern="0" dirty="0">
                <a:solidFill>
                  <a:srgbClr val="E08A3C"/>
                </a:solidFill>
                <a:latin typeface="Calibri" pitchFamily="34" charset="0"/>
                <a:ea typeface="Calibri" pitchFamily="34" charset="-122"/>
                <a:cs typeface="Calibri" pitchFamily="34" charset="-120"/>
              </a:rPr>
              <a:t>OWNER</a:t>
            </a:r>
            <a:endParaRPr lang="en-US" sz="800" dirty="0"/>
          </a:p>
        </p:txBody>
      </p:sp>
      <p:sp>
        <p:nvSpPr>
          <p:cNvPr id="35" name="Text 33"/>
          <p:cNvSpPr txBox="1"/>
          <p:nvPr/>
        </p:nvSpPr>
        <p:spPr>
          <a:xfrm>
            <a:off x="7287768" y="5093208"/>
            <a:ext cx="2194560" cy="2743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Nominated reviewer</a:t>
            </a:r>
            <a:endParaRPr lang="en-US" sz="1100" dirty="0"/>
          </a:p>
        </p:txBody>
      </p:sp>
      <p:sp>
        <p:nvSpPr>
          <p:cNvPr id="36" name="Text 34"/>
          <p:cNvSpPr txBox="1"/>
          <p:nvPr/>
        </p:nvSpPr>
        <p:spPr>
          <a:xfrm>
            <a:off x="9756648" y="4892040"/>
            <a:ext cx="1645920" cy="182880"/>
          </a:xfrm>
          <a:prstGeom prst="rect">
            <a:avLst/>
          </a:prstGeom>
          <a:noFill/>
          <a:ln/>
        </p:spPr>
        <p:txBody>
          <a:bodyPr wrap="square" lIns="0" tIns="0" rIns="0" bIns="0" rtlCol="0" anchor="ctr"/>
          <a:lstStyle/>
          <a:p>
            <a:pPr indent="0" marL="0">
              <a:buNone/>
            </a:pPr>
            <a:r>
              <a:rPr lang="en-US" sz="800" b="1" spc="110" kern="0" dirty="0">
                <a:solidFill>
                  <a:srgbClr val="E08A3C"/>
                </a:solidFill>
                <a:latin typeface="Calibri" pitchFamily="34" charset="0"/>
                <a:ea typeface="Calibri" pitchFamily="34" charset="-122"/>
                <a:cs typeface="Calibri" pitchFamily="34" charset="-120"/>
              </a:rPr>
              <a:t>BY</a:t>
            </a:r>
            <a:endParaRPr lang="en-US" sz="800" dirty="0"/>
          </a:p>
        </p:txBody>
      </p:sp>
      <p:sp>
        <p:nvSpPr>
          <p:cNvPr id="37" name="Text 35"/>
          <p:cNvSpPr txBox="1"/>
          <p:nvPr/>
        </p:nvSpPr>
        <p:spPr>
          <a:xfrm>
            <a:off x="9756648" y="5093208"/>
            <a:ext cx="164592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22 Sep</a:t>
            </a:r>
            <a:endParaRPr lang="en-US" sz="1200" dirty="0"/>
          </a:p>
        </p:txBody>
      </p:sp>
      <p:sp>
        <p:nvSpPr>
          <p:cNvPr id="38" name="Text 36"/>
          <p:cNvSpPr txBox="1"/>
          <p:nvPr/>
        </p:nvSpPr>
        <p:spPr>
          <a:xfrm>
            <a:off x="566928" y="5779008"/>
            <a:ext cx="7498080" cy="292608"/>
          </a:xfrm>
          <a:prstGeom prst="rect">
            <a:avLst/>
          </a:prstGeom>
          <a:noFill/>
          <a:ln/>
        </p:spPr>
        <p:txBody>
          <a:bodyPr wrap="square" lIns="0" tIns="0" rIns="0" bIns="0" rtlCol="0" anchor="ctr"/>
          <a:lstStyle/>
          <a:p>
            <a:pPr indent="0" marL="0">
              <a:buNone/>
            </a:pPr>
            <a:r>
              <a:rPr lang="en-US" sz="1300" b="1" dirty="0">
                <a:solidFill>
                  <a:srgbClr val="E08A3C"/>
                </a:solidFill>
                <a:latin typeface="Cambria" pitchFamily="34" charset="0"/>
                <a:ea typeface="Cambria" pitchFamily="34" charset="-122"/>
                <a:cs typeface="Cambria" pitchFamily="34" charset="-120"/>
              </a:rPr>
              <a:t>Clearing items 1 and 2 alone returns the register to plan.</a:t>
            </a:r>
            <a:endParaRPr lang="en-US" sz="1300" dirty="0"/>
          </a:p>
        </p:txBody>
      </p:sp>
      <p:sp>
        <p:nvSpPr>
          <p:cNvPr id="39" name="Text 37"/>
          <p:cNvSpPr txBox="1"/>
          <p:nvPr/>
        </p:nvSpPr>
        <p:spPr>
          <a:xfrm>
            <a:off x="566928" y="6327648"/>
            <a:ext cx="11057839" cy="256032"/>
          </a:xfrm>
          <a:prstGeom prst="rect">
            <a:avLst/>
          </a:prstGeom>
          <a:noFill/>
          <a:ln/>
        </p:spPr>
        <p:txBody>
          <a:bodyPr wrap="square" lIns="0" tIns="0" rIns="0" bIns="0" rtlCol="0" anchor="ctr"/>
          <a:lstStyle/>
          <a:p>
            <a:pPr indent="0" marL="0">
              <a:buNone/>
            </a:pPr>
            <a:r>
              <a:rPr lang="en-US" sz="850" dirty="0">
                <a:solidFill>
                  <a:srgbClr val="7E8FA6"/>
                </a:solidFill>
                <a:latin typeface="Calibri" pitchFamily="34" charset="0"/>
                <a:ea typeface="Calibri" pitchFamily="34" charset="-122"/>
                <a:cs typeface="Calibri" pitchFamily="34" charset="-120"/>
              </a:rPr>
              <a:t>Source: Commercial Department deliverables register (22 rows), 18 September 2026. Dates read as day/month/year. Deliverable names lightly corrected for spelling.</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Commercial Department — Outstanding Projects &amp; Deliverables</dc:title>
  <dc:subject>PptxGenJS Presentation</dc:subject>
  <dc:creator>Commercial Department</dc:creator>
  <cp:lastModifiedBy>Commercial Department</cp:lastModifiedBy>
  <cp:revision>1</cp:revision>
  <dcterms:created xsi:type="dcterms:W3CDTF">2026-09-18T09:27:15Z</dcterms:created>
  <dcterms:modified xsi:type="dcterms:W3CDTF">2026-09-18T09:27:15Z</dcterms:modified>
</cp:coreProperties>
</file>